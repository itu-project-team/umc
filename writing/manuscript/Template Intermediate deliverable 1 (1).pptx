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302728-F0BE-4FA8-8731-8C66D62FBECB}">
  <a:tblStyle styleId="{00302728-F0BE-4FA8-8731-8C66D62FBECB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3f048fad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d3f048fad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d3f048fa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d3f048fad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3f048fa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d3f048fad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3f048fa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d3f048fa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3f048fa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d3f048fa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3f048fa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d3f048fad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3f048f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d3f048fa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3f048fa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d3f048fa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d3f048fa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d3f048fad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d3f048f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d3f048fa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3f048fa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d3f048fad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d3f048fad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d3f048fad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3f048f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d3f048fa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3f048fa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d3f048fad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d3f048fa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d3f048fad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2488297" y="6356350"/>
            <a:ext cx="58446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descr="Funded by the EU"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17" name="Google Shape;1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descr="Funded by the EU" id="25" name="Google Shape;25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26" name="Google Shape;2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lang="en-US" sz="4800"/>
              <a:t>Intermediate deliverable: </a:t>
            </a:r>
            <a:br>
              <a:rPr lang="en-US"/>
            </a:br>
            <a:r>
              <a:rPr b="1" lang="en-US" sz="4800"/>
              <a:t>Extraction, Transformation and Loading (ETL) of data sources</a:t>
            </a:r>
            <a:endParaRPr b="1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031086"/>
            <a:ext cx="9144000" cy="122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Team name: High-Five</a:t>
            </a: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descr="Funded by the EU" id="91" name="Google Shape;9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92" name="Google Shape;92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Please describe the data sources of your project</a:t>
            </a:r>
            <a:endParaRPr sz="4000"/>
          </a:p>
        </p:txBody>
      </p:sp>
      <p:graphicFrame>
        <p:nvGraphicFramePr>
          <p:cNvPr id="99" name="Google Shape;99;p14"/>
          <p:cNvGraphicFramePr/>
          <p:nvPr/>
        </p:nvGraphicFramePr>
        <p:xfrm>
          <a:off x="838200" y="1634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{00302728-F0BE-4FA8-8731-8C66D62FBECB}</a:tableStyleId>
              </a:tblPr>
              <a:tblGrid>
                <a:gridCol w="1235300"/>
                <a:gridCol w="1661375"/>
                <a:gridCol w="1610025"/>
                <a:gridCol w="1502225"/>
                <a:gridCol w="1502225"/>
                <a:gridCol w="1502225"/>
                <a:gridCol w="1502225"/>
              </a:tblGrid>
              <a:tr h="113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Dataset name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Source (organization  /provider)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Link (URL)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Coverage (geographic detail and time)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Key variables (max. 5)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Format (CSV, JSON, XLS, SQL, etc.)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Access method (download, API call, scraping, etc.)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Daangn Community Posts (Neighborhood Life)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Daangn Market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https://www.daangn.com/kr/community/s/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Geographic: Seoul (based on dong fields)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Time: </a:t>
                      </a:r>
                      <a:r>
                        <a:rPr lang="en-US" sz="1500"/>
                        <a:t>2024-2026 (Depends on crawl period)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content (post text), regionName / gu (location), createdAt (timestamp), subject (category)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CSV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Web Scraping Using Reverse-engineered Internal API Endpoints</a:t>
                      </a:r>
                      <a:endParaRPr sz="1500"/>
                    </a:p>
                  </a:txBody>
                  <a:tcPr marT="45725" marB="45725" marR="91450" marL="91450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Seoul Resident (Domestic) Floating Population by Administrative Dong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Seoul Open Data Plaza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https://data.seoul.go.kr/dataList/OA-14991/S/1/datasetView.do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Geographic: Seoul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Time: 2023, 2024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Total Floating Population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CSV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Public Open Data Download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00" name="Google Shape;100;p14"/>
          <p:cNvGrpSpPr/>
          <p:nvPr/>
        </p:nvGrpSpPr>
        <p:grpSpPr>
          <a:xfrm>
            <a:off x="8465573" y="6046838"/>
            <a:ext cx="3096384" cy="738810"/>
            <a:chOff x="8881600" y="5978025"/>
            <a:chExt cx="3125221" cy="746441"/>
          </a:xfrm>
        </p:grpSpPr>
        <p:pic>
          <p:nvPicPr>
            <p:cNvPr descr="Funded by the EU" id="101" name="Google Shape;10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31260" y="6239757"/>
              <a:ext cx="1875561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102" name="Google Shape;10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Please describe the data sources of your project</a:t>
            </a:r>
            <a:endParaRPr sz="4000"/>
          </a:p>
        </p:txBody>
      </p:sp>
      <p:graphicFrame>
        <p:nvGraphicFramePr>
          <p:cNvPr id="109" name="Google Shape;109;p15"/>
          <p:cNvGraphicFramePr/>
          <p:nvPr/>
        </p:nvGraphicFramePr>
        <p:xfrm>
          <a:off x="838200" y="1634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{00302728-F0BE-4FA8-8731-8C66D62FBECB}</a:tableStyleId>
              </a:tblPr>
              <a:tblGrid>
                <a:gridCol w="1235300"/>
                <a:gridCol w="1661375"/>
                <a:gridCol w="1610025"/>
                <a:gridCol w="1502225"/>
                <a:gridCol w="1502225"/>
                <a:gridCol w="1502225"/>
                <a:gridCol w="1502225"/>
              </a:tblGrid>
              <a:tr h="113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Dataset name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Source (organization  /provider)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Link (URL)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Coverage (geographic detail and time)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Key variables (max. 5)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Format (CSV, JSON, XLS, SQL, etc.)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Access method (download, API call, scraping, etc.)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Cellular Base Station Data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Spectrum Resource Mgmt System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https://spectrummap.kr/gis/mobile_service.do?menuNo=300480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Geographic: Seoul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Time: 2023, 2024</a:t>
                      </a:r>
                      <a:endParaRPr sz="15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</a:t>
                      </a:r>
                      <a:r>
                        <a:rPr lang="en-US" sz="1500"/>
                        <a:t>tation_density_4g, station_density_5g</a:t>
                      </a:r>
                      <a:endParaRPr sz="15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CSV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Public Open Data Download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/>
                        <a:t>NIA 5G Connection Quality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Korean Public Data Portal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https://www.data.go.kr/data/15120591/fileData.do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Geographic: Seoul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Time: 2023, 2024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download_speed</a:t>
                      </a:r>
                      <a:endParaRPr sz="15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CSV</a:t>
                      </a:r>
                      <a:endParaRPr sz="15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Public Open Data Download</a:t>
                      </a:r>
                      <a:endParaRPr sz="1500"/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Public Free Wi-Fi Installation Data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Local Admin WiFi License Data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https://www.localdata.go.kr/lif/lifeCtacDataView.do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Geographic: Seoul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Time: 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2023, 2024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wifi_density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XSLX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Public Open Data Download</a:t>
                      </a:r>
                      <a:endParaRPr sz="15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0" name="Google Shape;110;p15"/>
          <p:cNvGrpSpPr/>
          <p:nvPr/>
        </p:nvGrpSpPr>
        <p:grpSpPr>
          <a:xfrm>
            <a:off x="8465814" y="6046977"/>
            <a:ext cx="3096470" cy="738827"/>
            <a:chOff x="8881600" y="5978025"/>
            <a:chExt cx="3125222" cy="746441"/>
          </a:xfrm>
        </p:grpSpPr>
        <p:pic>
          <p:nvPicPr>
            <p:cNvPr descr="Funded by the EU" id="111" name="Google Shape;11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31260" y="6239757"/>
              <a:ext cx="1875562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112" name="Google Shape;11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Please describe the data sources of your project</a:t>
            </a:r>
            <a:endParaRPr sz="4000"/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838200" y="1902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{00302728-F0BE-4FA8-8731-8C66D62FBECB}</a:tableStyleId>
              </a:tblPr>
              <a:tblGrid>
                <a:gridCol w="1235300"/>
                <a:gridCol w="1661375"/>
                <a:gridCol w="1610025"/>
                <a:gridCol w="1502225"/>
                <a:gridCol w="1502225"/>
                <a:gridCol w="1502225"/>
                <a:gridCol w="1502225"/>
              </a:tblGrid>
              <a:tr h="152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Dataset name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Source (organization  /provider)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Link (URL)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Coverage (geographic detail and time)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Key variables (max. 5)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Format (CSV, JSON, XLS, SQL, etc.)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Access method (download, API call, scraping, etc.)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/>
                        <a:t>Telecommunication Indicators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SKT Telecom Data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https://www.data.go.kr/data/15127168/fileData.do#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Geographic: Seoul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Time: 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600"/>
                        <a:t>2023, 2024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mobile_data_usage, online_service_days, </a:t>
                      </a:r>
                      <a:r>
                        <a:rPr lang="en-US" sz="1600"/>
                        <a:t>delinq_rate (reverse)</a:t>
                      </a:r>
                      <a:endParaRPr sz="1600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XLSX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Public Open Data Download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Average Monthly Household Income by District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Seoul Commercial Analysis Service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https://data.seoul.go.kr/dataList/OA-22167/S/1/datasetView.do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Geographic: Seoul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Time: 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2023, 2024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avg_income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CSV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Public Open Data Download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6"/>
          <p:cNvGrpSpPr/>
          <p:nvPr/>
        </p:nvGrpSpPr>
        <p:grpSpPr>
          <a:xfrm>
            <a:off x="8465814" y="6046977"/>
            <a:ext cx="3096470" cy="738827"/>
            <a:chOff x="8881600" y="5978025"/>
            <a:chExt cx="3125222" cy="746441"/>
          </a:xfrm>
        </p:grpSpPr>
        <p:pic>
          <p:nvPicPr>
            <p:cNvPr descr="Funded by the EU" id="122" name="Google Shape;12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1260" y="6239757"/>
              <a:ext cx="1875562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123" name="Google Shape;12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Please describe the data sources of your project</a:t>
            </a:r>
            <a:endParaRPr sz="4000"/>
          </a:p>
        </p:txBody>
      </p:sp>
      <p:graphicFrame>
        <p:nvGraphicFramePr>
          <p:cNvPr id="129" name="Google Shape;129;p17"/>
          <p:cNvGraphicFramePr/>
          <p:nvPr/>
        </p:nvGraphicFramePr>
        <p:xfrm>
          <a:off x="838200" y="1902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{00302728-F0BE-4FA8-8731-8C66D62FBECB}</a:tableStyleId>
              </a:tblPr>
              <a:tblGrid>
                <a:gridCol w="1235300"/>
                <a:gridCol w="1661375"/>
                <a:gridCol w="1610025"/>
                <a:gridCol w="1502225"/>
                <a:gridCol w="1502225"/>
                <a:gridCol w="1502225"/>
                <a:gridCol w="1502225"/>
              </a:tblGrid>
              <a:tr h="152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Dataset name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Source (organization  /provider)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Link (URL)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Coverage (geographic detail and time)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Key variables (max. 5)</a:t>
                      </a:r>
                      <a:endParaRPr sz="16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Format (CSV, JSON, XLS, SQL, etc.)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Access method (download, API call, scraping, etc.)</a:t>
                      </a:r>
                      <a:endParaRPr sz="16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Seoul Digital Competency Survey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Seoul AI Foundation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https://saif.or.kr/dataroom/2564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Geographic: Seoul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Time: Oct-Dec 2021 (1st wave), Nov-Dec 2023 (2nd wave)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digital device/service usage, digital literacy score, digital safety/security, demographic info, administrative district, etc.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CSV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data provision upon official request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0" name="Google Shape;130;p17"/>
          <p:cNvGrpSpPr/>
          <p:nvPr/>
        </p:nvGrpSpPr>
        <p:grpSpPr>
          <a:xfrm>
            <a:off x="8465814" y="6046977"/>
            <a:ext cx="3096470" cy="738827"/>
            <a:chOff x="8881600" y="5978025"/>
            <a:chExt cx="3125222" cy="746441"/>
          </a:xfrm>
        </p:grpSpPr>
        <p:pic>
          <p:nvPicPr>
            <p:cNvPr descr="Funded by the EU" id="131" name="Google Shape;13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31260" y="6239757"/>
              <a:ext cx="1875562" cy="39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lobal Gateway" id="132" name="Google Shape;13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881600" y="5978025"/>
              <a:ext cx="1249660" cy="746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6984" y="6046838"/>
            <a:ext cx="745015" cy="81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 the next slides, please describe your data processing (ETL) system: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Describe the data cleaning methods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How are you handling missing (non-existent) data?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Where are you storing the data?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Provide a diagram describing the ETL process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NOTE: </a:t>
            </a:r>
            <a:r>
              <a:rPr lang="en-US"/>
              <a:t>You will be asked for the final deliverable to submit the code to access, process and store the data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highlight>
                  <a:srgbClr val="FFF2CC"/>
                </a:highlight>
              </a:rPr>
              <a:t>Analysis 1: UMC Index</a:t>
            </a:r>
            <a:endParaRPr b="1" sz="1800">
              <a:highlight>
                <a:srgbClr val="FFF2CC"/>
              </a:highlight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/>
              <a:t>[Quality]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Input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C</a:t>
            </a:r>
            <a:r>
              <a:rPr lang="en-US" sz="1800"/>
              <a:t>ellular Base Station Data: </a:t>
            </a:r>
            <a:r>
              <a:rPr lang="en-US" sz="1800"/>
              <a:t>4G/5G base station coordinates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NIA 5G Connection Quality: connection speed data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Seoul GIS shapefile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Preprocessing</a:t>
            </a:r>
            <a:endParaRPr sz="1800"/>
          </a:p>
          <a:p>
            <a:pPr indent="-342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Physical Deduplication: To accurately count coverage points, merged antennas at identical coordinates into a single physical tower point</a:t>
            </a:r>
            <a:endParaRPr sz="1800"/>
          </a:p>
          <a:p>
            <a:pPr indent="-34290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Spatial Mapping: To aggregate data by district, </a:t>
            </a:r>
            <a:r>
              <a:rPr lang="en-US" sz="1800"/>
              <a:t>performed</a:t>
            </a:r>
            <a:r>
              <a:rPr lang="en-US" sz="1800"/>
              <a:t> a spatial join.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-US" sz="1800"/>
              <a:t>Output: district-level base station density and download speeds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highlight>
                  <a:srgbClr val="FFF2CC"/>
                </a:highlight>
              </a:rPr>
              <a:t>Analysis 1: UMC Index</a:t>
            </a:r>
            <a:endParaRPr sz="18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[Availability]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Input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Public Free Wi-Fi Installation Data: public wi-fi distribution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Preprocessing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Numeric Coercion: To ensure computational consistency, </a:t>
            </a:r>
            <a:r>
              <a:rPr lang="en-US" sz="1800"/>
              <a:t>forced non-numeric strings into float types and imputed missing traffic values with 0.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Population Weighting: </a:t>
            </a:r>
            <a:r>
              <a:rPr lang="en-US" sz="1800"/>
              <a:t>To reflect actual digital demand, calculated usage means weighted by the hourly daytime living population.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-US" sz="1800"/>
              <a:t>Output: district-level digital usage and accessibility metrics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highlight>
                  <a:srgbClr val="FFF2CC"/>
                </a:highlight>
              </a:rPr>
              <a:t>Analysis 1: UMC Index</a:t>
            </a:r>
            <a:endParaRPr b="1" sz="1800">
              <a:highlight>
                <a:srgbClr val="FFF2CC"/>
              </a:highlight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[Affordability]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Input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Telecommunication Indicators: telecom delinquency rates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Average Monthly Household Income by District: district-level income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Preprocessing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Reverse Normalization: To </a:t>
            </a:r>
            <a:r>
              <a:rPr lang="en-US" sz="1800"/>
              <a:t>align with other positive indices, applied reverse Min-Max scaling to delinquency rates so higher schores indicate lower financial barriers.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-US" sz="1800"/>
              <a:t>Output: district-level integrated economic accessibility scores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00">
                <a:highlight>
                  <a:srgbClr val="FFF2CC"/>
                </a:highlight>
              </a:rPr>
              <a:t>Analysis 1: UMC Index</a:t>
            </a:r>
            <a:endParaRPr b="1" sz="18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[Devices / Digital Skills / Safety and Security]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Input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Seoul Digital Competecny Survey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Preprocessing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Invalid Response Filtering: To prevent skewed results, excluded invalid survey codes.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Weighted Aggregation: To ensure statistical representativeness, calculated district averages using survey design weights.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Score Scaling: To enable cross-indicator comparison, normalized raw scores by their respective maximum values.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-US" sz="1800"/>
              <a:t>Output: </a:t>
            </a:r>
            <a:r>
              <a:rPr lang="en-US" sz="1800"/>
              <a:t>district-level </a:t>
            </a:r>
            <a:r>
              <a:rPr lang="en-US" sz="1800"/>
              <a:t>scores for devices ownership, literacy, and security behavior 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838200" y="1519700"/>
            <a:ext cx="5239500" cy="4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704"/>
              <a:buNone/>
            </a:pPr>
            <a:r>
              <a:rPr b="1" lang="en-US" sz="2700">
                <a:highlight>
                  <a:srgbClr val="C9DAF8"/>
                </a:highlight>
              </a:rPr>
              <a:t>Analysis 2</a:t>
            </a:r>
            <a:endParaRPr b="1" sz="2700">
              <a:highlight>
                <a:srgbClr val="C9DAF8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4444"/>
              <a:buNone/>
            </a:pPr>
            <a:r>
              <a:rPr b="1" lang="en-US" sz="2250"/>
              <a:t>1. Multi-source data integration</a:t>
            </a:r>
            <a:endParaRPr b="1"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Combined Seoul Survey 2023/2024 (Level 1) with UMC Level 2 variables</a:t>
            </a:r>
            <a:endParaRPr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Merged datasets using district code and survey year</a:t>
            </a:r>
            <a:br>
              <a:rPr lang="en-US" sz="2250"/>
            </a:br>
            <a:endParaRPr sz="225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4444"/>
              <a:buNone/>
            </a:pPr>
            <a:r>
              <a:rPr b="1" lang="en-US" sz="2250"/>
              <a:t>2. Variable harmonization</a:t>
            </a:r>
            <a:endParaRPr b="1"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Standardized variable names across years (e.g., disability, birth year)</a:t>
            </a:r>
            <a:endParaRPr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Resolved inconsistencies in survey structure (e.g., housing type)</a:t>
            </a:r>
            <a:br>
              <a:rPr lang="en-US" sz="2250"/>
            </a:br>
            <a:endParaRPr sz="225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4444"/>
              <a:buNone/>
            </a:pPr>
            <a:r>
              <a:rPr b="1" lang="en-US" sz="2250"/>
              <a:t>3. Feature engineering</a:t>
            </a:r>
            <a:endParaRPr b="1"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Constructed digital use score from 8 survey items (scaled and aggregated)</a:t>
            </a:r>
            <a:endParaRPr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Generated binary outcome variables for robustness checks</a:t>
            </a:r>
            <a:endParaRPr sz="2250"/>
          </a:p>
          <a:p>
            <a:pPr indent="-339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250"/>
              <a:t>Recoded socio-demographic variables (education, occupation, income)</a:t>
            </a:r>
            <a:endParaRPr sz="2250"/>
          </a:p>
        </p:txBody>
      </p:sp>
      <p:sp>
        <p:nvSpPr>
          <p:cNvPr id="170" name="Google Shape;170;p23"/>
          <p:cNvSpPr txBox="1"/>
          <p:nvPr/>
        </p:nvSpPr>
        <p:spPr>
          <a:xfrm>
            <a:off x="6151600" y="1889198"/>
            <a:ext cx="53502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4. Normalization and scaling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US" sz="1700">
                <a:solidFill>
                  <a:schemeClr val="dk1"/>
                </a:solidFill>
              </a:rPr>
              <a:t>Applied Min–Max normalization to Level 2 variables (pooled sample)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US" sz="1700">
                <a:solidFill>
                  <a:schemeClr val="dk1"/>
                </a:solidFill>
              </a:rPr>
              <a:t>Adjusted directionality for specific indicators (e.g., delinquency rate)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5. Centering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US" sz="1700">
                <a:solidFill>
                  <a:schemeClr val="dk1"/>
                </a:solidFill>
              </a:rPr>
              <a:t>Performed grand-mean centering for age and income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6. Multicollinearity diagnostics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-US" sz="1700">
                <a:solidFill>
                  <a:schemeClr val="dk1"/>
                </a:solidFill>
              </a:rPr>
              <a:t>Checked variance inflation factors (VIF) for independent variables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cleaning methods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050">
                <a:highlight>
                  <a:srgbClr val="FCE5CD"/>
                </a:highlight>
              </a:rPr>
              <a:t>Analysis 3: </a:t>
            </a:r>
            <a:r>
              <a:rPr b="1" lang="en-US" sz="2050">
                <a:highlight>
                  <a:srgbClr val="FCE5CD"/>
                </a:highlight>
              </a:rPr>
              <a:t>Daangn Community Posts</a:t>
            </a:r>
            <a:r>
              <a:rPr b="1" lang="en-US" sz="2050">
                <a:highlight>
                  <a:srgbClr val="EAD1DC"/>
                </a:highlight>
              </a:rPr>
              <a:t> </a:t>
            </a:r>
            <a:endParaRPr b="1" sz="2050">
              <a:highlight>
                <a:srgbClr val="EAD1DC"/>
              </a:highlight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Text Sanitization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ensure analytical consistency, replaced control characters (\n, \t, \r) with spaces.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Content Truncation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optimize LLM processing </a:t>
            </a:r>
            <a:r>
              <a:rPr lang="en-US" sz="1800"/>
              <a:t>efficiency</a:t>
            </a:r>
            <a:r>
              <a:rPr lang="en-US" sz="1800"/>
              <a:t>, limited the text length to 500 characters.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Regional Data Enrichment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enable geographic analysis, mapped raw `regionId` to administrative district names.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Schema Flattening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standardize the data for CSV storage, restructured nested JSON attributes into a flat columnar format.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Missing data treatment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000">
                <a:highlight>
                  <a:srgbClr val="FFF2CC"/>
                </a:highlight>
              </a:rPr>
              <a:t>Analysis 1: UMC Index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[Qualtiy / Availability / Affordability]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Fallback Logic Implementation: To maintain analytical continuity, substituted missing daytime living population data with administrative area metrics.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Cross-Source Integration: </a:t>
            </a:r>
            <a:r>
              <a:rPr lang="en-US" sz="1800"/>
              <a:t>To overcome data latency in official statistics, established income baselines from administrative data and augmented them with high-frequency delinquency rates.</a:t>
            </a:r>
            <a:endParaRPr sz="1800"/>
          </a:p>
          <a:p>
            <a:pPr indent="0" lvl="0" marL="177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508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[Devices / Digital Skills / Safety and Security]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Skip-NaN Summation: To maximize data utility, calculated sub-index scores based on available valid responses within partially missing records.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-US" sz="1800"/>
              <a:t>Valid Pair Validation: To secure statistical representativeness, included only records where both the indicator score and design weight were concurrently present for district-level averages.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Missing data treatment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838200" y="1602144"/>
            <a:ext cx="10515600" cy="4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4444"/>
              <a:buNone/>
            </a:pPr>
            <a:r>
              <a:rPr b="1" lang="en-US" sz="2250">
                <a:highlight>
                  <a:srgbClr val="C9DAF8"/>
                </a:highlight>
              </a:rPr>
              <a:t>Analysis 2</a:t>
            </a:r>
            <a:endParaRPr b="1" sz="2250">
              <a:highlight>
                <a:srgbClr val="C9DAF8"/>
              </a:highlight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rPr b="1" lang="en-US" sz="2100"/>
              <a:t>1. </a:t>
            </a:r>
            <a:r>
              <a:rPr b="1" lang="en-US" sz="2100"/>
              <a:t>Missing value standardization</a:t>
            </a:r>
            <a:endParaRPr b="1"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Converted non-standard missing values (e.g., “#NULL!”, blanks) to NaN</a:t>
            </a:r>
            <a:endParaRPr sz="210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br>
              <a:rPr lang="en-US" sz="2100"/>
            </a:br>
            <a:r>
              <a:rPr b="1" lang="en-US" sz="2100"/>
              <a:t>2. Rule-based handling</a:t>
            </a:r>
            <a:endParaRPr b="1"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For non-digital users: missing responses → assigned zero score</a:t>
            </a:r>
            <a:endParaRPr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For other cases: retained as missing (NaN)</a:t>
            </a:r>
            <a:endParaRPr sz="210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br>
              <a:rPr lang="en-US" sz="2100"/>
            </a:br>
            <a:r>
              <a:rPr b="1" lang="en-US" sz="2100"/>
              <a:t>3. Propagation in derived variables</a:t>
            </a:r>
            <a:endParaRPr b="1"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Missing values preserved in derived variables when source data is missing</a:t>
            </a:r>
            <a:endParaRPr sz="210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br>
              <a:rPr lang="en-US" sz="2100"/>
            </a:br>
            <a:r>
              <a:rPr b="1" lang="en-US" sz="2100"/>
              <a:t>4. Listwise deletion</a:t>
            </a:r>
            <a:endParaRPr b="1"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Dropped observations with missing dependent variable</a:t>
            </a:r>
            <a:endParaRPr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Applied complete-case analysis for Level 1 variables</a:t>
            </a:r>
            <a:endParaRPr sz="2100"/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br>
              <a:rPr lang="en-US" sz="2100"/>
            </a:br>
            <a:r>
              <a:rPr b="1" lang="en-US" sz="2100"/>
              <a:t>5. Limited imputation</a:t>
            </a:r>
            <a:endParaRPr b="1"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2100"/>
              <a:t>Replaced missing income values with zero (conservative assumption)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Missing data treatment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838200" y="1825625"/>
            <a:ext cx="10515600" cy="4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050">
                <a:highlight>
                  <a:srgbClr val="FCE5CD"/>
                </a:highlight>
              </a:rPr>
              <a:t>Analysis 3: Daangn Community Posts</a:t>
            </a:r>
            <a:r>
              <a:rPr b="1" lang="en-US" sz="2050">
                <a:highlight>
                  <a:srgbClr val="C9DAF8"/>
                </a:highlight>
              </a:rPr>
              <a:t> </a:t>
            </a:r>
            <a:endParaRPr b="1" sz="1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Invalid Resource Filtering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minimize data noise, automatically excluded non-existent or </a:t>
            </a:r>
            <a:r>
              <a:rPr lang="en-US" sz="1800"/>
              <a:t>deleted</a:t>
            </a:r>
            <a:r>
              <a:rPr lang="en-US" sz="1800"/>
              <a:t> posts (HTTP 404, 410).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Default</a:t>
            </a:r>
            <a:r>
              <a:rPr b="1" lang="en-US" sz="1800"/>
              <a:t> Value Imputation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prevent runtime errors and maintain integrity, assigned placeholders (0 for counts, “” for strings).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Proactive Rate Limiting</a:t>
            </a:r>
            <a:endParaRPr b="1" sz="18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ensure data completeness, handled 429 errors using an adaptive retry mechanism.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838200" y="1825625"/>
            <a:ext cx="10515600" cy="422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&lt;Analysis 1&gt;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838200" y="1574350"/>
            <a:ext cx="10515600" cy="4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050">
                <a:highlight>
                  <a:srgbClr val="C9DAF8"/>
                </a:highlight>
              </a:rPr>
              <a:t>Analysis 2</a:t>
            </a:r>
            <a:endParaRPr sz="20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50"/>
              <a:t>1. </a:t>
            </a:r>
            <a:r>
              <a:rPr b="1" lang="en-US" sz="1850"/>
              <a:t>Storage formats</a:t>
            </a:r>
            <a:endParaRPr b="1"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analysis_df.parquet (efficient for analysis)</a:t>
            </a:r>
            <a:endParaRPr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analysis_df.csv (for compatibility)</a:t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50"/>
              <a:t>2. Data organization</a:t>
            </a:r>
            <a:endParaRPr b="1"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Raw data stored separately from processed data</a:t>
            </a:r>
            <a:endParaRPr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External UMC datasets maintained in a dedicated directory</a:t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50"/>
              <a:t>3. Reproducibility</a:t>
            </a:r>
            <a:endParaRPr b="1"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Saved centering parameters and dataset summary statistics</a:t>
            </a:r>
            <a:endParaRPr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Recorded sample sizes and number of districts</a:t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850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850"/>
              <a:t>4. Final dataset</a:t>
            </a:r>
            <a:endParaRPr b="1"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Integrated Level 1 (individual) and Level 2 (district) data</a:t>
            </a:r>
            <a:endParaRPr sz="1850"/>
          </a:p>
          <a:p>
            <a:pPr indent="-34607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50"/>
              <a:buChar char="-"/>
            </a:pPr>
            <a:r>
              <a:rPr lang="en-US" sz="1850"/>
              <a:t>Structured for multilevel analysis</a:t>
            </a:r>
            <a:endParaRPr sz="18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Data storage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838200" y="1574350"/>
            <a:ext cx="10515600" cy="4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050">
                <a:highlight>
                  <a:srgbClr val="FCE5CD"/>
                </a:highlight>
              </a:rPr>
              <a:t>Analysis 3</a:t>
            </a:r>
            <a:endParaRPr sz="1850"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838200" y="365125"/>
            <a:ext cx="10515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ETL diagram</a:t>
            </a:r>
            <a:endParaRPr/>
          </a:p>
        </p:txBody>
      </p:sp>
      <p:sp>
        <p:nvSpPr>
          <p:cNvPr id="218" name="Google Shape;218;p31"/>
          <p:cNvSpPr txBox="1"/>
          <p:nvPr/>
        </p:nvSpPr>
        <p:spPr>
          <a:xfrm>
            <a:off x="756850" y="1247475"/>
            <a:ext cx="7452300" cy="24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highlight>
                  <a:srgbClr val="FFF2CC"/>
                </a:highlight>
              </a:rPr>
              <a:t>Analysis 1</a:t>
            </a:r>
            <a:endParaRPr b="1" sz="2100"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838200" y="365125"/>
            <a:ext cx="10515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ETL diagram</a:t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756850" y="1247475"/>
            <a:ext cx="7452300" cy="24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highlight>
                  <a:srgbClr val="C9DAF8"/>
                </a:highlight>
              </a:rPr>
              <a:t>Analysis 2</a:t>
            </a:r>
            <a:endParaRPr b="1" sz="2100"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  <p:pic>
        <p:nvPicPr>
          <p:cNvPr id="225" name="Google Shape;22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325" y="899211"/>
            <a:ext cx="7803951" cy="520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838200" y="365125"/>
            <a:ext cx="10515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ETL diagram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756850" y="1247475"/>
            <a:ext cx="10449600" cy="4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highlight>
                  <a:srgbClr val="FCE5CD"/>
                </a:highlight>
              </a:rPr>
              <a:t>Analysis 3</a:t>
            </a:r>
            <a:endParaRPr b="1" sz="2100">
              <a:solidFill>
                <a:schemeClr val="dk1"/>
              </a:solidFill>
              <a:highlight>
                <a:srgbClr val="FCE5CD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public data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US" sz="2300">
                <a:solidFill>
                  <a:schemeClr val="dk1"/>
                </a:solidFill>
              </a:rPr>
              <a:t>source: open data portal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US" sz="2300">
                <a:solidFill>
                  <a:schemeClr val="dk1"/>
                </a:solidFill>
              </a:rPr>
              <a:t>type: csv files 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community data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US" sz="2300">
                <a:solidFill>
                  <a:schemeClr val="dk1"/>
                </a:solidFill>
              </a:rPr>
              <a:t>source: danng community (async web scrapping)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-"/>
            </a:pPr>
            <a:r>
              <a:rPr lang="en-US" sz="2300">
                <a:solidFill>
                  <a:schemeClr val="dk1"/>
                </a:solidFill>
              </a:rPr>
              <a:t>type: csv files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