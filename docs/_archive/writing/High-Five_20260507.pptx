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79" r:id="rId3"/>
    <p:sldId id="283" r:id="rId4"/>
    <p:sldId id="281" r:id="rId5"/>
    <p:sldId id="280" r:id="rId6"/>
    <p:sldId id="263" r:id="rId7"/>
    <p:sldId id="264" r:id="rId8"/>
    <p:sldId id="28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6" r:id="rId22"/>
  </p:sldIdLst>
  <p:sldSz cx="12192000" cy="6858000"/>
  <p:notesSz cx="6858000" cy="9144000"/>
  <p:embeddedFontLst>
    <p:embeddedFont>
      <p:font typeface="Play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47A4BB-2909-4D38-AFE2-DAC0DA2D5597}">
  <a:tblStyle styleId="{6047A4BB-2909-4D38-AFE2-DAC0DA2D5597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1"/>
  </p:normalViewPr>
  <p:slideViewPr>
    <p:cSldViewPr snapToGrid="0">
      <p:cViewPr>
        <p:scale>
          <a:sx n="110" d="100"/>
          <a:sy n="110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A14A647-8665-4E0F-5266-688CA1DC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F6CB307-D73C-259D-A1E3-17AEAB3A2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61A8291-37A3-B45E-681A-A0204EAED9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8716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20F5597-5FA4-4A70-F540-051E5EFC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920370C-65E6-4F33-0F92-7DCB9A86C0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7416AA5-5D14-76DB-69AA-7CCBD4EDC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251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8E11B99-EB4C-773B-DCB4-7C4213B4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2AB955E-DB44-F401-CE12-5A3B636C0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7F5BCD0-C09E-D3D7-E884-BCC599926C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2314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FA0319D-081C-EC1B-ACB8-B299F67F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90616C4-2DF3-A1D4-C1A4-42DB5A375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2CDCC8E-CF42-DFC5-3B6D-C46E1595E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5337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d3f048fa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dd3f048fa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d3f048fa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dd3f048fa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d3f048fad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dd3f048fad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3f048fa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dd3f048fa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d3f048fa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dd3f048fa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d3f048fad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dd3f048fad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d3f048fa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dd3f048fa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d3f048fad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dd3f048fad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d3f048fad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dd3f048fad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d3f048fa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dd3f048f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d3f048fad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dd3f048fad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d3f048fad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dd3f048fad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2488297" y="6356350"/>
            <a:ext cx="584466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6" name="Google Shape;16;p2" descr="Funded by the EU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 descr="Global Gateway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Google Shape;1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25" name="Google Shape;25;p3" descr="Funded by the EU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 descr="Global Gateway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24000" y="1248967"/>
            <a:ext cx="9144000" cy="140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Intermediate deliverable:</a:t>
            </a:r>
          </a:p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11827"/>
                </a:solidFill>
              </a:rPr>
              <a:t>Data Preparation and ETL Methods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524000" y="4031086"/>
            <a:ext cx="9144000" cy="122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High-Five</a:t>
            </a:r>
            <a:endParaRPr dirty="0"/>
          </a:p>
        </p:txBody>
      </p:sp>
      <p:grpSp>
        <p:nvGrpSpPr>
          <p:cNvPr id="90" name="Google Shape;90;p13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91" name="Google Shape;91;p13" descr="Funded by the EU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3" descr="Global Gateway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941D71E-5322-5D08-B1EA-541FE74DA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BCF867D7-7A65-64BF-D258-2DEDB5DCC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1384" y="136404"/>
            <a:ext cx="10515600" cy="110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Data sources</a:t>
            </a:r>
            <a:endParaRPr sz="4000" dirty="0"/>
          </a:p>
        </p:txBody>
      </p:sp>
      <p:graphicFrame>
        <p:nvGraphicFramePr>
          <p:cNvPr id="99" name="Google Shape;99;p14">
            <a:extLst>
              <a:ext uri="{FF2B5EF4-FFF2-40B4-BE49-F238E27FC236}">
                <a16:creationId xmlns:a16="http://schemas.microsoft.com/office/drawing/2014/main" id="{EE8F4823-0343-2093-6F18-05ED33FF2B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7061128"/>
              </p:ext>
            </p:extLst>
          </p:nvPr>
        </p:nvGraphicFramePr>
        <p:xfrm>
          <a:off x="931383" y="1628637"/>
          <a:ext cx="10840314" cy="1845670"/>
        </p:xfrm>
        <a:graphic>
          <a:graphicData uri="http://schemas.openxmlformats.org/drawingml/2006/table">
            <a:tbl>
              <a:tblPr firstRow="1" bandRow="1">
                <a:noFill/>
                <a:tableStyleId>{6047A4BB-2909-4D38-AFE2-DAC0DA2D5597}</a:tableStyleId>
              </a:tblPr>
              <a:tblGrid>
                <a:gridCol w="1430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3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0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Dataset </a:t>
                      </a:r>
                      <a:r>
                        <a:rPr lang="en-US" sz="1200" b="1" u="none" strike="noStrike" cap="none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nameㅌ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Coverage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 variables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Format 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Access method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6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ea typeface="Arial"/>
                          <a:cs typeface="Calibri"/>
                          <a:sym typeface="Arial"/>
                        </a:rPr>
                        <a:t>Seoul Digital Competency Survey</a:t>
                      </a:r>
                      <a:endParaRPr lang="en-US"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Seoul AI Foundation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saif.or.kr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dataroom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/2564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dirty="0"/>
                    </a:p>
                    <a:p>
                      <a:r>
                        <a:rPr lang="en-US" sz="85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2023 used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devices, skills, safety;</a:t>
                      </a:r>
                    </a:p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survey weights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CSV/XLSX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 provision upon official request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730909"/>
                  </a:ext>
                </a:extLst>
              </a:tr>
              <a:tr h="7856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Seoul Survey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Seoul Open Data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data.seoul.go.kr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dataList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/OA-15564/F/1/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datasetView.do</a:t>
                      </a:r>
                      <a:endParaRPr lang="en-US"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2023, 2024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digital service use;</a:t>
                      </a:r>
                    </a:p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demographics, income,</a:t>
                      </a:r>
                    </a:p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housing, district/year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Public Open Data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913599"/>
                  </a:ext>
                </a:extLst>
              </a:tr>
            </a:tbl>
          </a:graphicData>
        </a:graphic>
      </p:graphicFrame>
      <p:grpSp>
        <p:nvGrpSpPr>
          <p:cNvPr id="100" name="Google Shape;100;p14">
            <a:extLst>
              <a:ext uri="{FF2B5EF4-FFF2-40B4-BE49-F238E27FC236}">
                <a16:creationId xmlns:a16="http://schemas.microsoft.com/office/drawing/2014/main" id="{5131E8A5-8DDF-4DF6-B1C9-800C5DBD6993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01" name="Google Shape;101;p14" descr="Funded by the EU">
              <a:extLst>
                <a:ext uri="{FF2B5EF4-FFF2-40B4-BE49-F238E27FC236}">
                  <a16:creationId xmlns:a16="http://schemas.microsoft.com/office/drawing/2014/main" id="{08491738-1888-3EFB-2008-AA69C397605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4" descr="Global Gateway">
              <a:extLst>
                <a:ext uri="{FF2B5EF4-FFF2-40B4-BE49-F238E27FC236}">
                  <a16:creationId xmlns:a16="http://schemas.microsoft.com/office/drawing/2014/main" id="{34C398D3-7396-BB18-0DAD-B803A280337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>
            <a:extLst>
              <a:ext uri="{FF2B5EF4-FFF2-40B4-BE49-F238E27FC236}">
                <a16:creationId xmlns:a16="http://schemas.microsoft.com/office/drawing/2014/main" id="{B3439E18-5747-9DC1-5F9F-CD25EF7BDD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454B16-0C76-C62F-DAB7-C564BDA0EECA}"/>
              </a:ext>
            </a:extLst>
          </p:cNvPr>
          <p:cNvSpPr txBox="1"/>
          <p:nvPr/>
        </p:nvSpPr>
        <p:spPr>
          <a:xfrm>
            <a:off x="712033" y="1243574"/>
            <a:ext cx="20611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sz="1400" b="1" dirty="0"/>
              <a:t>Analysis 1 </a:t>
            </a:r>
            <a:r>
              <a:rPr lang="en-US" altLang="ko-KR" b="1" dirty="0"/>
              <a:t>&amp; 2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4019986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2ABE0B6-BE7E-97B6-745E-DC6C5622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4">
            <a:extLst>
              <a:ext uri="{FF2B5EF4-FFF2-40B4-BE49-F238E27FC236}">
                <a16:creationId xmlns:a16="http://schemas.microsoft.com/office/drawing/2014/main" id="{DA70272A-D7C5-868A-2C96-A4C552AC9177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01" name="Google Shape;101;p14" descr="Funded by the EU">
              <a:extLst>
                <a:ext uri="{FF2B5EF4-FFF2-40B4-BE49-F238E27FC236}">
                  <a16:creationId xmlns:a16="http://schemas.microsoft.com/office/drawing/2014/main" id="{70C80617-2F05-06E4-BAED-4ED8FA0CFD4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4" descr="Global Gateway">
              <a:extLst>
                <a:ext uri="{FF2B5EF4-FFF2-40B4-BE49-F238E27FC236}">
                  <a16:creationId xmlns:a16="http://schemas.microsoft.com/office/drawing/2014/main" id="{721D8F92-B7C2-E533-1659-5ACCA45AF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>
            <a:extLst>
              <a:ext uri="{FF2B5EF4-FFF2-40B4-BE49-F238E27FC236}">
                <a16:creationId xmlns:a16="http://schemas.microsoft.com/office/drawing/2014/main" id="{26924816-84DD-2ABD-C583-E47F8127CF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AD7C39-CF73-148E-F574-3D6EEA79C256}"/>
              </a:ext>
            </a:extLst>
          </p:cNvPr>
          <p:cNvSpPr txBox="1"/>
          <p:nvPr/>
        </p:nvSpPr>
        <p:spPr>
          <a:xfrm>
            <a:off x="712033" y="1243574"/>
            <a:ext cx="455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b="1" dirty="0">
                <a:solidFill>
                  <a:srgbClr val="1F3864"/>
                </a:solidFill>
                <a:latin typeface="Calibri"/>
                <a:cs typeface="Calibri"/>
              </a:rPr>
              <a:t>About Seoul Digital Competency Survey</a:t>
            </a:r>
          </a:p>
        </p:txBody>
      </p:sp>
      <p:sp>
        <p:nvSpPr>
          <p:cNvPr id="5" name="Google Shape;98;p14">
            <a:extLst>
              <a:ext uri="{FF2B5EF4-FFF2-40B4-BE49-F238E27FC236}">
                <a16:creationId xmlns:a16="http://schemas.microsoft.com/office/drawing/2014/main" id="{D1B77997-9506-F6BA-95CD-F0D156143B20}"/>
              </a:ext>
            </a:extLst>
          </p:cNvPr>
          <p:cNvSpPr txBox="1">
            <a:spLocks/>
          </p:cNvSpPr>
          <p:nvPr/>
        </p:nvSpPr>
        <p:spPr>
          <a:xfrm>
            <a:off x="931384" y="183387"/>
            <a:ext cx="10515600" cy="110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4000"/>
              <a:t>Data sources</a:t>
            </a:r>
            <a:endParaRPr lang="en-US" sz="4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CCF5325-3446-3D33-4E3E-C5C4BDC56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83" y="1709776"/>
            <a:ext cx="11106208" cy="4174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07B0B9-525B-11DC-2CA6-DD0B1CA00C31}"/>
              </a:ext>
            </a:extLst>
          </p:cNvPr>
          <p:cNvSpPr txBox="1"/>
          <p:nvPr/>
        </p:nvSpPr>
        <p:spPr>
          <a:xfrm>
            <a:off x="4632960" y="1852141"/>
            <a:ext cx="63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800" dirty="0"/>
              <a:t>Requested raw data separately on Feb 11, 2026</a:t>
            </a:r>
            <a:br>
              <a:rPr kumimoji="1" lang="en-US" altLang="ko-KR" sz="1800" dirty="0"/>
            </a:br>
            <a:r>
              <a:rPr kumimoji="1" lang="en-US" altLang="ko-KR" sz="1800" dirty="0"/>
              <a:t>Obtained via official channels</a:t>
            </a:r>
          </a:p>
        </p:txBody>
      </p:sp>
    </p:spTree>
    <p:extLst>
      <p:ext uri="{BB962C8B-B14F-4D97-AF65-F5344CB8AC3E}">
        <p14:creationId xmlns:p14="http://schemas.microsoft.com/office/powerpoint/2010/main" val="65058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2F8CD35-AE2D-BCD7-4BA7-3242C3D46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7D48B4A1-5A9B-F21A-BE54-A31500992B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1384" y="136404"/>
            <a:ext cx="10515600" cy="110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Data sources</a:t>
            </a:r>
            <a:endParaRPr sz="4000" dirty="0"/>
          </a:p>
        </p:txBody>
      </p:sp>
      <p:graphicFrame>
        <p:nvGraphicFramePr>
          <p:cNvPr id="99" name="Google Shape;99;p14">
            <a:extLst>
              <a:ext uri="{FF2B5EF4-FFF2-40B4-BE49-F238E27FC236}">
                <a16:creationId xmlns:a16="http://schemas.microsoft.com/office/drawing/2014/main" id="{5F6DD2B0-C426-82E1-D511-54080731BB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1322630"/>
              </p:ext>
            </p:extLst>
          </p:nvPr>
        </p:nvGraphicFramePr>
        <p:xfrm>
          <a:off x="931383" y="1628637"/>
          <a:ext cx="10840314" cy="3201509"/>
        </p:xfrm>
        <a:graphic>
          <a:graphicData uri="http://schemas.openxmlformats.org/drawingml/2006/table">
            <a:tbl>
              <a:tblPr firstRow="1">
                <a:noFill/>
                <a:tableStyleId>{6047A4BB-2909-4D38-AFE2-DAC0DA2D5597}</a:tableStyleId>
              </a:tblPr>
              <a:tblGrid>
                <a:gridCol w="1430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0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5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3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2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Dataset name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Coverage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 variables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Format 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Access method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69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Cellular Base Station Data</a:t>
                      </a:r>
                      <a:endParaRPr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Spectrum Resource 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Mgmt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 System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spectrummap.kr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gis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mobile_service.do?menuNo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=300480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2023, 2024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4G/5G cell-site locations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CSV/XLSX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Public Open Data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699">
                <a:tc>
                  <a:txBody>
                    <a:bodyPr/>
                    <a:lstStyle/>
                    <a:p>
                      <a:r>
                        <a:rPr lang="en-US" sz="78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NIA Communication Quality (CQ)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Korean Public Data Portal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www.data.go.kr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/data/15120591/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fileData.do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2023, 2024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district-level download speed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737065"/>
                  </a:ext>
                </a:extLst>
              </a:tr>
              <a:tr h="54969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Public Free Wi-Fi Installation Data</a:t>
                      </a:r>
                      <a:endParaRPr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Local Admin 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WiFi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 License Data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www.localdata.go.kr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lif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lifeCtacDataView.do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2023, 2024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public Wi-Fi installation locations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6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Telecommunication Indicators</a:t>
                      </a:r>
                      <a:endParaRPr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SKT Telecom Data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www.data.go.kr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/data/15127168/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fileData.do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#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2023, 2024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mobile data use;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online service days;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fee delinquency rate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02465"/>
                  </a:ext>
                </a:extLst>
              </a:tr>
              <a:tr h="54969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Average Monthly Household Income by District</a:t>
                      </a:r>
                      <a:endParaRPr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Seoul Commercial Analysis Service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data.seoul.go.kr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dataList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/OA-22167/S/1/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datasetView.do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2023, 2024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average monthly household income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482047"/>
                  </a:ext>
                </a:extLst>
              </a:tr>
            </a:tbl>
          </a:graphicData>
        </a:graphic>
      </p:graphicFrame>
      <p:grpSp>
        <p:nvGrpSpPr>
          <p:cNvPr id="100" name="Google Shape;100;p14">
            <a:extLst>
              <a:ext uri="{FF2B5EF4-FFF2-40B4-BE49-F238E27FC236}">
                <a16:creationId xmlns:a16="http://schemas.microsoft.com/office/drawing/2014/main" id="{FE3B5E73-6D3E-6BD8-860B-CC0E9BE3410D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01" name="Google Shape;101;p14" descr="Funded by the EU">
              <a:extLst>
                <a:ext uri="{FF2B5EF4-FFF2-40B4-BE49-F238E27FC236}">
                  <a16:creationId xmlns:a16="http://schemas.microsoft.com/office/drawing/2014/main" id="{EFC27832-0F00-125C-5FF6-AAF80EC73FB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4" descr="Global Gateway">
              <a:extLst>
                <a:ext uri="{FF2B5EF4-FFF2-40B4-BE49-F238E27FC236}">
                  <a16:creationId xmlns:a16="http://schemas.microsoft.com/office/drawing/2014/main" id="{B93B4E79-4F21-BB16-D7BE-C8FA2CE6C5B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>
            <a:extLst>
              <a:ext uri="{FF2B5EF4-FFF2-40B4-BE49-F238E27FC236}">
                <a16:creationId xmlns:a16="http://schemas.microsoft.com/office/drawing/2014/main" id="{CAA19538-6ED7-6BB3-E80D-84DDFF06E77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841E54-B4D7-6489-1541-150BA8EF6739}"/>
              </a:ext>
            </a:extLst>
          </p:cNvPr>
          <p:cNvSpPr txBox="1"/>
          <p:nvPr/>
        </p:nvSpPr>
        <p:spPr>
          <a:xfrm>
            <a:off x="712033" y="1243574"/>
            <a:ext cx="20611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sz="1400" b="1" dirty="0"/>
              <a:t>Analysis 1 </a:t>
            </a:r>
            <a:r>
              <a:rPr lang="en-US" altLang="ko-KR" b="1" dirty="0"/>
              <a:t>&amp; 2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782470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084B964-5B3D-86A8-AC23-981819BBD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4">
            <a:extLst>
              <a:ext uri="{FF2B5EF4-FFF2-40B4-BE49-F238E27FC236}">
                <a16:creationId xmlns:a16="http://schemas.microsoft.com/office/drawing/2014/main" id="{E03833EF-2493-8391-48B4-66BDA0CDBA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9369583"/>
              </p:ext>
            </p:extLst>
          </p:nvPr>
        </p:nvGraphicFramePr>
        <p:xfrm>
          <a:off x="931384" y="1551351"/>
          <a:ext cx="10515600" cy="1682315"/>
        </p:xfrm>
        <a:graphic>
          <a:graphicData uri="http://schemas.openxmlformats.org/drawingml/2006/table">
            <a:tbl>
              <a:tblPr firstRow="1">
                <a:noFill/>
                <a:tableStyleId>{6047A4BB-2909-4D38-AFE2-DAC0DA2D5597}</a:tableStyleId>
              </a:tblPr>
              <a:tblGrid>
                <a:gridCol w="1365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7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7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93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Dataset name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Coverage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 variables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Format 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Access method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 err="1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Daangn</a:t>
                      </a: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Community Post</a:t>
                      </a:r>
                      <a:endParaRPr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Daangn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 Market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daangn.com/kr/community/s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 dong fields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2024-2026 crawl period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post text; gu/location;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createdAt; subject/category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CSV/XLSX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Web Scraping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975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Seoul Living/Floating Population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Seoul Open Data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data.seoul.go.kr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OA-14991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</a:p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2023-2026</a:t>
                      </a:r>
                    </a:p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used as available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hourly/dong population;</a:t>
                      </a:r>
                    </a:p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daytime population;</a:t>
                      </a:r>
                    </a:p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age shares; dong/district code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Public Open Data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0" name="Google Shape;100;p14">
            <a:extLst>
              <a:ext uri="{FF2B5EF4-FFF2-40B4-BE49-F238E27FC236}">
                <a16:creationId xmlns:a16="http://schemas.microsoft.com/office/drawing/2014/main" id="{287923AF-51E6-9E7A-2976-45A31A22A604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01" name="Google Shape;101;p14" descr="Funded by the EU">
              <a:extLst>
                <a:ext uri="{FF2B5EF4-FFF2-40B4-BE49-F238E27FC236}">
                  <a16:creationId xmlns:a16="http://schemas.microsoft.com/office/drawing/2014/main" id="{36F540ED-2816-8228-8ACA-82D8A874590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4" descr="Global Gateway">
              <a:extLst>
                <a:ext uri="{FF2B5EF4-FFF2-40B4-BE49-F238E27FC236}">
                  <a16:creationId xmlns:a16="http://schemas.microsoft.com/office/drawing/2014/main" id="{84CA5D58-75E2-F864-28B5-379A3924091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>
            <a:extLst>
              <a:ext uri="{FF2B5EF4-FFF2-40B4-BE49-F238E27FC236}">
                <a16:creationId xmlns:a16="http://schemas.microsoft.com/office/drawing/2014/main" id="{589E8DCC-4FBC-1563-089B-EF3A2F436E4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8;p14">
            <a:extLst>
              <a:ext uri="{FF2B5EF4-FFF2-40B4-BE49-F238E27FC236}">
                <a16:creationId xmlns:a16="http://schemas.microsoft.com/office/drawing/2014/main" id="{A3122F8A-E01E-0852-9394-F5E8A28CA063}"/>
              </a:ext>
            </a:extLst>
          </p:cNvPr>
          <p:cNvSpPr txBox="1">
            <a:spLocks/>
          </p:cNvSpPr>
          <p:nvPr/>
        </p:nvSpPr>
        <p:spPr>
          <a:xfrm>
            <a:off x="931384" y="136404"/>
            <a:ext cx="10515600" cy="110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4000"/>
              <a:t>Data sources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91441-D06B-58C9-8ECC-665835BE962E}"/>
              </a:ext>
            </a:extLst>
          </p:cNvPr>
          <p:cNvSpPr txBox="1"/>
          <p:nvPr/>
        </p:nvSpPr>
        <p:spPr>
          <a:xfrm>
            <a:off x="712033" y="1243574"/>
            <a:ext cx="34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Analysis 3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32776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51" name="Google Shape;151;p20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Connectivity: turning network infrastructure into comparable district measures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Unit of comparison: each Seoul district in each study year.</a:t>
            </a:r>
          </a:p>
          <a:p>
            <a:pPr marL="360000" indent="-180000">
              <a:lnSpc>
                <a:spcPct val="112000"/>
              </a:lnSpc>
              <a:spcBef>
                <a:spcPts val="220"/>
              </a:spcBef>
              <a:buSzPts val="1260"/>
              <a:buFont typeface="Arial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Data used: Cellular Base Station Data locations, measured download speed, district boundaries, and daytime population.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Preparation steps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Count each physical base-station site only once.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Match all records to the same Seoul district code system.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Convert station counts into population-adjusted density measures.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Average measured download speed at the district-year level.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Place all connectivity indicators on a common scale before combining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57" name="Google Shape;157;p21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Availability for Use: measuring whether digital services are practically usable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Unit of comparison: each Seoul district in each study year.</a:t>
            </a:r>
          </a:p>
          <a:p>
            <a:pPr marL="360000" indent="-180000">
              <a:lnSpc>
                <a:spcPct val="112000"/>
              </a:lnSpc>
              <a:spcBef>
                <a:spcPts val="220"/>
              </a:spcBef>
              <a:buSzPts val="1260"/>
              <a:buFont typeface="Arial"/>
              <a:buChar char="-"/>
            </a:pPr>
            <a:r>
              <a:rPr lang="en-US" sz="1200" dirty="0">
                <a:solidFill>
                  <a:srgbClr val="111827"/>
                </a:solidFill>
              </a:rPr>
              <a:t>Data used: telecom usage(SKT Telecom Data), online service days, public Wi-Fi installations, population denominators, and district codes.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Preparation steps</a:t>
            </a:r>
          </a:p>
          <a:p>
            <a:pPr marL="360000" indent="-180000">
              <a:lnSpc>
                <a:spcPct val="112000"/>
              </a:lnSpc>
              <a:spcBef>
                <a:spcPts val="220"/>
              </a:spcBef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Aggregate neighborhood-level telecom data to district level using </a:t>
            </a:r>
            <a:r>
              <a:rPr lang="en-US" altLang="ko-KR" sz="1260" dirty="0">
                <a:solidFill>
                  <a:srgbClr val="111827"/>
                </a:solidFill>
              </a:rPr>
              <a:t>daytime </a:t>
            </a:r>
            <a:r>
              <a:rPr lang="en-US" sz="1260" dirty="0">
                <a:solidFill>
                  <a:srgbClr val="111827"/>
                </a:solidFill>
              </a:rPr>
              <a:t>floating population weights.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Convert public Wi-Fi installations into resident-adjusted density.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Usage, service-day, and Wi-Fi indicators on a common scale before combining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Affordability: separating ability to pay from payment burden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Unit of comparison: each Seoul district in each study year.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Data used: district household income and telecom fee delinquency.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Preparation steps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income as the positive resource side of affordability.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>
                <a:solidFill>
                  <a:srgbClr val="111827"/>
                </a:solidFill>
              </a:rPr>
              <a:t>Use telecom fee delinquency as the burden side of affordability.</a:t>
            </a:r>
            <a:endParaRPr lang="en-US" sz="1260" dirty="0">
              <a:solidFill>
                <a:srgbClr val="111827"/>
              </a:solidFill>
            </a:endParaRP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Aggregate delinquency from neighborhood to district level with population weights.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Reverse the burden indicator so that higher final values consistently mean better conditions.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Combine the resource and burden sides after standardization.</a:t>
            </a:r>
          </a:p>
        </p:txBody>
      </p:sp>
    </p:spTree>
    <p:extLst>
      <p:ext uri="{BB962C8B-B14F-4D97-AF65-F5344CB8AC3E}">
        <p14:creationId xmlns:p14="http://schemas.microsoft.com/office/powerpoint/2010/main" val="290871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69" name="Google Shape;169;p23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Devices, Skills, and Safety: converting survey answers into district-level conditions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Data used: Seoul Digital Competency Survey with official survey weights.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Constructed dimensions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Devices: whether residents have and use core digital devices.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Digital skills: task-based ability items grouped into a skills score.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Safety and security: safe-use behavior and security-awareness items.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Preparation steps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Remove invalid and nonresponse codes before scoring.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Apply survey weights so district averages represent the sampled population.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the available survey wave as a time-invariant district input for both study years.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75" name="Google Shape;175;p24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52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2: Multilevel Survey Dataset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Goal: connect individual digital-use behavior with district-level UMC context.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Survey pooling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Combine the two Seoul Survey years into one respondent-level analysis frame.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Link each respondent to the correct district-year UMC context using district and year keys.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Outcome construction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Convert digital service-use responses to a common score range and sum them into one digital-use measure.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Assign zero use only when the respondent is identified as a non-user.</a:t>
            </a:r>
          </a:p>
        </p:txBody>
      </p:sp>
      <p:sp>
        <p:nvSpPr>
          <p:cNvPr id="176" name="Google Shape;176;p24"/>
          <p:cNvSpPr txBox="1"/>
          <p:nvPr/>
        </p:nvSpPr>
        <p:spPr>
          <a:xfrm>
            <a:off x="6500000" y="1500000"/>
            <a:ext cx="505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Variable harmonization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Standardize field names that changed between survey years before pooling.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Create demographic and household controls needed for the multilevel model.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selected binary outcomes for robustness checks.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Scaling and centering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Place district-level predictors on comparable scales; reverse cost-burden indicators.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Center age and income using constants saved with the processed dataset.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Document every transformation in the analysis codebook.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3: Daangn Community Posts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Goal: translate local community text into district-level UMC evidence.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Corpus cleaning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Remove deleted, blocked, and empty-text posts before analysis.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Standardize text, time, category, and location fields when available.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Candidate screening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UMC keyword dictionaries to identify potentially relevant posts.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all matched UMC dimensions at the screening stage instead of forcing one label.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Scoring and aggregation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Score selected posts for UMC relevance, dimension, confidence, and problem type.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Aggregate scored evidence by district and dimension for Bayesian updating.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Missing Data Rules</a:t>
            </a:r>
          </a:p>
        </p:txBody>
      </p:sp>
      <p:sp>
        <p:nvSpPr>
          <p:cNvPr id="188" name="Google Shape;188;p26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Principle: clean each source before constructing composite scores.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Indicator-level rules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Convert blanks and nonresponse codes to missing before calculation.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official population denominators for density and per-capita measures when available.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fallback denominator logic only for reproducibility, not as the main rule.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Survey-derived dimensions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Exclude invalid survey responses before constructing devices, skills, and safety measures.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survey weights only when both response and weight are valid.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Composite construction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Apply the same normalization and dimension formula after source-specific cleaning.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Google Shape;193;p27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Missing Data Rules</a:t>
            </a:r>
          </a:p>
        </p:txBody>
      </p:sp>
      <p:sp>
        <p:nvSpPr>
          <p:cNvPr id="194" name="Google Shape;194;p27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2: Survey Dataset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Principle: use rule-based handling that matches the survey meaning.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Standardization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Read blank and null-like survey entries as missing values before pooling.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Harmonize variables that changed names or coding between survey years.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Rule-based handling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Assign zero digital use only to respondents identified as non-users.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Apply the documented income nonresponse rule before centering.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Modeling file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Remove unresolved missing values in the dependent variable or required model controls.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Leave robustness-only gaps in robustness variables rather than imputing them into the main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Missing Data Rules</a:t>
            </a:r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3: Daangn Community Posts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Principle: keep uncertainty visible instead of filling text-derived gaps artificially.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Invalid-resource filtering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Remove unusable posts before keyword screening.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posts with usable text and available location information for downstream matching.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Location context gaps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Do not impute unmatched official-dong or living-population context.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district labels for aggregation when finer neighborhood context is unavailable.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Uncertainty handling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unassigned dimensions as zero-probability fields.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Bayesian aggregation so sparse text evidence is represented with uncertainty.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Google Shape;205;p29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Management</a:t>
            </a:r>
          </a:p>
        </p:txBody>
      </p:sp>
      <p:sp>
        <p:nvSpPr>
          <p:cNvPr id="206" name="Google Shape;206;p29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Goal: make every index value traceable back to its source and transformation rule.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Storage structure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Separate raw sources, cleaned indicators, normalized dimensions, and final index tables.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Store each study year separately to support year-by-year review.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Audit trail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source-specific files before joining so transformations remain traceable.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Store codebook, descriptives, and summaries beside the processed outputs.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Documentation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Record source role, aggregation rule, scaling direction, and dimension formula in the codebook.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1" name="Google Shape;211;p30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Management</a:t>
            </a:r>
          </a:p>
        </p:txBody>
      </p:sp>
      <p:sp>
        <p:nvSpPr>
          <p:cNvPr id="212" name="Google Shape;212;p30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2: Multilevel Survey Dataset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Goal: preserve a clean path from raw survey responses to the modeling file.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Storage structure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Save the processed model frame in both efficient and inspection-friendly formats.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Store centering constants and panel metadata separately from the model frame.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Audit trail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raw survey files separate from processed analysis files.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Maintain district-year UMC predictors as external contextual inputs before merging.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Documentation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the analysis codebook to document variable definitions, transformations, scales, and source roles.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Google Shape;217;p31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Management</a:t>
            </a:r>
          </a:p>
        </p:txBody>
      </p:sp>
      <p:sp>
        <p:nvSpPr>
          <p:cNvPr id="218" name="Google Shape;218;p31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3: Daangn Community Posts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Goal: keep the text-processing and Bayesian-model stages auditable.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Storage structure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Save cleaned posts, screened candidates, scored posts, aggregates, posterior tables, and figures separately.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scoring outputs separate from Bayesian posterior outputs.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Audit trail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Preserve raw, candidate, and scored stages so each post-level decision can be traced.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district-dimension aggregates as the bridge from text scoring to posterior estimation.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Documentation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Version posterior outputs by model setting so sensitivity checks remain transparent.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Google Shape;223;p32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ETL Workflow</a:t>
            </a:r>
          </a:p>
        </p:txBody>
      </p:sp>
      <p:sp>
        <p:nvSpPr>
          <p:cNvPr id="224" name="Google Shape;224;p32"/>
          <p:cNvSpPr txBox="1"/>
          <p:nvPr/>
        </p:nvSpPr>
        <p:spPr>
          <a:xfrm>
            <a:off x="900000" y="1350000"/>
            <a:ext cx="10350000" cy="5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EXTRACT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Collect infrastructure, service-use, affordability, competency, and population-context sources.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TRANSFORM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Align district codes and remove duplicate infrastructure records.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Convert counts and rates into comparable district-year indicators.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population weights where neighborhood data are aggregated upward.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Standardize indicators and combine them into the six UMC dimensions.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LOAD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Save versioned UMC tables and documentation for downstream analyses.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9" name="Google Shape;229;p33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ETL Workflow</a:t>
            </a:r>
          </a:p>
        </p:txBody>
      </p:sp>
      <p:sp>
        <p:nvSpPr>
          <p:cNvPr id="230" name="Google Shape;230;p33"/>
          <p:cNvSpPr txBox="1"/>
          <p:nvPr/>
        </p:nvSpPr>
        <p:spPr>
          <a:xfrm>
            <a:off x="756850" y="1247475"/>
            <a:ext cx="7452300" cy="24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highlight>
                  <a:srgbClr val="C9DAF8"/>
                </a:highlight>
              </a:rPr>
              <a:t>Analysis 2</a:t>
            </a:r>
            <a:endParaRPr sz="2100" b="1">
              <a:solidFill>
                <a:schemeClr val="dk1"/>
              </a:solidFill>
              <a:highlight>
                <a:srgbClr val="C9DAF8"/>
              </a:highlight>
            </a:endParaRPr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2325" y="899211"/>
            <a:ext cx="7803951" cy="520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Google Shape;236;p34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ETL Workflow</a:t>
            </a:r>
          </a:p>
        </p:txBody>
      </p:sp>
      <p:sp>
        <p:nvSpPr>
          <p:cNvPr id="237" name="Google Shape;237;p34"/>
          <p:cNvSpPr txBox="1"/>
          <p:nvPr/>
        </p:nvSpPr>
        <p:spPr>
          <a:xfrm>
            <a:off x="900000" y="1350000"/>
            <a:ext cx="5037813" cy="5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3: Daangn Community Posts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EXTRACT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Collect clean community posts, district UMC priors, neighborhood mapping, and population context.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TRANSFORM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Screen posts with UMC keywords and score selected posts with UMC probabilities.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Map neighborhood context when available and aggregate labels to district-dimension counts.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Update measured UMC priors with text evidence using the Bayesian model setting.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LOAD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Save scored-post data, summary tables, posterior tables, and figures.</a:t>
            </a:r>
          </a:p>
        </p:txBody>
      </p:sp>
      <p:pic>
        <p:nvPicPr>
          <p:cNvPr id="2" name="Figure 7">
            <a:extLst>
              <a:ext uri="{FF2B5EF4-FFF2-40B4-BE49-F238E27FC236}">
                <a16:creationId xmlns:a16="http://schemas.microsoft.com/office/drawing/2014/main" id="{81EDCD40-36BA-3A57-57BF-9752C2FC398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6"/>
          <a:stretch>
            <a:fillRect/>
          </a:stretch>
        </p:blipFill>
        <p:spPr bwMode="auto">
          <a:xfrm>
            <a:off x="6254189" y="1433830"/>
            <a:ext cx="5806440" cy="39903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dex Accent Line">
            <a:extLst>
              <a:ext uri="{FF2B5EF4-FFF2-40B4-BE49-F238E27FC236}">
                <a16:creationId xmlns:a16="http://schemas.microsoft.com/office/drawing/2014/main" id="{FB4892EF-EC4B-F9C5-2291-9EE54D9AB77C}"/>
              </a:ext>
            </a:extLst>
          </p:cNvPr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Google Shape;236;p34">
            <a:extLst>
              <a:ext uri="{FF2B5EF4-FFF2-40B4-BE49-F238E27FC236}">
                <a16:creationId xmlns:a16="http://schemas.microsoft.com/office/drawing/2014/main" id="{E3BE70E2-C403-A0F0-D6CA-3F4C37393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Others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2437C-5CA1-AEA1-FC3E-ED553EB23F70}"/>
              </a:ext>
            </a:extLst>
          </p:cNvPr>
          <p:cNvSpPr txBox="1"/>
          <p:nvPr/>
        </p:nvSpPr>
        <p:spPr>
          <a:xfrm>
            <a:off x="931761" y="1631986"/>
            <a:ext cx="10666071" cy="31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b="1" dirty="0">
                <a:solidFill>
                  <a:srgbClr val="111827"/>
                </a:solidFill>
              </a:rPr>
              <a:t>Team Notion Page</a:t>
            </a:r>
            <a:r>
              <a:rPr lang="en-US" altLang="ko-KR" dirty="0">
                <a:solidFill>
                  <a:srgbClr val="111827"/>
                </a:solidFill>
              </a:rPr>
              <a:t>: https://</a:t>
            </a:r>
            <a:r>
              <a:rPr lang="en-US" altLang="ko-KR" dirty="0" err="1">
                <a:solidFill>
                  <a:srgbClr val="111827"/>
                </a:solidFill>
              </a:rPr>
              <a:t>www.notion.so</a:t>
            </a:r>
            <a:r>
              <a:rPr lang="en-US" altLang="ko-KR" dirty="0">
                <a:solidFill>
                  <a:srgbClr val="111827"/>
                </a:solidFill>
              </a:rPr>
              <a:t>/ITU-Data-Hackathon-2e9594c68227801ca869dab7e2428f3f?source=</a:t>
            </a:r>
            <a:r>
              <a:rPr lang="en-US" altLang="ko-KR" dirty="0" err="1">
                <a:solidFill>
                  <a:srgbClr val="111827"/>
                </a:solidFill>
              </a:rPr>
              <a:t>copy_link</a:t>
            </a:r>
            <a:endParaRPr lang="en-US" altLang="ko-KR" sz="1400" dirty="0">
              <a:solidFill>
                <a:srgbClr val="111827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41A4E-AC23-D4E1-B12E-B297F0630333}"/>
              </a:ext>
            </a:extLst>
          </p:cNvPr>
          <p:cNvSpPr txBox="1"/>
          <p:nvPr/>
        </p:nvSpPr>
        <p:spPr>
          <a:xfrm>
            <a:off x="931761" y="2006516"/>
            <a:ext cx="9797971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b="1" dirty="0" err="1">
                <a:solidFill>
                  <a:srgbClr val="111827"/>
                </a:solidFill>
              </a:rPr>
              <a:t>Github</a:t>
            </a:r>
            <a:r>
              <a:rPr lang="en-US" altLang="ko-KR" dirty="0">
                <a:solidFill>
                  <a:srgbClr val="111827"/>
                </a:solidFill>
              </a:rPr>
              <a:t>: </a:t>
            </a:r>
            <a:r>
              <a:rPr lang="en" altLang="ko-KR" dirty="0">
                <a:solidFill>
                  <a:srgbClr val="111827"/>
                </a:solidFill>
              </a:rPr>
              <a:t>Will address this soon</a:t>
            </a:r>
            <a:endParaRPr lang="en-US" altLang="ko-KR" sz="1400" dirty="0">
              <a:solidFill>
                <a:srgbClr val="11182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E628E-6D86-3226-A7A6-1FF4EEF61FD1}"/>
              </a:ext>
            </a:extLst>
          </p:cNvPr>
          <p:cNvSpPr txBox="1"/>
          <p:nvPr/>
        </p:nvSpPr>
        <p:spPr>
          <a:xfrm>
            <a:off x="931762" y="2440469"/>
            <a:ext cx="2493364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b="1" dirty="0" err="1">
                <a:solidFill>
                  <a:srgbClr val="111827"/>
                </a:solidFill>
              </a:rPr>
              <a:t>Report_draft</a:t>
            </a:r>
            <a:r>
              <a:rPr lang="en-US" altLang="ko-KR" dirty="0">
                <a:solidFill>
                  <a:srgbClr val="111827"/>
                </a:solidFill>
              </a:rPr>
              <a:t>: </a:t>
            </a:r>
            <a:r>
              <a:rPr lang="en-US" altLang="ko-KR" dirty="0" err="1">
                <a:solidFill>
                  <a:srgbClr val="111827"/>
                </a:solidFill>
              </a:rPr>
              <a:t>Attatched</a:t>
            </a:r>
            <a:r>
              <a:rPr lang="en-US" altLang="ko-KR" dirty="0">
                <a:solidFill>
                  <a:srgbClr val="111827"/>
                </a:solidFill>
              </a:rPr>
              <a:t> File</a:t>
            </a:r>
            <a:endParaRPr lang="en-US" altLang="ko-KR" sz="1400" dirty="0">
              <a:solidFill>
                <a:srgbClr val="1118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101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F93DE-5878-AD46-9C8E-A26D88CC753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86bf9b4-ee73-47e7-a7ee-2f894a7aac9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1838</Words>
  <Application>Microsoft Macintosh PowerPoint</Application>
  <PresentationFormat>와이드스크린</PresentationFormat>
  <Paragraphs>276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Play</vt:lpstr>
      <vt:lpstr>Arial</vt:lpstr>
      <vt:lpstr>Calibri</vt:lpstr>
      <vt:lpstr>Office Theme</vt:lpstr>
      <vt:lpstr>Intermediate deliverable: Data Preparation and ETL Methods</vt:lpstr>
      <vt:lpstr>Data sources</vt:lpstr>
      <vt:lpstr>PowerPoint 프레젠테이션</vt:lpstr>
      <vt:lpstr>Data sources</vt:lpstr>
      <vt:lpstr>PowerPoint 프레젠테이션</vt:lpstr>
      <vt:lpstr>Data Preparation Methods</vt:lpstr>
      <vt:lpstr>Data Preparation Methods</vt:lpstr>
      <vt:lpstr>Data Preparation Methods</vt:lpstr>
      <vt:lpstr>Data Preparation Methods</vt:lpstr>
      <vt:lpstr>Data Preparation Methods</vt:lpstr>
      <vt:lpstr>Data Preparation Methods</vt:lpstr>
      <vt:lpstr>Missing Data Rules</vt:lpstr>
      <vt:lpstr>Missing Data Rules</vt:lpstr>
      <vt:lpstr>Missing Data Rules</vt:lpstr>
      <vt:lpstr>Data Management</vt:lpstr>
      <vt:lpstr>Data Management</vt:lpstr>
      <vt:lpstr>Data Management</vt:lpstr>
      <vt:lpstr>ETL Workflow</vt:lpstr>
      <vt:lpstr>ETL Workflow</vt:lpstr>
      <vt:lpstr>ETL Workflow</vt:lpstr>
      <vt:lpstr>Others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우준빈</cp:lastModifiedBy>
  <cp:revision>139</cp:revision>
  <dcterms:modified xsi:type="dcterms:W3CDTF">2026-05-07T14:02:01Z</dcterms:modified>
</cp:coreProperties>
</file>