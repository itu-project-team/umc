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73" r:id="rId7"/>
    <p:sldId id="272" r:id="rId8"/>
    <p:sldId id="270" r:id="rId9"/>
    <p:sldId id="274" r:id="rId10"/>
    <p:sldId id="271" r:id="rId11"/>
    <p:sldId id="275" r:id="rId12"/>
    <p:sldId id="257" r:id="rId13"/>
    <p:sldId id="258" r:id="rId14"/>
    <p:sldId id="259" r:id="rId15"/>
    <p:sldId id="263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0405B-A056-4432-9657-27EA2D7ACC24}" v="3" dt="2026-05-01T09:19:06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8" autoAdjust="0"/>
    <p:restoredTop sz="94714"/>
  </p:normalViewPr>
  <p:slideViewPr>
    <p:cSldViewPr snapToGrid="0">
      <p:cViewPr varScale="1">
        <p:scale>
          <a:sx n="115" d="100"/>
          <a:sy n="115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B772-B384-7F03-1F50-BD4E7BA94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95B92-6DC6-5A37-CF39-521C94ABE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19B3-E883-BB25-D1CE-3943BB07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8297" y="6356350"/>
            <a:ext cx="5844669" cy="365125"/>
          </a:xfrm>
        </p:spPr>
        <p:txBody>
          <a:bodyPr/>
          <a:lstStyle/>
          <a:p>
            <a:r>
              <a:rPr lang="en-US" dirty="0"/>
              <a:t>Data Hackathon “</a:t>
            </a:r>
            <a:r>
              <a:rPr lang="en-GB" b="1" dirty="0"/>
              <a:t>Bridging the Digital Divide by Uncovering Digital Deserts</a:t>
            </a:r>
            <a:r>
              <a:rPr lang="en-US" dirty="0"/>
              <a:t>”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D4D830-07E8-9F3B-9F11-63739513E673}"/>
              </a:ext>
            </a:extLst>
          </p:cNvPr>
          <p:cNvGrpSpPr/>
          <p:nvPr userDrawn="1"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2" name="Picture 2" descr="Funded by the EU">
              <a:extLst>
                <a:ext uri="{FF2B5EF4-FFF2-40B4-BE49-F238E27FC236}">
                  <a16:creationId xmlns:a16="http://schemas.microsoft.com/office/drawing/2014/main" id="{CB76D1D7-7C2C-742E-BC4C-DCADAC7060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Global Gateway">
              <a:extLst>
                <a:ext uri="{FF2B5EF4-FFF2-40B4-BE49-F238E27FC236}">
                  <a16:creationId xmlns:a16="http://schemas.microsoft.com/office/drawing/2014/main" id="{C665079F-BC71-F97D-9E43-833FAB1BA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9">
            <a:extLst>
              <a:ext uri="{FF2B5EF4-FFF2-40B4-BE49-F238E27FC236}">
                <a16:creationId xmlns:a16="http://schemas.microsoft.com/office/drawing/2014/main" id="{82B9E0D3-B461-7957-F790-D0938F78BE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7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C642-4DC0-7697-223E-19FA246E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96060-7C48-46DA-F772-E2221F77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1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E20B1-0236-CDA3-0601-EBBE80B7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4837-1120-481A-BE85-0DEA5E24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F87DE9-D716-5CEA-47FB-F340FA9F007E}"/>
              </a:ext>
            </a:extLst>
          </p:cNvPr>
          <p:cNvGrpSpPr/>
          <p:nvPr userDrawn="1"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8" name="Picture 2" descr="Funded by the EU">
              <a:extLst>
                <a:ext uri="{FF2B5EF4-FFF2-40B4-BE49-F238E27FC236}">
                  <a16:creationId xmlns:a16="http://schemas.microsoft.com/office/drawing/2014/main" id="{ED182CF1-B931-B766-2CD5-5973B2D729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Global Gateway">
              <a:extLst>
                <a:ext uri="{FF2B5EF4-FFF2-40B4-BE49-F238E27FC236}">
                  <a16:creationId xmlns:a16="http://schemas.microsoft.com/office/drawing/2014/main" id="{0A225D0D-2DBE-EABB-C568-6DD6021A9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2549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88AE-B222-5D55-B590-3B4B7EB2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5DFAF-5A55-4F3D-02F2-E56B6BD23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29EDC-D4E5-6DF4-837C-1E49C132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B765-4D9D-2452-6CF0-0064EF16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2E5E-122A-6BAA-C15C-3C86CC8F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2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3D80-5C1F-C4F7-EBBC-BDA2B55F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BC7-2370-0172-77DD-EC375E1F8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C5A9A-7F46-A682-D874-F29D1F261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5972-7AD5-6D65-B71E-09B322DF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A668D-918B-5DEC-CB9E-72A74801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AC4E1-5E44-2E18-053B-699A3564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61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FDCA-7F1F-9EDE-17BE-BC09C8B1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61E95-F1B8-9641-343F-EDED145F6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7A20B-A4B8-B287-5C2D-A54E8E0A5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23F4A-D12E-49D3-C06B-5C3A54E56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358DA-F199-BE2C-F82E-7978F1C3A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CF4C8-0180-4232-40DB-30F15C20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D5962-8992-38F2-79E2-B802A9E1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3AC08-B555-45B4-1782-FB7C126D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60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5E8E-7E96-FFA8-7E4D-F23618D6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6F7BC-1C21-2782-F51A-4DA71EE9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6C813-9483-C133-0134-77D7E3A6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1E58B-9FF4-BFBB-E702-8A946282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0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DA843-A04A-74D0-547F-47B71719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F22EC0-78D8-C34F-3457-0D0F0EF4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12FA-71B4-B4C3-88B9-38459BDF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36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9999-B993-E7A6-DE8F-F887C140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9582-A62E-CC1F-19E6-032307AE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6150E-4F8F-B3AF-3B67-BDD38CD7B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7213-D011-2240-1731-6AC84512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4C590-2F3B-3877-D6D4-A89A3C6D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0F80-550B-5755-AEDA-1D9A9A16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1C77-C7CD-AA6C-DF74-1F1C2B91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2AAE4-9FF2-3C7E-B13A-FD35541D5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C68EE-423B-8063-BB07-3537CDD03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EE9BC-B492-E8DD-641C-1FF83B8A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9A540-4AFA-1172-3855-4FF2901E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F0265-964F-709D-829C-8CFDFB15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FE1D-0358-3C61-E3FE-48A6D6A0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EBB85-E97E-B4A7-CA1E-9691B7C8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543EF-1664-14DF-10A3-FF37262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1C0D9-F259-16F2-0AAF-4796304A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274DD-4000-921C-81BC-F4B71BF1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30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0D7BE-CDA1-0BEB-EDD3-22F35792C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7324C-5339-C045-0BA3-33C982871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19BB-8A3D-C132-A354-D0ED50E3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87A37-FA56-E297-CF87-BDC43008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7AEE-6E24-0B86-6E31-0DEA270F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83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B9878-3DFC-E2E8-EA85-3145A8B7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4AA65-0ED7-40A4-7683-3936FA025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8D03-71AA-C293-C4EB-0AD4B404A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27F95-3AA8-498B-B7DD-C48DEC870858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23D7-BA41-F242-F349-F17E275F0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093F2-CE67-DF8C-47D9-656CB1AA1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6EB7B-B8A5-43B3-926F-442A105D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92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5227-3987-EB78-A791-4F05A0CE4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746460"/>
          </a:xfrm>
        </p:spPr>
        <p:txBody>
          <a:bodyPr>
            <a:normAutofit/>
          </a:bodyPr>
          <a:lstStyle/>
          <a:p>
            <a:r>
              <a:rPr lang="en-US" sz="4400" dirty="0"/>
              <a:t>Intermediate deliverable: </a:t>
            </a:r>
            <a:br>
              <a:rPr lang="en-US" sz="5400" dirty="0"/>
            </a:br>
            <a:r>
              <a:rPr lang="en-US" sz="4400" b="1" dirty="0"/>
              <a:t>Problem description</a:t>
            </a:r>
            <a:br>
              <a:rPr lang="en-US" sz="4400" b="1" dirty="0"/>
            </a:br>
            <a:r>
              <a:rPr lang="en-US" sz="4400" b="1" dirty="0"/>
              <a:t>Data sources and processing</a:t>
            </a:r>
            <a:br>
              <a:rPr lang="en-US" sz="4400" b="1" dirty="0"/>
            </a:br>
            <a:r>
              <a:rPr lang="en-US" sz="4400" b="1" dirty="0"/>
              <a:t>Preliminary results</a:t>
            </a:r>
            <a:endParaRPr lang="en-GB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F0FC9-62DD-5CA3-7560-DB49E34B5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1086"/>
            <a:ext cx="9144000" cy="1226713"/>
          </a:xfrm>
        </p:spPr>
        <p:txBody>
          <a:bodyPr/>
          <a:lstStyle/>
          <a:p>
            <a:r>
              <a:rPr lang="en-US" dirty="0"/>
              <a:t>Team name: 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730F18-55C2-FCBD-C445-B38ED682FF21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5" name="Picture 2" descr="Funded by the EU">
              <a:extLst>
                <a:ext uri="{FF2B5EF4-FFF2-40B4-BE49-F238E27FC236}">
                  <a16:creationId xmlns:a16="http://schemas.microsoft.com/office/drawing/2014/main" id="{58E87509-4334-91EB-7F58-528C571A6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lobal Gateway">
              <a:extLst>
                <a:ext uri="{FF2B5EF4-FFF2-40B4-BE49-F238E27FC236}">
                  <a16:creationId xmlns:a16="http://schemas.microsoft.com/office/drawing/2014/main" id="{F4A3832E-E4D3-1551-094D-C9ED822A5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9">
            <a:extLst>
              <a:ext uri="{FF2B5EF4-FFF2-40B4-BE49-F238E27FC236}">
                <a16:creationId xmlns:a16="http://schemas.microsoft.com/office/drawing/2014/main" id="{1143BCFC-C258-7797-73FB-CF94F5987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3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0649-566E-D4AB-A89A-D537528C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64B1-586B-035C-006B-CCD0122A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817781" cy="694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Problem statement</a:t>
            </a:r>
            <a:endParaRPr lang="en-GB" sz="36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4FB4-3CDE-E489-AC4A-8244BF5C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338146"/>
            <a:ext cx="11193966" cy="5798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How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should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UMC (Universal and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Meaningful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Connectivity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)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be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measured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in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a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hyper-connected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city</a:t>
            </a:r>
            <a:endParaRPr lang="ko-KR" altLang="ko-KR" sz="20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4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6E81-131A-21A5-B1B1-3EA1F9A78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9FCC-A0DB-7D39-D95A-3625B11B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817781" cy="694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Problem statement</a:t>
            </a:r>
            <a:endParaRPr lang="en-GB" sz="36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BEEC-5BCA-34B4-02F5-04F21C39D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338146"/>
            <a:ext cx="11193966" cy="5798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How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should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UMC (Universal and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Meaningful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Connectivity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)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be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measured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in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a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hyper-connected</a:t>
            </a:r>
            <a:r>
              <a:rPr lang="ko-KR" altLang="ko-KR" sz="20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ko-KR" altLang="ko-KR" sz="20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city</a:t>
            </a:r>
            <a:endParaRPr lang="ko-KR" altLang="ko-KR" sz="20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892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EA9B-29CB-8F52-59B4-2DFB5058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CB46-8F6F-AA13-A421-F9A66EE3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817781" cy="1325563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F7E5-C03D-93CD-67F0-8DAD6DC49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738312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서울을 대상으로 </a:t>
            </a:r>
            <a:r>
              <a:rPr lang="en-US" altLang="ko-KR" dirty="0"/>
              <a:t>ITU</a:t>
            </a:r>
            <a:r>
              <a:rPr lang="ko-KR" altLang="en-US" dirty="0"/>
              <a:t>의 </a:t>
            </a:r>
            <a:r>
              <a:rPr lang="en-US" altLang="ko-KR" dirty="0"/>
              <a:t>UMC</a:t>
            </a:r>
            <a:r>
              <a:rPr lang="ko-KR" altLang="en-US" dirty="0"/>
              <a:t>의 개념을 적용해 디지털 연결성이 떨어지는 지역 혹은 집단을 식별하는 사례연구적 성격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10004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A9AC-278D-3663-6561-0361F078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FCFB8D-5400-F79D-C6EB-477365980F81}"/>
              </a:ext>
            </a:extLst>
          </p:cNvPr>
          <p:cNvSpPr txBox="1">
            <a:spLocks/>
          </p:cNvSpPr>
          <p:nvPr/>
        </p:nvSpPr>
        <p:spPr>
          <a:xfrm>
            <a:off x="838198" y="1591339"/>
            <a:ext cx="4116573" cy="442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메타이론 수준에서의 정당성</a:t>
            </a:r>
            <a:endParaRPr lang="ko-KR" altLang="ko-KR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929083-0F8C-C669-0E11-9769A9789CA2}"/>
              </a:ext>
            </a:extLst>
          </p:cNvPr>
          <p:cNvSpPr txBox="1">
            <a:spLocks/>
          </p:cNvSpPr>
          <p:nvPr/>
        </p:nvSpPr>
        <p:spPr>
          <a:xfrm>
            <a:off x="838198" y="2376228"/>
            <a:ext cx="4706679" cy="442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최대한 청중에게 전달이 잘 되도록 해야함</a:t>
            </a:r>
            <a:endParaRPr lang="ko-KR" altLang="ko-K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E21C53-7B71-7837-212F-45EB585B573E}"/>
              </a:ext>
            </a:extLst>
          </p:cNvPr>
          <p:cNvSpPr txBox="1">
            <a:spLocks/>
          </p:cNvSpPr>
          <p:nvPr/>
        </p:nvSpPr>
        <p:spPr>
          <a:xfrm>
            <a:off x="4344610" y="616454"/>
            <a:ext cx="6434471" cy="442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다른 국가에 적용가능한 프레임워크 개발</a:t>
            </a:r>
            <a:endParaRPr lang="ko-KR" altLang="ko-KR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ECA8CA-A6EC-4C62-6D28-45B185B3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9694" cy="694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Goal of Project</a:t>
            </a:r>
            <a:endParaRPr lang="en-GB" sz="36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02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48B5-9A95-1CAE-FA5F-7C54C6D7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FB691D-5366-A4BD-B587-6E6F7427B7D1}"/>
              </a:ext>
            </a:extLst>
          </p:cNvPr>
          <p:cNvSpPr txBox="1">
            <a:spLocks/>
          </p:cNvSpPr>
          <p:nvPr/>
        </p:nvSpPr>
        <p:spPr>
          <a:xfrm>
            <a:off x="4344610" y="616454"/>
            <a:ext cx="6434471" cy="4429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다른 국가에 적용가능한 프레임워크 개발</a:t>
            </a:r>
            <a:endParaRPr lang="ko-KR" altLang="ko-KR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B7AD728-7C19-8A90-38CA-23E8CCCB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9694" cy="694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Goal of Project</a:t>
            </a:r>
            <a:endParaRPr lang="en-GB" sz="36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8338C2-654B-8AAA-D064-2485F2B5FB66}"/>
              </a:ext>
            </a:extLst>
          </p:cNvPr>
          <p:cNvSpPr txBox="1">
            <a:spLocks/>
          </p:cNvSpPr>
          <p:nvPr/>
        </p:nvSpPr>
        <p:spPr>
          <a:xfrm>
            <a:off x="838199" y="1555898"/>
            <a:ext cx="4116573" cy="442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개별 방법론의 정당성</a:t>
            </a:r>
            <a:endParaRPr lang="ko-KR" altLang="ko-KR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974E-15AE-B64E-FEC2-6F11CA4EC813}"/>
              </a:ext>
            </a:extLst>
          </p:cNvPr>
          <p:cNvSpPr txBox="1">
            <a:spLocks/>
          </p:cNvSpPr>
          <p:nvPr/>
        </p:nvSpPr>
        <p:spPr>
          <a:xfrm>
            <a:off x="838199" y="2218679"/>
            <a:ext cx="6264349" cy="44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3.1,</a:t>
            </a:r>
            <a:r>
              <a:rPr lang="ko-KR" altLang="en-US" sz="1800" dirty="0"/>
              <a:t> </a:t>
            </a:r>
            <a:r>
              <a:rPr lang="en-US" altLang="ko-KR" sz="1800" dirty="0"/>
              <a:t>3.2,</a:t>
            </a:r>
            <a:r>
              <a:rPr lang="ko-KR" altLang="en-US" sz="1800" dirty="0"/>
              <a:t> </a:t>
            </a:r>
            <a:r>
              <a:rPr lang="en-US" altLang="ko-KR" sz="1800" dirty="0"/>
              <a:t>3.3</a:t>
            </a:r>
            <a:r>
              <a:rPr lang="ko-KR" altLang="en-US" sz="1800" dirty="0"/>
              <a:t> 파트의 정당성 소개  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14191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C0F5-E32F-9ED1-89E7-643A3E4E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19E8-396E-DDFC-4ABC-E83DCDBA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67716" cy="1325563"/>
          </a:xfrm>
        </p:spPr>
        <p:txBody>
          <a:bodyPr/>
          <a:lstStyle/>
          <a:p>
            <a:r>
              <a:rPr lang="ko-KR" altLang="en-US" dirty="0"/>
              <a:t>프로젝트 목표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1E95A-1108-846D-E21C-86965D33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389" y="806450"/>
            <a:ext cx="6434471" cy="442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/>
              <a:t>다른 국가에 적용가능한 프레임워크 개발</a:t>
            </a:r>
            <a:endParaRPr lang="ko-KR" altLang="ko-K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7B8BAE-80AC-4F5E-E69C-BCD4624245DF}"/>
              </a:ext>
            </a:extLst>
          </p:cNvPr>
          <p:cNvSpPr txBox="1">
            <a:spLocks/>
          </p:cNvSpPr>
          <p:nvPr/>
        </p:nvSpPr>
        <p:spPr>
          <a:xfrm>
            <a:off x="838199" y="1555898"/>
            <a:ext cx="4116573" cy="442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개별 방법론의 정당성</a:t>
            </a:r>
            <a:endParaRPr lang="ko-KR" altLang="ko-KR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AA6438-10BC-E7D1-F70E-7EDB676E17F9}"/>
              </a:ext>
            </a:extLst>
          </p:cNvPr>
          <p:cNvSpPr txBox="1">
            <a:spLocks/>
          </p:cNvSpPr>
          <p:nvPr/>
        </p:nvSpPr>
        <p:spPr>
          <a:xfrm>
            <a:off x="838199" y="2218679"/>
            <a:ext cx="6264349" cy="44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3.1,</a:t>
            </a:r>
            <a:r>
              <a:rPr lang="ko-KR" altLang="en-US" sz="1800" dirty="0"/>
              <a:t> </a:t>
            </a:r>
            <a:r>
              <a:rPr lang="en-US" altLang="ko-KR" sz="1800" dirty="0"/>
              <a:t>3.2,</a:t>
            </a:r>
            <a:r>
              <a:rPr lang="ko-KR" altLang="en-US" sz="1800" dirty="0"/>
              <a:t> </a:t>
            </a:r>
            <a:r>
              <a:rPr lang="en-US" altLang="ko-KR" sz="1800" dirty="0"/>
              <a:t>3.3</a:t>
            </a:r>
            <a:r>
              <a:rPr lang="ko-KR" altLang="en-US" sz="1800" dirty="0"/>
              <a:t> 파트의 정당성 소개  </a:t>
            </a:r>
            <a:endParaRPr lang="ko-KR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5053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9635-36E4-B118-D242-7C0B140A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꺾인 연결선[E] 59">
            <a:extLst>
              <a:ext uri="{FF2B5EF4-FFF2-40B4-BE49-F238E27FC236}">
                <a16:creationId xmlns:a16="http://schemas.microsoft.com/office/drawing/2014/main" id="{D52762E5-EDF7-8A68-C367-B2710D24F7F2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6238756" y="2456402"/>
            <a:ext cx="2275546" cy="1059373"/>
          </a:xfrm>
          <a:prstGeom prst="bentConnector3">
            <a:avLst>
              <a:gd name="adj1" fmla="val 1814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1EB2A06-2236-8F9D-C4E9-9BF0F83068C6}"/>
              </a:ext>
            </a:extLst>
          </p:cNvPr>
          <p:cNvSpPr/>
          <p:nvPr/>
        </p:nvSpPr>
        <p:spPr>
          <a:xfrm>
            <a:off x="641192" y="791739"/>
            <a:ext cx="2787805" cy="40590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9B919C-5E92-D6D8-FA3E-7B4296660080}"/>
              </a:ext>
            </a:extLst>
          </p:cNvPr>
          <p:cNvSpPr/>
          <p:nvPr/>
        </p:nvSpPr>
        <p:spPr>
          <a:xfrm>
            <a:off x="892095" y="1325602"/>
            <a:ext cx="2286000" cy="60774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측정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1D7F44-AB0F-9A26-8C3F-ABC545364B38}"/>
              </a:ext>
            </a:extLst>
          </p:cNvPr>
          <p:cNvSpPr/>
          <p:nvPr/>
        </p:nvSpPr>
        <p:spPr>
          <a:xfrm>
            <a:off x="892095" y="2617751"/>
            <a:ext cx="2286000" cy="60774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통계적 패턴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55A112-18B7-A063-E1A7-5075C69468A5}"/>
              </a:ext>
            </a:extLst>
          </p:cNvPr>
          <p:cNvSpPr/>
          <p:nvPr/>
        </p:nvSpPr>
        <p:spPr>
          <a:xfrm>
            <a:off x="892096" y="3986563"/>
            <a:ext cx="2286000" cy="60774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인과 메커니즘 추론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3797C6-5349-25A5-455E-CF6E09D74BB2}"/>
              </a:ext>
            </a:extLst>
          </p:cNvPr>
          <p:cNvSpPr/>
          <p:nvPr/>
        </p:nvSpPr>
        <p:spPr>
          <a:xfrm>
            <a:off x="3585115" y="1001870"/>
            <a:ext cx="977584" cy="2787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/>
              <a:t>Stage 1</a:t>
            </a:r>
            <a:endParaRPr kumimoji="1" lang="ko-KR" altLang="en-US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0693B3-DCF6-3DF7-B374-FFADF8115911}"/>
              </a:ext>
            </a:extLst>
          </p:cNvPr>
          <p:cNvSpPr/>
          <p:nvPr/>
        </p:nvSpPr>
        <p:spPr>
          <a:xfrm>
            <a:off x="735976" y="591017"/>
            <a:ext cx="2598236" cy="40144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분석의 메타이론 설정</a:t>
            </a:r>
            <a:endParaRPr kumimoji="1" lang="ko-KR" alt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0819F88E-CA61-F6EB-C884-B256E1A6A2D1}"/>
              </a:ext>
            </a:extLst>
          </p:cNvPr>
          <p:cNvSpPr/>
          <p:nvPr/>
        </p:nvSpPr>
        <p:spPr>
          <a:xfrm>
            <a:off x="3585115" y="1400868"/>
            <a:ext cx="1367886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UMC</a:t>
            </a:r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개념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7BAA8463-FEDD-F098-B9EA-0858C9975707}"/>
              </a:ext>
            </a:extLst>
          </p:cNvPr>
          <p:cNvSpPr/>
          <p:nvPr/>
        </p:nvSpPr>
        <p:spPr>
          <a:xfrm>
            <a:off x="5408340" y="1386933"/>
            <a:ext cx="1304695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조작화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D0EA479-F8AF-6A5F-621E-DBF4D4A59975}"/>
              </a:ext>
            </a:extLst>
          </p:cNvPr>
          <p:cNvSpPr/>
          <p:nvPr/>
        </p:nvSpPr>
        <p:spPr>
          <a:xfrm>
            <a:off x="7253867" y="1386933"/>
            <a:ext cx="1304695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지역 단위 측정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0B7F95-AB34-99B9-575C-12FEA130146A}"/>
              </a:ext>
            </a:extLst>
          </p:cNvPr>
          <p:cNvSpPr/>
          <p:nvPr/>
        </p:nvSpPr>
        <p:spPr>
          <a:xfrm>
            <a:off x="3585115" y="2320155"/>
            <a:ext cx="977584" cy="2787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/>
              <a:t>Stage 2</a:t>
            </a:r>
            <a:endParaRPr kumimoji="1" lang="ko-KR" altLang="en-US" sz="1600" dirty="0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054EF297-0798-9019-D59F-93B6DBC0D915}"/>
              </a:ext>
            </a:extLst>
          </p:cNvPr>
          <p:cNvSpPr/>
          <p:nvPr/>
        </p:nvSpPr>
        <p:spPr>
          <a:xfrm>
            <a:off x="3585115" y="2699990"/>
            <a:ext cx="1304695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개인 변수 구성</a:t>
            </a:r>
          </a:p>
        </p:txBody>
      </p:sp>
      <p:sp>
        <p:nvSpPr>
          <p:cNvPr id="27" name="오른쪽 화살표[R] 26">
            <a:extLst>
              <a:ext uri="{FF2B5EF4-FFF2-40B4-BE49-F238E27FC236}">
                <a16:creationId xmlns:a16="http://schemas.microsoft.com/office/drawing/2014/main" id="{E6105C98-4956-69F6-BBB5-98D7106B21A3}"/>
              </a:ext>
            </a:extLst>
          </p:cNvPr>
          <p:cNvSpPr/>
          <p:nvPr/>
        </p:nvSpPr>
        <p:spPr>
          <a:xfrm>
            <a:off x="5040348" y="1510293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E50CF1C2-277B-6A16-30FB-C2C108D8953D}"/>
              </a:ext>
            </a:extLst>
          </p:cNvPr>
          <p:cNvSpPr/>
          <p:nvPr/>
        </p:nvSpPr>
        <p:spPr>
          <a:xfrm>
            <a:off x="6799455" y="1510293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289A23C-DE2A-6C53-03C5-49454BA50445}"/>
              </a:ext>
            </a:extLst>
          </p:cNvPr>
          <p:cNvSpPr/>
          <p:nvPr/>
        </p:nvSpPr>
        <p:spPr>
          <a:xfrm>
            <a:off x="4965081" y="577046"/>
            <a:ext cx="2598236" cy="28441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분석 방법론</a:t>
            </a:r>
            <a:endParaRPr kumimoji="1" lang="ko-KR" altLang="en-US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9A27B5F-A654-8AD3-E75B-8F0AD469A7AA}"/>
              </a:ext>
            </a:extLst>
          </p:cNvPr>
          <p:cNvSpPr/>
          <p:nvPr/>
        </p:nvSpPr>
        <p:spPr>
          <a:xfrm>
            <a:off x="5408340" y="2686748"/>
            <a:ext cx="1304695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지역 변수 구성</a:t>
            </a:r>
          </a:p>
        </p:txBody>
      </p:sp>
      <p:sp>
        <p:nvSpPr>
          <p:cNvPr id="32" name="오른쪽 화살표[R] 31">
            <a:extLst>
              <a:ext uri="{FF2B5EF4-FFF2-40B4-BE49-F238E27FC236}">
                <a16:creationId xmlns:a16="http://schemas.microsoft.com/office/drawing/2014/main" id="{1C2059E8-F353-F137-3FA9-E20087A25174}"/>
              </a:ext>
            </a:extLst>
          </p:cNvPr>
          <p:cNvSpPr/>
          <p:nvPr/>
        </p:nvSpPr>
        <p:spPr>
          <a:xfrm>
            <a:off x="5006896" y="2823350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6" name="꺾인 연결선[E] 35">
            <a:extLst>
              <a:ext uri="{FF2B5EF4-FFF2-40B4-BE49-F238E27FC236}">
                <a16:creationId xmlns:a16="http://schemas.microsoft.com/office/drawing/2014/main" id="{B1F82C75-D7D9-70FF-ACAE-76B4D1424AC3}"/>
              </a:ext>
            </a:extLst>
          </p:cNvPr>
          <p:cNvCxnSpPr>
            <a:cxnSpLocks/>
            <a:stCxn id="19" idx="2"/>
            <a:endCxn id="31" idx="0"/>
          </p:cNvCxnSpPr>
          <p:nvPr/>
        </p:nvCxnSpPr>
        <p:spPr>
          <a:xfrm rot="5400000">
            <a:off x="6564236" y="1344768"/>
            <a:ext cx="838433" cy="18455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3E97F921-3330-6F69-0025-5AB7554B7098}"/>
              </a:ext>
            </a:extLst>
          </p:cNvPr>
          <p:cNvSpPr/>
          <p:nvPr/>
        </p:nvSpPr>
        <p:spPr>
          <a:xfrm>
            <a:off x="7253867" y="2699989"/>
            <a:ext cx="1304695" cy="461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디지털 연결성 회귀 기반 분석</a:t>
            </a:r>
          </a:p>
        </p:txBody>
      </p:sp>
      <p:sp>
        <p:nvSpPr>
          <p:cNvPr id="39" name="오른쪽 화살표[R] 38">
            <a:extLst>
              <a:ext uri="{FF2B5EF4-FFF2-40B4-BE49-F238E27FC236}">
                <a16:creationId xmlns:a16="http://schemas.microsoft.com/office/drawing/2014/main" id="{8C031CE9-58EA-B4C3-5840-32680D02480D}"/>
              </a:ext>
            </a:extLst>
          </p:cNvPr>
          <p:cNvSpPr/>
          <p:nvPr/>
        </p:nvSpPr>
        <p:spPr>
          <a:xfrm>
            <a:off x="6832910" y="2808017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833DF7-7BB8-6382-F00E-EDD7CE145BD6}"/>
              </a:ext>
            </a:extLst>
          </p:cNvPr>
          <p:cNvSpPr/>
          <p:nvPr/>
        </p:nvSpPr>
        <p:spPr>
          <a:xfrm>
            <a:off x="3593482" y="3720338"/>
            <a:ext cx="977584" cy="2787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/>
              <a:t>Stage 3</a:t>
            </a:r>
            <a:endParaRPr kumimoji="1" lang="ko-KR" altLang="en-US" sz="1600" dirty="0"/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3CAC556-85AC-B12C-9C09-F5CD074C79A2}"/>
              </a:ext>
            </a:extLst>
          </p:cNvPr>
          <p:cNvSpPr/>
          <p:nvPr/>
        </p:nvSpPr>
        <p:spPr>
          <a:xfrm>
            <a:off x="3572105" y="4128106"/>
            <a:ext cx="1700564" cy="571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에이전트 기반 지역 생활 게시글 분류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3C9F0965-6083-749E-D05D-E37A1EBEA1C2}"/>
              </a:ext>
            </a:extLst>
          </p:cNvPr>
          <p:cNvSpPr/>
          <p:nvPr/>
        </p:nvSpPr>
        <p:spPr>
          <a:xfrm>
            <a:off x="5862753" y="4123863"/>
            <a:ext cx="1700564" cy="571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분류된 게시글로 베이지안 우도 추정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F64959C4-145C-51C2-013F-F9BD5FD15661}"/>
              </a:ext>
            </a:extLst>
          </p:cNvPr>
          <p:cNvSpPr/>
          <p:nvPr/>
        </p:nvSpPr>
        <p:spPr>
          <a:xfrm>
            <a:off x="8153401" y="4128106"/>
            <a:ext cx="1700564" cy="571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해당 지역의 메커니즘 추론</a:t>
            </a:r>
          </a:p>
        </p:txBody>
      </p:sp>
      <p:sp>
        <p:nvSpPr>
          <p:cNvPr id="45" name="오른쪽 화살표[R] 44">
            <a:extLst>
              <a:ext uri="{FF2B5EF4-FFF2-40B4-BE49-F238E27FC236}">
                <a16:creationId xmlns:a16="http://schemas.microsoft.com/office/drawing/2014/main" id="{9AB4EEEF-896C-EB5C-DD10-90C6F19868BC}"/>
              </a:ext>
            </a:extLst>
          </p:cNvPr>
          <p:cNvSpPr/>
          <p:nvPr/>
        </p:nvSpPr>
        <p:spPr>
          <a:xfrm>
            <a:off x="5415777" y="4302283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오른쪽 화살표[R] 45">
            <a:extLst>
              <a:ext uri="{FF2B5EF4-FFF2-40B4-BE49-F238E27FC236}">
                <a16:creationId xmlns:a16="http://schemas.microsoft.com/office/drawing/2014/main" id="{1C28CC15-AC16-61F7-5309-B9976126F8D6}"/>
              </a:ext>
            </a:extLst>
          </p:cNvPr>
          <p:cNvSpPr/>
          <p:nvPr/>
        </p:nvSpPr>
        <p:spPr>
          <a:xfrm>
            <a:off x="7706425" y="4290434"/>
            <a:ext cx="301083" cy="2146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9" name="꺾인 연결선[E] 58">
            <a:extLst>
              <a:ext uri="{FF2B5EF4-FFF2-40B4-BE49-F238E27FC236}">
                <a16:creationId xmlns:a16="http://schemas.microsoft.com/office/drawing/2014/main" id="{28EEABF4-DF30-BB22-A9A2-2C2C80D074E2}"/>
              </a:ext>
            </a:extLst>
          </p:cNvPr>
          <p:cNvCxnSpPr>
            <a:stCxn id="38" idx="2"/>
            <a:endCxn id="44" idx="0"/>
          </p:cNvCxnSpPr>
          <p:nvPr/>
        </p:nvCxnSpPr>
        <p:spPr>
          <a:xfrm rot="16200000" flipH="1">
            <a:off x="7971582" y="3096004"/>
            <a:ext cx="966735" cy="10974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59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3CC4-1244-8BA5-C5A8-E1092663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 sources used</a:t>
            </a:r>
            <a:endParaRPr lang="en-GB" sz="40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8076A54-B62F-DA14-412A-3705B1FB8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780857"/>
              </p:ext>
            </p:extLst>
          </p:nvPr>
        </p:nvGraphicFramePr>
        <p:xfrm>
          <a:off x="838200" y="1435783"/>
          <a:ext cx="10515603" cy="411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99">
                  <a:extLst>
                    <a:ext uri="{9D8B030D-6E8A-4147-A177-3AD203B41FA5}">
                      <a16:colId xmlns:a16="http://schemas.microsoft.com/office/drawing/2014/main" val="2228135903"/>
                    </a:ext>
                  </a:extLst>
                </a:gridCol>
                <a:gridCol w="1661374">
                  <a:extLst>
                    <a:ext uri="{9D8B030D-6E8A-4147-A177-3AD203B41FA5}">
                      <a16:colId xmlns:a16="http://schemas.microsoft.com/office/drawing/2014/main" val="547783810"/>
                    </a:ext>
                  </a:extLst>
                </a:gridCol>
                <a:gridCol w="1610014">
                  <a:extLst>
                    <a:ext uri="{9D8B030D-6E8A-4147-A177-3AD203B41FA5}">
                      <a16:colId xmlns:a16="http://schemas.microsoft.com/office/drawing/2014/main" val="3911681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818904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496811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0549540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82144471"/>
                    </a:ext>
                  </a:extLst>
                </a:gridCol>
              </a:tblGrid>
              <a:tr h="1526358">
                <a:tc>
                  <a:txBody>
                    <a:bodyPr/>
                    <a:lstStyle/>
                    <a:p>
                      <a:r>
                        <a:rPr lang="en-US" sz="1600" dirty="0"/>
                        <a:t>Dataset 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Source (organization  /provider)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Link (URL)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Coverage (geographic detail and time)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variables (max. 5)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Format (CSV, JSON, XLS, SQL, etc.)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 method (download, API call, scraping, etc.)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78451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413656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603445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8592"/>
                  </a:ext>
                </a:extLst>
              </a:tr>
              <a:tr h="645973"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905291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C39EAB1-0715-3C48-4C4B-73182FBEF3D4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5" name="Picture 2" descr="Funded by the EU">
              <a:extLst>
                <a:ext uri="{FF2B5EF4-FFF2-40B4-BE49-F238E27FC236}">
                  <a16:creationId xmlns:a16="http://schemas.microsoft.com/office/drawing/2014/main" id="{62058C11-6263-A573-E78B-A3138EC4A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1260" y="6239757"/>
              <a:ext cx="1875561" cy="393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Global Gateway">
              <a:extLst>
                <a:ext uri="{FF2B5EF4-FFF2-40B4-BE49-F238E27FC236}">
                  <a16:creationId xmlns:a16="http://schemas.microsoft.com/office/drawing/2014/main" id="{CD948AEB-B9ED-B697-816F-1D1922161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1600" y="5978025"/>
              <a:ext cx="1249660" cy="7464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9">
            <a:extLst>
              <a:ext uri="{FF2B5EF4-FFF2-40B4-BE49-F238E27FC236}">
                <a16:creationId xmlns:a16="http://schemas.microsoft.com/office/drawing/2014/main" id="{60419E1A-9929-18F7-64B4-F0E3BC192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984" y="6046838"/>
            <a:ext cx="745015" cy="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5FFF-03A7-F6DE-722C-AF78FB07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next slides, please describe your data processing (ETL) system: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64B8-A7DA-B4FF-1B75-6D621166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data cleaning methods</a:t>
            </a:r>
          </a:p>
          <a:p>
            <a:r>
              <a:rPr lang="en-US" i="1" dirty="0"/>
              <a:t>How are you handling missing (non-existent) data?</a:t>
            </a:r>
          </a:p>
          <a:p>
            <a:r>
              <a:rPr lang="en-US" i="1" dirty="0"/>
              <a:t>Where are you storing the data?</a:t>
            </a:r>
          </a:p>
          <a:p>
            <a:r>
              <a:rPr lang="en-US" i="1" dirty="0"/>
              <a:t>Provide a diagram describing the ETL process</a:t>
            </a:r>
          </a:p>
          <a:p>
            <a:endParaRPr lang="en-US" dirty="0"/>
          </a:p>
          <a:p>
            <a:r>
              <a:rPr lang="en-US" b="1" dirty="0"/>
              <a:t>NOTE: </a:t>
            </a:r>
            <a:r>
              <a:rPr lang="en-US" dirty="0"/>
              <a:t>You will be asked for the final deliverable to submit the code to access, process and store the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401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4E0A-AB37-A7B9-D97F-D0FFE943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</a:t>
            </a:r>
            <a:r>
              <a:rPr lang="en-US" dirty="0">
                <a:solidFill>
                  <a:srgbClr val="FF0000"/>
                </a:solidFill>
              </a:rPr>
              <a:t>(maximum 3 slides)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42363-9CE2-766F-5986-92D0B6DF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Describe the processes to access and store the data, clean and process the data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095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0EC8-1702-1B6D-641D-2CC81663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6037"/>
          </a:xfrm>
        </p:spPr>
        <p:txBody>
          <a:bodyPr>
            <a:normAutofit fontScale="90000"/>
          </a:bodyPr>
          <a:lstStyle/>
          <a:p>
            <a:r>
              <a:rPr lang="en-US" dirty="0"/>
              <a:t>ETL diagram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374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DB88-5AD3-013C-1397-EA492750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6002-52CB-46F8-2E0C-EE35BA877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59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B89F-63F7-D90F-3EAB-EA87CA7D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D9A6-2EC0-5798-4A77-D79EB07B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Add maps, charts and other results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54475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CC8D-F8B6-2E38-C404-D9A20A63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13D5-F1AD-46F7-F762-96778B99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D003-1CB7-05D5-AF39-C1512F64A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Elaborate 3-4 policy recommendations based on the results of your data analysis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50017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338E4BF82AF64C8975C65DD52FAE3E" ma:contentTypeVersion="18" ma:contentTypeDescription="Create a new document." ma:contentTypeScope="" ma:versionID="fc73ce6dcade57ad1bbde466c49d4f43">
  <xsd:schema xmlns:xsd="http://www.w3.org/2001/XMLSchema" xmlns:xs="http://www.w3.org/2001/XMLSchema" xmlns:p="http://schemas.microsoft.com/office/2006/metadata/properties" xmlns:ns2="c90385a7-5e94-4852-9398-ec888c07ca90" xmlns:ns3="0f208774-d51b-4573-a67b-89dea6922a77" targetNamespace="http://schemas.microsoft.com/office/2006/metadata/properties" ma:root="true" ma:fieldsID="94321633c06b2be51f3ab838a5ed88d2" ns2:_="" ns3:_="">
    <xsd:import namespace="c90385a7-5e94-4852-9398-ec888c07ca90"/>
    <xsd:import namespace="0f208774-d51b-4573-a67b-89dea6922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385a7-5e94-4852-9398-ec888c07ca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208774-d51b-4573-a67b-89dea6922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6549f36-43cc-4bf4-80e3-1ee687645b69}" ma:internalName="TaxCatchAll" ma:showField="CatchAllData" ma:web="0f208774-d51b-4573-a67b-89dea6922a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208774-d51b-4573-a67b-89dea6922a77" xsi:nil="true"/>
    <lcf76f155ced4ddcb4097134ff3c332f xmlns="c90385a7-5e94-4852-9398-ec888c07ca9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03F9AF-D786-4FC8-BD61-7E032DFBA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385a7-5e94-4852-9398-ec888c07ca90"/>
    <ds:schemaRef ds:uri="0f208774-d51b-4573-a67b-89dea6922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7E2566-CD9F-4A7F-89DD-D58BCBEA3616}">
  <ds:schemaRefs>
    <ds:schemaRef ds:uri="http://schemas.microsoft.com/office/2006/metadata/properties"/>
    <ds:schemaRef ds:uri="http://schemas.microsoft.com/office/infopath/2007/PartnerControls"/>
    <ds:schemaRef ds:uri="0f208774-d51b-4573-a67b-89dea6922a77"/>
    <ds:schemaRef ds:uri="c90385a7-5e94-4852-9398-ec888c07ca90"/>
  </ds:schemaRefs>
</ds:datastoreItem>
</file>

<file path=customXml/itemProps3.xml><?xml version="1.0" encoding="utf-8"?>
<ds:datastoreItem xmlns:ds="http://schemas.openxmlformats.org/officeDocument/2006/customXml" ds:itemID="{BE3DA2C6-47C9-4E6B-A245-C75197ED84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339</Words>
  <Application>Microsoft Macintosh PowerPoint</Application>
  <PresentationFormat>와이드스크린</PresentationFormat>
  <Paragraphs>59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KoPubWorldDotum Bold</vt:lpstr>
      <vt:lpstr>KOPUBWORLDDOTUM MEDIUM</vt:lpstr>
      <vt:lpstr>KOPUBWORLDDOTUM MEDIUM</vt:lpstr>
      <vt:lpstr>Aptos</vt:lpstr>
      <vt:lpstr>Aptos Display</vt:lpstr>
      <vt:lpstr>Arial</vt:lpstr>
      <vt:lpstr>Office Theme</vt:lpstr>
      <vt:lpstr>Intermediate deliverable:  Problem description Data sources and processing Preliminary results</vt:lpstr>
      <vt:lpstr>Problem statement</vt:lpstr>
      <vt:lpstr>Problem statement</vt:lpstr>
      <vt:lpstr>Problem statement</vt:lpstr>
      <vt:lpstr>Goal of Project</vt:lpstr>
      <vt:lpstr>Goal of Project</vt:lpstr>
      <vt:lpstr>프로젝트 목표</vt:lpstr>
      <vt:lpstr>PowerPoint 프레젠테이션</vt:lpstr>
      <vt:lpstr>Data sources used</vt:lpstr>
      <vt:lpstr>In the next slides, please describe your data processing (ETL) system:</vt:lpstr>
      <vt:lpstr>Data processing (maximum 3 slides)</vt:lpstr>
      <vt:lpstr>ETL diagram</vt:lpstr>
      <vt:lpstr>PowerPoint 프레젠테이션</vt:lpstr>
      <vt:lpstr>Preliminary results</vt:lpstr>
      <vt:lpstr>Policy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Cervera-Ferri, José Luis</dc:creator>
  <cp:lastModifiedBy>우준빈</cp:lastModifiedBy>
  <cp:revision>55</cp:revision>
  <dcterms:created xsi:type="dcterms:W3CDTF">2026-03-30T15:28:03Z</dcterms:created>
  <dcterms:modified xsi:type="dcterms:W3CDTF">2026-06-14T03:16:49Z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0x010100B2338E4BF82AF64C8975C65DD52FAE3E</vt:lpwstr>
  </property>
  <property fmtid="{D5CDD505-2E9C-101B-9397-08002B2CF9AE}" pid="3" name="MediaServiceImageTags">
    <vt:lpwstr/>
  </property>
</Properties>
</file>