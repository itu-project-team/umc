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rts/chart1.xml" ContentType="application/vnd.openxmlformats-officedocument.drawingml.chart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9" r:id="rId9"/>
    <p:sldId id="270" r:id="rId10"/>
    <p:sldId id="271" r:id="rId11"/>
    <p:sldId id="265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90027"/>
    <a:srgbClr val="FE473C"/>
    <a:srgbClr val="2E869C"/>
    <a:srgbClr val="1F3864"/>
    <a:srgbClr val="696969"/>
    <a:srgbClr val="712A12"/>
    <a:srgbClr val="3C3389"/>
    <a:srgbClr val="065041"/>
    <a:srgbClr val="888888"/>
    <a:srgbClr val="8392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515"/>
    <p:restoredTop sz="94610"/>
  </p:normalViewPr>
  <p:slideViewPr>
    <p:cSldViewPr snapToGrid="0" snapToObjects="1">
      <p:cViewPr varScale="1">
        <p:scale>
          <a:sx n="108" d="100"/>
          <a:sy n="108" d="100"/>
        </p:scale>
        <p:origin x="960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____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posts (%)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14263D"/>
                    </a:solidFill>
                    <a:latin typeface="Calibri"/>
                  </a:defRPr>
                </a:pPr>
                <a:endParaRPr lang="ko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Sheet1!$A$2:$A$9</c:f>
              <c:strCache>
                <c:ptCount val="8"/>
                <c:pt idx="0">
                  <c:v>Safety gap</c:v>
                </c:pt>
                <c:pt idx="1">
                  <c:v>Affordability gap</c:v>
                </c:pt>
                <c:pt idx="2">
                  <c:v>Public access gap</c:v>
                </c:pt>
                <c:pt idx="3">
                  <c:v>Connectivity gap</c:v>
                </c:pt>
                <c:pt idx="4">
                  <c:v>Skills gap</c:v>
                </c:pt>
                <c:pt idx="5">
                  <c:v>Device access gap</c:v>
                </c:pt>
                <c:pt idx="6">
                  <c:v>Inst. pathway gap</c:v>
                </c:pt>
                <c:pt idx="7">
                  <c:v>Info absence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16</c:v>
                </c:pt>
                <c:pt idx="1">
                  <c:v>27</c:v>
                </c:pt>
                <c:pt idx="2">
                  <c:v>32</c:v>
                </c:pt>
                <c:pt idx="3">
                  <c:v>40</c:v>
                </c:pt>
                <c:pt idx="4">
                  <c:v>45</c:v>
                </c:pt>
                <c:pt idx="5">
                  <c:v>50</c:v>
                </c:pt>
                <c:pt idx="6">
                  <c:v>61</c:v>
                </c:pt>
                <c:pt idx="7">
                  <c:v>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5A9-6C47-96FC-2113954B42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35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33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7EB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B6B6B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356603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2.jpg"/><Relationship Id="rId4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  · 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Universal Meaningful Connectivity in a hyper-connected city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38415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i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— a hard case for testing UMC.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2011680"/>
            <a:ext cx="672949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Seoul ranks among the world's most connected cities by every conventional ITU benchmark — yet conventional </a:t>
            </a: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threshold-based UMC frameworks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cannot distinguish meaningful variation in a city where basic infrastructure is already saturated. </a:t>
            </a:r>
          </a:p>
          <a:p>
            <a:pPr marL="0" indent="0" algn="l">
              <a:spcAft>
                <a:spcPts val="600"/>
              </a:spcAft>
              <a:buNone/>
            </a:pPr>
            <a:endParaRPr lang="en-US" sz="800" dirty="0">
              <a:solidFill>
                <a:srgbClr val="333333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remaining gaps are </a:t>
            </a: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and human, not infrastructural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Seoul is therefore the natural setting for asking how UMC should be defined and measured beyond infrastructure.</a:t>
            </a:r>
            <a:endParaRPr lang="en-US" sz="14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1F4D4005-A8DC-53D6-3816-66A0D22925F7}"/>
              </a:ext>
            </a:extLst>
          </p:cNvPr>
          <p:cNvGrpSpPr/>
          <p:nvPr/>
        </p:nvGrpSpPr>
        <p:grpSpPr>
          <a:xfrm>
            <a:off x="7611759" y="1600200"/>
            <a:ext cx="3931920" cy="1691640"/>
            <a:chOff x="7772400" y="1600200"/>
            <a:chExt cx="3931920" cy="1691640"/>
          </a:xfrm>
        </p:grpSpPr>
        <p:sp>
          <p:nvSpPr>
            <p:cNvPr id="8" name="Text 6"/>
            <p:cNvSpPr/>
            <p:nvPr/>
          </p:nvSpPr>
          <p:spPr>
            <a:xfrm>
              <a:off x="7772400" y="16002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9.4M</a:t>
              </a:r>
              <a:endParaRPr lang="en-US" sz="3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7772400" y="21031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Population</a:t>
              </a:r>
              <a:endParaRPr lang="en-US" sz="1200" dirty="0"/>
            </a:p>
          </p:txBody>
        </p:sp>
        <p:sp>
          <p:nvSpPr>
            <p:cNvPr id="10" name="Text 8"/>
            <p:cNvSpPr/>
            <p:nvPr/>
          </p:nvSpPr>
          <p:spPr>
            <a:xfrm>
              <a:off x="9738360" y="16002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</a:t>
              </a:r>
              <a:endParaRPr lang="en-US" sz="3600" dirty="0"/>
            </a:p>
          </p:txBody>
        </p:sp>
        <p:sp>
          <p:nvSpPr>
            <p:cNvPr id="11" name="Text 9"/>
            <p:cNvSpPr/>
            <p:nvPr/>
          </p:nvSpPr>
          <p:spPr>
            <a:xfrm>
              <a:off x="9738360" y="21031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Autonomous districts</a:t>
              </a:r>
              <a:endParaRPr lang="en-US" sz="1200" dirty="0"/>
            </a:p>
          </p:txBody>
        </p:sp>
        <p:sp>
          <p:nvSpPr>
            <p:cNvPr id="12" name="Text 10"/>
            <p:cNvSpPr/>
            <p:nvPr/>
          </p:nvSpPr>
          <p:spPr>
            <a:xfrm>
              <a:off x="7772400" y="25146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99%+</a:t>
              </a:r>
              <a:endParaRPr lang="en-US" sz="3600" dirty="0"/>
            </a:p>
          </p:txBody>
        </p:sp>
        <p:sp>
          <p:nvSpPr>
            <p:cNvPr id="13" name="Text 11"/>
            <p:cNvSpPr/>
            <p:nvPr/>
          </p:nvSpPr>
          <p:spPr>
            <a:xfrm>
              <a:off x="7772400" y="30175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Broadband penetration</a:t>
              </a:r>
              <a:endParaRPr lang="en-US" sz="1200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9738360" y="2514600"/>
              <a:ext cx="19659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3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100%</a:t>
              </a:r>
              <a:endParaRPr lang="en-US" sz="3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9738360" y="3017520"/>
              <a:ext cx="19659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5G coverage</a:t>
              </a:r>
              <a:endParaRPr lang="en-US" sz="1200" dirty="0"/>
            </a:p>
          </p:txBody>
        </p:sp>
      </p:grpSp>
      <p:sp>
        <p:nvSpPr>
          <p:cNvPr id="16" name="Shape 14"/>
          <p:cNvSpPr/>
          <p:nvPr/>
        </p:nvSpPr>
        <p:spPr>
          <a:xfrm>
            <a:off x="548640" y="370332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5"/>
          <p:cNvSpPr/>
          <p:nvPr/>
        </p:nvSpPr>
        <p:spPr>
          <a:xfrm>
            <a:off x="548640" y="3886200"/>
            <a:ext cx="73152" cy="13258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31520" y="3886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 — MEASUREMENT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31520" y="4243311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400"/>
              </a:spcAft>
            </a:pP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UMC be measured in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high-connectivity urban contexts</a:t>
            </a: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where threshold-based frameworks may not capture meaningful variation?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217920" y="3886200"/>
            <a:ext cx="73152" cy="13258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400800" y="38862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Q2 — MECHANISM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00800" y="4255668"/>
            <a:ext cx="52120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certain groups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excluded</a:t>
            </a:r>
            <a:r>
              <a:rPr lang="en-US" sz="1600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from connectivity benefits, and what methodology can separate individual vulnerability from district context?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" y="5449824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UMC DIMENSIONS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5852160"/>
            <a:ext cx="164592" cy="164592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7724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392680" y="5852160"/>
            <a:ext cx="164592" cy="164592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262128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for Use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236720" y="5852160"/>
            <a:ext cx="164592" cy="164592"/>
          </a:xfrm>
          <a:prstGeom prst="ellipse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446532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Affordability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080760" y="5852160"/>
            <a:ext cx="164592" cy="164592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630936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7924800" y="5852160"/>
            <a:ext cx="164592" cy="164592"/>
          </a:xfrm>
          <a:prstGeom prst="ellipse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15340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Skills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9768840" y="5852160"/>
            <a:ext cx="164592" cy="164592"/>
          </a:xfrm>
          <a:prstGeom prst="ellipse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3"/>
          <p:cNvSpPr/>
          <p:nvPr/>
        </p:nvSpPr>
        <p:spPr>
          <a:xfrm>
            <a:off x="9997440" y="5806440"/>
            <a:ext cx="1569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8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9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40" name="Text 35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1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0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11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13</a:t>
            </a:r>
            <a:endParaRPr lang="en-US" sz="900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F65AB293-7434-C3E5-0714-619D39175FF4}"/>
              </a:ext>
            </a:extLst>
          </p:cNvPr>
          <p:cNvGrpSpPr/>
          <p:nvPr/>
        </p:nvGrpSpPr>
        <p:grpSpPr>
          <a:xfrm>
            <a:off x="377385" y="1024789"/>
            <a:ext cx="11098510" cy="5136262"/>
            <a:chOff x="463447" y="642556"/>
            <a:chExt cx="11098510" cy="5136262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63101AE6-25E6-26AD-A8D4-63829B81FD48}"/>
                </a:ext>
              </a:extLst>
            </p:cNvPr>
            <p:cNvGrpSpPr/>
            <p:nvPr/>
          </p:nvGrpSpPr>
          <p:grpSpPr>
            <a:xfrm>
              <a:off x="463447" y="642556"/>
              <a:ext cx="11098510" cy="3654678"/>
              <a:chOff x="463447" y="642556"/>
              <a:chExt cx="11098510" cy="3654678"/>
            </a:xfrm>
          </p:grpSpPr>
          <p:graphicFrame>
            <p:nvGraphicFramePr>
              <p:cNvPr id="18" name="Google Shape;99;p14">
                <a:extLst>
                  <a:ext uri="{FF2B5EF4-FFF2-40B4-BE49-F238E27FC236}">
                    <a16:creationId xmlns:a16="http://schemas.microsoft.com/office/drawing/2014/main" id="{18157015-2CA8-0F4C-32A7-B33F895A215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532633462"/>
                  </p:ext>
                </p:extLst>
              </p:nvPr>
            </p:nvGraphicFramePr>
            <p:xfrm>
              <a:off x="721643" y="959594"/>
              <a:ext cx="10840314" cy="3337640"/>
            </p:xfrm>
            <a:graphic>
              <a:graphicData uri="http://schemas.openxmlformats.org/drawingml/2006/table">
                <a:tbl>
                  <a:tblPr firstRow="1">
                    <a:noFill/>
                  </a:tblPr>
                  <a:tblGrid>
                    <a:gridCol w="1430115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94099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682248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128328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54442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804766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399420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250205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u="none" strike="noStrike" cap="none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Dataset name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Source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Link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Coverage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Key variables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Format 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Access method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1" dirty="0">
                              <a:solidFill>
                                <a:srgbClr val="1F3864"/>
                              </a:solidFill>
                              <a:latin typeface="Calibri"/>
                              <a:ea typeface="Arial"/>
                              <a:cs typeface="Calibri"/>
                              <a:sym typeface="Arial"/>
                            </a:rPr>
                            <a:t>Seoul Digital Competency Survey</a:t>
                          </a:r>
                          <a:endParaRPr lang="en-US" altLang="ko-KR"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AI Foundation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saif.or.kr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dataroom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/2564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lang="en-US" altLang="ko-KR" sz="800" dirty="0"/>
                        </a:p>
                        <a:p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 used</a:t>
                          </a:r>
                          <a:endParaRPr lang="en-US" altLang="ko-KR" sz="8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devices, skills, safety;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survey weights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7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CSV/XLSX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 provision upon official request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20825248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Cellular Base Station Data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Font typeface="Arial"/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Spectrum Resource </a:t>
                          </a: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Mgmt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System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spectrummap.kr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gis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mobile_service.do?menuNo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=300480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4G/5G cell-site locations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6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Public Open Data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NIA Communication Quality (CQ)</a:t>
                          </a:r>
                          <a:endParaRPr sz="10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Korean Public Data Portal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/data/15120591/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fileData.do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district-level download speed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4973706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Public Free Wi-Fi Installation Data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Local Admin </a:t>
                          </a: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WiFi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License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www.localdata.go.kr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lif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lifeCtacDataView.do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public Wi-Fi installation locations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Telecommunication Indicators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SKT Telecom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www.data.go.kr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/data/15127168/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fileData.do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#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mobile data use;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online service days;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fee delinquency rate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27402465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Average Monthly Household Income by District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Commercial Analysis Service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dataList</a:t>
                          </a: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/OA-22167/S/1/</a:t>
                          </a:r>
                          <a:r>
                            <a:rPr lang="en-US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datasetView.do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  <a:p>
                          <a:pPr marL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2023, 2024</a:t>
                          </a:r>
                          <a:endParaRPr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sz="900" dirty="0">
                              <a:solidFill>
                                <a:srgbClr val="111827"/>
                              </a:solidFill>
                            </a:rPr>
                            <a:t>average monthly household income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831482047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Seoul Survey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Open Data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000000"/>
                            </a:buClr>
                            <a:buSzTx/>
                            <a:buFont typeface="Arial"/>
                            <a:buNone/>
                            <a:tabLst/>
                            <a:defRPr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https://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dataList</a:t>
                          </a: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/OA-15564/F/1/</a:t>
                          </a:r>
                          <a:r>
                            <a:rPr lang="en-US" altLang="ko-KR" sz="8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datasetView.do</a:t>
                          </a:r>
                          <a:endParaRPr lang="en-US" altLang="ko-KR" sz="8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2023, 2024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digital service use;</a:t>
                          </a:r>
                        </a:p>
                        <a:p>
                          <a:pPr algn="l">
                            <a:buNone/>
                          </a:pPr>
                          <a:r>
                            <a:rPr lang="en-US" altLang="ko-KR" sz="900" dirty="0">
                              <a:solidFill>
                                <a:srgbClr val="111827"/>
                              </a:solidFill>
                            </a:rPr>
                            <a:t>demographics, income, housing, district/year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endParaRPr lang="en-US"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59920532"/>
                      </a:ext>
                    </a:extLst>
                  </a:tr>
                </a:tbl>
              </a:graphicData>
            </a:graphic>
          </p:graphicFrame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4955E34-79A2-0728-3FD1-45AD8DC8D7E1}"/>
                  </a:ext>
                </a:extLst>
              </p:cNvPr>
              <p:cNvSpPr txBox="1"/>
              <p:nvPr/>
            </p:nvSpPr>
            <p:spPr>
              <a:xfrm>
                <a:off x="463447" y="642556"/>
                <a:ext cx="20611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8600" lvl="0" indent="-50800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2800"/>
                  <a:buNone/>
                </a:pPr>
                <a:r>
                  <a:rPr lang="en-US" altLang="ko-KR" sz="1400" b="1" dirty="0"/>
                  <a:t>Analysis 1 &amp; 2</a:t>
                </a:r>
              </a:p>
            </p:txBody>
          </p:sp>
        </p:grpSp>
        <p:grpSp>
          <p:nvGrpSpPr>
            <p:cNvPr id="15" name="그룹 14">
              <a:extLst>
                <a:ext uri="{FF2B5EF4-FFF2-40B4-BE49-F238E27FC236}">
                  <a16:creationId xmlns:a16="http://schemas.microsoft.com/office/drawing/2014/main" id="{ACA42A35-6A9F-3923-B61F-1ABE184DC705}"/>
                </a:ext>
              </a:extLst>
            </p:cNvPr>
            <p:cNvGrpSpPr/>
            <p:nvPr/>
          </p:nvGrpSpPr>
          <p:grpSpPr>
            <a:xfrm>
              <a:off x="463450" y="4318750"/>
              <a:ext cx="11098507" cy="1460068"/>
              <a:chOff x="463447" y="4867062"/>
              <a:chExt cx="11098507" cy="1460068"/>
            </a:xfrm>
          </p:grpSpPr>
          <p:graphicFrame>
            <p:nvGraphicFramePr>
              <p:cNvPr id="16" name="Google Shape;99;p14">
                <a:extLst>
                  <a:ext uri="{FF2B5EF4-FFF2-40B4-BE49-F238E27FC236}">
                    <a16:creationId xmlns:a16="http://schemas.microsoft.com/office/drawing/2014/main" id="{E54B9AC3-A655-7EC1-6A40-53E2AB9B11E5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01257089"/>
                  </p:ext>
                </p:extLst>
              </p:nvPr>
            </p:nvGraphicFramePr>
            <p:xfrm>
              <a:off x="721642" y="5184100"/>
              <a:ext cx="10840312" cy="1143030"/>
            </p:xfrm>
            <a:graphic>
              <a:graphicData uri="http://schemas.openxmlformats.org/drawingml/2006/table">
                <a:tbl>
                  <a:tblPr firstRow="1">
                    <a:noFill/>
                  </a:tblPr>
                  <a:tblGrid>
                    <a:gridCol w="1741859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269403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  <a:gridCol w="1452282">
                      <a:extLst>
                        <a:ext uri="{9D8B030D-6E8A-4147-A177-3AD203B41FA5}">
                          <a16:colId xmlns:a16="http://schemas.microsoft.com/office/drawing/2014/main" val="20002"/>
                        </a:ext>
                      </a:extLst>
                    </a:gridCol>
                    <a:gridCol w="1731981">
                      <a:extLst>
                        <a:ext uri="{9D8B030D-6E8A-4147-A177-3AD203B41FA5}">
                          <a16:colId xmlns:a16="http://schemas.microsoft.com/office/drawing/2014/main" val="20003"/>
                        </a:ext>
                      </a:extLst>
                    </a:gridCol>
                    <a:gridCol w="2485017">
                      <a:extLst>
                        <a:ext uri="{9D8B030D-6E8A-4147-A177-3AD203B41FA5}">
                          <a16:colId xmlns:a16="http://schemas.microsoft.com/office/drawing/2014/main" val="20004"/>
                        </a:ext>
                      </a:extLst>
                    </a:gridCol>
                    <a:gridCol w="796065">
                      <a:extLst>
                        <a:ext uri="{9D8B030D-6E8A-4147-A177-3AD203B41FA5}">
                          <a16:colId xmlns:a16="http://schemas.microsoft.com/office/drawing/2014/main" val="20005"/>
                        </a:ext>
                      </a:extLst>
                    </a:gridCol>
                    <a:gridCol w="1363705">
                      <a:extLst>
                        <a:ext uri="{9D8B030D-6E8A-4147-A177-3AD203B41FA5}">
                          <a16:colId xmlns:a16="http://schemas.microsoft.com/office/drawing/2014/main" val="20006"/>
                        </a:ext>
                      </a:extLst>
                    </a:gridCol>
                  </a:tblGrid>
                  <a:tr h="24931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u="none" strike="noStrike" cap="none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Dataset name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Source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Link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Coverage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Key variables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Format 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200" b="1" dirty="0">
                              <a:solidFill>
                                <a:srgbClr val="FFFFFF"/>
                              </a:solidFill>
                              <a:latin typeface="Calibri"/>
                              <a:cs typeface="Calibri"/>
                            </a:rPr>
                            <a:t>Access method</a:t>
                          </a:r>
                          <a:endParaRPr sz="1200" b="1" dirty="0">
                            <a:solidFill>
                              <a:srgbClr val="FFFFFF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rgbClr val="1F386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1" dirty="0" err="1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Daangn</a:t>
                          </a:r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 Community Post</a:t>
                          </a:r>
                          <a:endParaRPr sz="1000" b="1" dirty="0">
                            <a:solidFill>
                              <a:srgbClr val="1F3864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 err="1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Daangn</a:t>
                          </a: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 Market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daangn.com/kr/community/s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 dong fields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2024-2026 crawl period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post text; gu/location;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createdAt; subject/category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rowSpan="2"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altLang="ko-KR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CSV/XLSX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Web Scraping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1000" b="1" dirty="0">
                              <a:solidFill>
                                <a:srgbClr val="1F3864"/>
                              </a:solidFill>
                              <a:latin typeface="Calibri"/>
                              <a:cs typeface="Calibri"/>
                            </a:rPr>
                            <a:t>Seoul Living/Floating Population</a:t>
                          </a:r>
                          <a:endParaRPr sz="1000"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10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Seoul Open Data</a:t>
                          </a:r>
                          <a:endParaRPr sz="10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data.seoul.go.kr</a:t>
                          </a:r>
                        </a:p>
                        <a:p>
                          <a:pPr marL="0" marR="0" lvl="0" indent="0" algn="l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OA-14991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Geographic: Seoul</a:t>
                          </a:r>
                        </a:p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Time: 2023-2026</a:t>
                          </a:r>
                        </a:p>
                        <a:p>
                          <a:pPr algn="l"/>
                          <a:r>
                            <a:rPr lang="en-US" sz="8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used as available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hourly/dong population;</a:t>
                          </a:r>
                        </a:p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daytime population;</a:t>
                          </a:r>
                        </a:p>
                        <a:p>
                          <a:pPr algn="l"/>
                          <a:r>
                            <a:rPr lang="en-US" sz="9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age shares; dong/district code</a:t>
                          </a: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 vMerge="1">
                      <a:txBody>
                        <a:bodyPr/>
                        <a:lstStyle/>
                        <a:p>
                          <a:endParaRPr dirty="0"/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lvl="0" indent="0" algn="ctr" rtl="0"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chemeClr val="dk1"/>
                            </a:buClr>
                            <a:buFont typeface="Arial"/>
                            <a:buNone/>
                          </a:pPr>
                          <a:r>
                            <a:rPr lang="en-US" sz="1100" b="0" dirty="0">
                              <a:solidFill>
                                <a:srgbClr val="1F1F2E"/>
                              </a:solidFill>
                              <a:latin typeface="Calibri"/>
                              <a:cs typeface="Calibri"/>
                            </a:rPr>
                            <a:t>Public Open Data</a:t>
                          </a:r>
                          <a:endParaRPr sz="1100" b="0" dirty="0">
                            <a:solidFill>
                              <a:srgbClr val="1F1F2E"/>
                            </a:solidFill>
                            <a:latin typeface="Calibri"/>
                            <a:cs typeface="Calibri"/>
                          </a:endParaRPr>
                        </a:p>
                      </a:txBody>
                      <a:tcPr marL="91450" marR="91450" marT="45725" marB="45725" anchor="ctr">
                        <a:solidFill>
                          <a:schemeClr val="bg1">
                            <a:lumMod val="95000"/>
                          </a:schemeClr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</a:tbl>
              </a:graphicData>
            </a:graphic>
          </p:graphicFrame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4F339FD-746D-555A-979A-D13669A0E1D1}"/>
                  </a:ext>
                </a:extLst>
              </p:cNvPr>
              <p:cNvSpPr txBox="1"/>
              <p:nvPr/>
            </p:nvSpPr>
            <p:spPr>
              <a:xfrm>
                <a:off x="463447" y="4867062"/>
                <a:ext cx="340000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28600" lvl="0" indent="-5080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 dirty="0"/>
                  <a:t>Analysis 3</a:t>
                </a:r>
                <a:endParaRPr sz="1400" b="1" dirty="0"/>
              </a:p>
            </p:txBody>
          </p:sp>
        </p:grp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</a:t>
            </a:r>
            <a:r>
              <a:rPr lang="en-US" altLang="ko-KR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UMC index construction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dimensions × 25 districts, equal-weighted composite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4069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METHODOLOGICAL CHOICES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54864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Text 6"/>
          <p:cNvSpPr/>
          <p:nvPr/>
        </p:nvSpPr>
        <p:spPr>
          <a:xfrm>
            <a:off x="73152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Daytime population as denominator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731520" y="4983480"/>
            <a:ext cx="3383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indicators use daytime (floating) population rather than registered residents — captures where people actually access digital services.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29768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9"/>
          <p:cNvSpPr/>
          <p:nvPr/>
        </p:nvSpPr>
        <p:spPr>
          <a:xfrm>
            <a:off x="448056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Reverse-coded burden indicators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4480560" y="4983480"/>
            <a:ext cx="324250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Telecom bill arrears rate is reverse-coded so higher values consistently mean better outcomes across all six dimensions.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8046720" y="4434840"/>
            <a:ext cx="73152" cy="178308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/>
          <p:nvPr/>
        </p:nvSpPr>
        <p:spPr>
          <a:xfrm>
            <a:off x="8229600" y="4434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Equal weights across dimensions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8229600" y="4983480"/>
            <a:ext cx="29382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UMC score uses equal weights across the six dimensions — no a</a:t>
            </a:r>
            <a:r>
              <a:rPr lang="ko-KR" alt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 prioritization, supporting reproducible cross-city application.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9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20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13</a:t>
            </a:r>
            <a:endParaRPr lang="en-US" sz="900" dirty="0"/>
          </a:p>
        </p:txBody>
      </p:sp>
      <p:grpSp>
        <p:nvGrpSpPr>
          <p:cNvPr id="72" name="그룹 71">
            <a:extLst>
              <a:ext uri="{FF2B5EF4-FFF2-40B4-BE49-F238E27FC236}">
                <a16:creationId xmlns:a16="http://schemas.microsoft.com/office/drawing/2014/main" id="{419248C5-B2EC-C97F-E909-45C3B7BC3AF1}"/>
              </a:ext>
            </a:extLst>
          </p:cNvPr>
          <p:cNvGrpSpPr/>
          <p:nvPr/>
        </p:nvGrpSpPr>
        <p:grpSpPr>
          <a:xfrm>
            <a:off x="548640" y="1595627"/>
            <a:ext cx="11064239" cy="2179015"/>
            <a:chOff x="548640" y="1595627"/>
            <a:chExt cx="11064239" cy="2179015"/>
          </a:xfrm>
        </p:grpSpPr>
        <p:sp>
          <p:nvSpPr>
            <p:cNvPr id="70" name="Shape 21">
              <a:extLst>
                <a:ext uri="{FF2B5EF4-FFF2-40B4-BE49-F238E27FC236}">
                  <a16:creationId xmlns:a16="http://schemas.microsoft.com/office/drawing/2014/main" id="{A6DCCA42-F239-50C5-236A-1884B5154BC1}"/>
                </a:ext>
              </a:extLst>
            </p:cNvPr>
            <p:cNvSpPr/>
            <p:nvPr/>
          </p:nvSpPr>
          <p:spPr>
            <a:xfrm>
              <a:off x="548642" y="1595627"/>
              <a:ext cx="3284618" cy="2179015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71" name="Shape 18">
              <a:extLst>
                <a:ext uri="{FF2B5EF4-FFF2-40B4-BE49-F238E27FC236}">
                  <a16:creationId xmlns:a16="http://schemas.microsoft.com/office/drawing/2014/main" id="{6CEEC5ED-2041-D3D9-A990-6C8E7AD1447D}"/>
                </a:ext>
              </a:extLst>
            </p:cNvPr>
            <p:cNvSpPr/>
            <p:nvPr/>
          </p:nvSpPr>
          <p:spPr>
            <a:xfrm>
              <a:off x="591238" y="2079559"/>
              <a:ext cx="3199427" cy="54149"/>
            </a:xfrm>
            <a:prstGeom prst="rect">
              <a:avLst/>
            </a:prstGeom>
            <a:solidFill>
              <a:srgbClr val="2E869B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8" name="Shape 21">
              <a:extLst>
                <a:ext uri="{FF2B5EF4-FFF2-40B4-BE49-F238E27FC236}">
                  <a16:creationId xmlns:a16="http://schemas.microsoft.com/office/drawing/2014/main" id="{CC3E87F5-A616-0D8E-2D15-ACB507C11188}"/>
                </a:ext>
              </a:extLst>
            </p:cNvPr>
            <p:cNvSpPr/>
            <p:nvPr/>
          </p:nvSpPr>
          <p:spPr>
            <a:xfrm>
              <a:off x="8326292" y="1595627"/>
              <a:ext cx="3284618" cy="2179015"/>
            </a:xfrm>
            <a:prstGeom prst="roundRect">
              <a:avLst>
                <a:gd name="adj" fmla="val 5882"/>
              </a:avLst>
            </a:prstGeom>
            <a:solidFill>
              <a:srgbClr val="FFFFFF"/>
            </a:solidFill>
            <a:ln w="19050">
              <a:solidFill>
                <a:srgbClr val="1F3864"/>
              </a:solidFill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69" name="Shape 18">
              <a:extLst>
                <a:ext uri="{FF2B5EF4-FFF2-40B4-BE49-F238E27FC236}">
                  <a16:creationId xmlns:a16="http://schemas.microsoft.com/office/drawing/2014/main" id="{2FC35824-2227-2279-6D8B-D20CC6E97F00}"/>
                </a:ext>
              </a:extLst>
            </p:cNvPr>
            <p:cNvSpPr/>
            <p:nvPr/>
          </p:nvSpPr>
          <p:spPr>
            <a:xfrm>
              <a:off x="8368888" y="2079559"/>
              <a:ext cx="3199427" cy="54149"/>
            </a:xfrm>
            <a:prstGeom prst="rect">
              <a:avLst/>
            </a:prstGeom>
            <a:solidFill>
              <a:srgbClr val="2E869B"/>
            </a:solidFill>
            <a:ln w="12700">
              <a:noFill/>
              <a:prstDash val="solid"/>
            </a:ln>
          </p:spPr>
          <p:txBody>
            <a:bodyPr/>
            <a:lstStyle/>
            <a:p>
              <a:endParaRPr lang="ko-KR" altLang="en-US"/>
            </a:p>
          </p:txBody>
        </p:sp>
        <p:grpSp>
          <p:nvGrpSpPr>
            <p:cNvPr id="67" name="그룹 66">
              <a:extLst>
                <a:ext uri="{FF2B5EF4-FFF2-40B4-BE49-F238E27FC236}">
                  <a16:creationId xmlns:a16="http://schemas.microsoft.com/office/drawing/2014/main" id="{34BD0F33-4EAB-95BF-E7A6-073D6F42364B}"/>
                </a:ext>
              </a:extLst>
            </p:cNvPr>
            <p:cNvGrpSpPr/>
            <p:nvPr/>
          </p:nvGrpSpPr>
          <p:grpSpPr>
            <a:xfrm>
              <a:off x="4438447" y="1595627"/>
              <a:ext cx="3284621" cy="2179015"/>
              <a:chOff x="4438447" y="1595627"/>
              <a:chExt cx="3284621" cy="2179015"/>
            </a:xfrm>
          </p:grpSpPr>
          <p:sp>
            <p:nvSpPr>
              <p:cNvPr id="66" name="Shape 21">
                <a:extLst>
                  <a:ext uri="{FF2B5EF4-FFF2-40B4-BE49-F238E27FC236}">
                    <a16:creationId xmlns:a16="http://schemas.microsoft.com/office/drawing/2014/main" id="{A5B78CF8-55E1-811A-0C79-E031EDD21F16}"/>
                  </a:ext>
                </a:extLst>
              </p:cNvPr>
              <p:cNvSpPr/>
              <p:nvPr/>
            </p:nvSpPr>
            <p:spPr>
              <a:xfrm>
                <a:off x="4438448" y="1595627"/>
                <a:ext cx="3284618" cy="2179015"/>
              </a:xfrm>
              <a:prstGeom prst="roundRect">
                <a:avLst>
                  <a:gd name="adj" fmla="val 5882"/>
                </a:avLst>
              </a:prstGeom>
              <a:solidFill>
                <a:srgbClr val="FFFFFF"/>
              </a:solidFill>
              <a:ln w="19050">
                <a:solidFill>
                  <a:srgbClr val="1F3864"/>
                </a:solidFill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grpSp>
            <p:nvGrpSpPr>
              <p:cNvPr id="45" name="그룹 44">
                <a:extLst>
                  <a:ext uri="{FF2B5EF4-FFF2-40B4-BE49-F238E27FC236}">
                    <a16:creationId xmlns:a16="http://schemas.microsoft.com/office/drawing/2014/main" id="{8DD6B479-8C84-6A4C-4655-44C416001DE7}"/>
                  </a:ext>
                </a:extLst>
              </p:cNvPr>
              <p:cNvGrpSpPr/>
              <p:nvPr/>
            </p:nvGrpSpPr>
            <p:grpSpPr>
              <a:xfrm>
                <a:off x="4438447" y="1763589"/>
                <a:ext cx="3284621" cy="1854498"/>
                <a:chOff x="4307304" y="1616082"/>
                <a:chExt cx="3284621" cy="1854498"/>
              </a:xfrm>
            </p:grpSpPr>
            <p:sp>
              <p:nvSpPr>
                <p:cNvPr id="30" name="Shape 18">
                  <a:extLst>
                    <a:ext uri="{FF2B5EF4-FFF2-40B4-BE49-F238E27FC236}">
                      <a16:creationId xmlns:a16="http://schemas.microsoft.com/office/drawing/2014/main" id="{658F0322-D301-ED2E-27A3-3B74A6F8D11A}"/>
                    </a:ext>
                  </a:extLst>
                </p:cNvPr>
                <p:cNvSpPr/>
                <p:nvPr/>
              </p:nvSpPr>
              <p:spPr>
                <a:xfrm>
                  <a:off x="4349901" y="1932052"/>
                  <a:ext cx="3199427" cy="54149"/>
                </a:xfrm>
                <a:prstGeom prst="rect">
                  <a:avLst/>
                </a:prstGeom>
                <a:solidFill>
                  <a:srgbClr val="2E869B"/>
                </a:solidFill>
                <a:ln w="12700">
                  <a:noFill/>
                  <a:prstDash val="solid"/>
                </a:ln>
              </p:spPr>
              <p:txBody>
                <a:bodyPr/>
                <a:lstStyle/>
                <a:p>
                  <a:endParaRPr lang="ko-KR" altLang="en-US"/>
                </a:p>
              </p:txBody>
            </p:sp>
            <p:sp>
              <p:nvSpPr>
                <p:cNvPr id="31" name="Text 19">
                  <a:extLst>
                    <a:ext uri="{FF2B5EF4-FFF2-40B4-BE49-F238E27FC236}">
                      <a16:creationId xmlns:a16="http://schemas.microsoft.com/office/drawing/2014/main" id="{5A392BA4-72CF-4C50-5A22-CBE842FE0446}"/>
                    </a:ext>
                  </a:extLst>
                </p:cNvPr>
                <p:cNvSpPr/>
                <p:nvPr/>
              </p:nvSpPr>
              <p:spPr>
                <a:xfrm>
                  <a:off x="4307305" y="1616082"/>
                  <a:ext cx="3284619" cy="217891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 marL="0" indent="0" algn="ctr">
                    <a:buNone/>
                  </a:pPr>
                  <a:r>
                    <a:rPr lang="en-US" sz="1400" b="1" kern="0" spc="200" dirty="0">
                      <a:solidFill>
                        <a:srgbClr val="028090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6 DIMENSIONS</a:t>
                  </a:r>
                  <a:endParaRPr lang="en-US" sz="1400" dirty="0"/>
                </a:p>
              </p:txBody>
            </p:sp>
            <p:sp>
              <p:nvSpPr>
                <p:cNvPr id="32" name="Text 20">
                  <a:extLst>
                    <a:ext uri="{FF2B5EF4-FFF2-40B4-BE49-F238E27FC236}">
                      <a16:creationId xmlns:a16="http://schemas.microsoft.com/office/drawing/2014/main" id="{E95D8348-ABD4-62F4-0E0C-26E86721677E}"/>
                    </a:ext>
                  </a:extLst>
                </p:cNvPr>
                <p:cNvSpPr/>
                <p:nvPr/>
              </p:nvSpPr>
              <p:spPr>
                <a:xfrm>
                  <a:off x="4307304" y="2383045"/>
                  <a:ext cx="3284621" cy="347472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2800" b="1" dirty="0">
                      <a:solidFill>
                        <a:srgbClr val="0D2B3E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Per-District Scores</a:t>
                  </a:r>
                  <a:endParaRPr lang="en-US" sz="2800" dirty="0"/>
                </a:p>
              </p:txBody>
            </p:sp>
            <p:sp>
              <p:nvSpPr>
                <p:cNvPr id="33" name="Text 21">
                  <a:extLst>
                    <a:ext uri="{FF2B5EF4-FFF2-40B4-BE49-F238E27FC236}">
                      <a16:creationId xmlns:a16="http://schemas.microsoft.com/office/drawing/2014/main" id="{C554F4D9-E487-B7CB-E9CC-7324133146C4}"/>
                    </a:ext>
                  </a:extLst>
                </p:cNvPr>
                <p:cNvSpPr/>
                <p:nvPr/>
              </p:nvSpPr>
              <p:spPr>
                <a:xfrm>
                  <a:off x="4307304" y="3150540"/>
                  <a:ext cx="3284620" cy="320040"/>
                </a:xfrm>
                <a:prstGeom prst="rect">
                  <a:avLst/>
                </a:prstGeom>
                <a:noFill/>
                <a:ln/>
              </p:spPr>
              <p:txBody>
                <a:bodyPr wrap="square" rtlCol="0" anchor="ctr"/>
                <a:lstStyle/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4A5568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Connectivity · AFU · Affordability</a:t>
                  </a:r>
                  <a:endParaRPr lang="en-US" sz="1400" dirty="0"/>
                </a:p>
                <a:p>
                  <a:pPr marL="0" indent="0" algn="ctr">
                    <a:buNone/>
                  </a:pPr>
                  <a:r>
                    <a:rPr lang="en-US" sz="1400" dirty="0">
                      <a:solidFill>
                        <a:srgbClr val="4A5568"/>
                      </a:solidFill>
                      <a:latin typeface="Calibri" pitchFamily="34" charset="0"/>
                      <a:ea typeface="Calibri" pitchFamily="34" charset="-122"/>
                      <a:cs typeface="Calibri" pitchFamily="34" charset="-120"/>
                    </a:rPr>
                    <a:t>Devices · Skills · Safety</a:t>
                  </a:r>
                  <a:endParaRPr lang="en-US" sz="1400" dirty="0"/>
                </a:p>
              </p:txBody>
            </p:sp>
          </p:grpSp>
        </p:grpSp>
        <p:grpSp>
          <p:nvGrpSpPr>
            <p:cNvPr id="46" name="그룹 45">
              <a:extLst>
                <a:ext uri="{FF2B5EF4-FFF2-40B4-BE49-F238E27FC236}">
                  <a16:creationId xmlns:a16="http://schemas.microsoft.com/office/drawing/2014/main" id="{86822212-DE9B-3DD3-27BC-9978D17D4BF7}"/>
                </a:ext>
              </a:extLst>
            </p:cNvPr>
            <p:cNvGrpSpPr/>
            <p:nvPr/>
          </p:nvGrpSpPr>
          <p:grpSpPr>
            <a:xfrm>
              <a:off x="548640" y="1763589"/>
              <a:ext cx="3284622" cy="1854498"/>
              <a:chOff x="4307305" y="1616082"/>
              <a:chExt cx="3284622" cy="1854498"/>
            </a:xfrm>
          </p:grpSpPr>
          <p:sp>
            <p:nvSpPr>
              <p:cNvPr id="48" name="Text 19">
                <a:extLst>
                  <a:ext uri="{FF2B5EF4-FFF2-40B4-BE49-F238E27FC236}">
                    <a16:creationId xmlns:a16="http://schemas.microsoft.com/office/drawing/2014/main" id="{C0B3BC0C-E364-273A-30A6-BA8107BB2DC3}"/>
                  </a:ext>
                </a:extLst>
              </p:cNvPr>
              <p:cNvSpPr/>
              <p:nvPr/>
            </p:nvSpPr>
            <p:spPr>
              <a:xfrm>
                <a:off x="4307305" y="1616082"/>
                <a:ext cx="3284619" cy="21789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ko-KR" sz="1400" b="1" kern="0" spc="200" dirty="0">
                    <a:solidFill>
                      <a:srgbClr val="02809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NORMALIZE</a:t>
                </a:r>
                <a:endParaRPr lang="en-US" sz="1400" dirty="0"/>
              </a:p>
            </p:txBody>
          </p:sp>
          <p:sp>
            <p:nvSpPr>
              <p:cNvPr id="49" name="Text 20">
                <a:extLst>
                  <a:ext uri="{FF2B5EF4-FFF2-40B4-BE49-F238E27FC236}">
                    <a16:creationId xmlns:a16="http://schemas.microsoft.com/office/drawing/2014/main" id="{F8669401-60B1-FB20-1F2C-CAEA000ECBA0}"/>
                  </a:ext>
                </a:extLst>
              </p:cNvPr>
              <p:cNvSpPr/>
              <p:nvPr/>
            </p:nvSpPr>
            <p:spPr>
              <a:xfrm>
                <a:off x="4307306" y="2383045"/>
                <a:ext cx="3284621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2800" b="1" dirty="0">
                    <a:solidFill>
                      <a:srgbClr val="0D2B3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Min-Max Scale</a:t>
                </a:r>
                <a:endParaRPr lang="en-US" altLang="ko-KR" sz="2800" dirty="0"/>
              </a:p>
            </p:txBody>
          </p:sp>
          <p:sp>
            <p:nvSpPr>
              <p:cNvPr id="50" name="Text 21">
                <a:extLst>
                  <a:ext uri="{FF2B5EF4-FFF2-40B4-BE49-F238E27FC236}">
                    <a16:creationId xmlns:a16="http://schemas.microsoft.com/office/drawing/2014/main" id="{1135137A-E6FB-4744-C85A-5B9BA0E4FDE8}"/>
                  </a:ext>
                </a:extLst>
              </p:cNvPr>
              <p:cNvSpPr/>
              <p:nvPr/>
            </p:nvSpPr>
            <p:spPr>
              <a:xfrm>
                <a:off x="4307306" y="3150540"/>
                <a:ext cx="328462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0 — 1 across districts</a:t>
                </a:r>
                <a:endParaRPr lang="en-US" altLang="ko-KR" sz="1400" dirty="0"/>
              </a:p>
            </p:txBody>
          </p:sp>
        </p:grp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89E9B8EA-4668-428A-5170-0793F20A4582}"/>
                </a:ext>
              </a:extLst>
            </p:cNvPr>
            <p:cNvGrpSpPr/>
            <p:nvPr/>
          </p:nvGrpSpPr>
          <p:grpSpPr>
            <a:xfrm>
              <a:off x="8328257" y="1763589"/>
              <a:ext cx="3284622" cy="1854498"/>
              <a:chOff x="4307305" y="1616082"/>
              <a:chExt cx="3284622" cy="1854498"/>
            </a:xfrm>
          </p:grpSpPr>
          <p:sp>
            <p:nvSpPr>
              <p:cNvPr id="55" name="Text 19">
                <a:extLst>
                  <a:ext uri="{FF2B5EF4-FFF2-40B4-BE49-F238E27FC236}">
                    <a16:creationId xmlns:a16="http://schemas.microsoft.com/office/drawing/2014/main" id="{B3865397-34C0-9D92-E786-2E3E72B39246}"/>
                  </a:ext>
                </a:extLst>
              </p:cNvPr>
              <p:cNvSpPr/>
              <p:nvPr/>
            </p:nvSpPr>
            <p:spPr>
              <a:xfrm>
                <a:off x="4307305" y="1616082"/>
                <a:ext cx="3284619" cy="217891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algn="ctr"/>
                <a:r>
                  <a:rPr lang="en-US" altLang="ko-KR" sz="1400" b="1" kern="0" spc="200" dirty="0">
                    <a:solidFill>
                      <a:srgbClr val="028090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COMPOSITE</a:t>
                </a:r>
                <a:endParaRPr lang="en-US" altLang="ko-KR" sz="1400" dirty="0"/>
              </a:p>
            </p:txBody>
          </p:sp>
          <p:sp>
            <p:nvSpPr>
              <p:cNvPr id="56" name="Text 20">
                <a:extLst>
                  <a:ext uri="{FF2B5EF4-FFF2-40B4-BE49-F238E27FC236}">
                    <a16:creationId xmlns:a16="http://schemas.microsoft.com/office/drawing/2014/main" id="{4CD42D3C-B831-4325-74A8-6D40346C6194}"/>
                  </a:ext>
                </a:extLst>
              </p:cNvPr>
              <p:cNvSpPr/>
              <p:nvPr/>
            </p:nvSpPr>
            <p:spPr>
              <a:xfrm>
                <a:off x="4307306" y="2383045"/>
                <a:ext cx="3284621" cy="34747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2800" b="1" dirty="0">
                    <a:solidFill>
                      <a:srgbClr val="0D2B3E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Equal-Weight Mean</a:t>
                </a:r>
                <a:endParaRPr lang="en-US" altLang="ko-KR" sz="2800" dirty="0"/>
              </a:p>
            </p:txBody>
          </p:sp>
          <p:sp>
            <p:nvSpPr>
              <p:cNvPr id="57" name="Text 21">
                <a:extLst>
                  <a:ext uri="{FF2B5EF4-FFF2-40B4-BE49-F238E27FC236}">
                    <a16:creationId xmlns:a16="http://schemas.microsoft.com/office/drawing/2014/main" id="{BBA0DD39-219A-1CA9-FAA3-4600CA774C75}"/>
                  </a:ext>
                </a:extLst>
              </p:cNvPr>
              <p:cNvSpPr/>
              <p:nvPr/>
            </p:nvSpPr>
            <p:spPr>
              <a:xfrm>
                <a:off x="4307306" y="3150540"/>
                <a:ext cx="3284620" cy="32004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algn="ctr"/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UMC score</a:t>
                </a:r>
                <a:r>
                  <a:rPr lang="en-US" altLang="ko-KR" sz="1400" dirty="0"/>
                  <a:t> </a:t>
                </a:r>
                <a:r>
                  <a:rPr lang="en-US" altLang="ko-KR" sz="1400" dirty="0">
                    <a:solidFill>
                      <a:srgbClr val="4A556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per district</a:t>
                </a:r>
                <a:endParaRPr lang="en-US" altLang="ko-KR" sz="1400" dirty="0"/>
              </a:p>
            </p:txBody>
          </p:sp>
        </p:grpSp>
        <p:sp>
          <p:nvSpPr>
            <p:cNvPr id="64" name="Text 20">
              <a:extLst>
                <a:ext uri="{FF2B5EF4-FFF2-40B4-BE49-F238E27FC236}">
                  <a16:creationId xmlns:a16="http://schemas.microsoft.com/office/drawing/2014/main" id="{B7C73476-0569-D5C5-A884-8E6B910ED14A}"/>
                </a:ext>
              </a:extLst>
            </p:cNvPr>
            <p:cNvSpPr/>
            <p:nvPr/>
          </p:nvSpPr>
          <p:spPr>
            <a:xfrm>
              <a:off x="4032504" y="2286000"/>
              <a:ext cx="164592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2000" dirty="0"/>
            </a:p>
          </p:txBody>
        </p:sp>
        <p:sp>
          <p:nvSpPr>
            <p:cNvPr id="65" name="Text 20">
              <a:extLst>
                <a:ext uri="{FF2B5EF4-FFF2-40B4-BE49-F238E27FC236}">
                  <a16:creationId xmlns:a16="http://schemas.microsoft.com/office/drawing/2014/main" id="{FD16E085-A0AC-0E5F-3FBF-E538AB1A431B}"/>
                </a:ext>
              </a:extLst>
            </p:cNvPr>
            <p:cNvSpPr/>
            <p:nvPr/>
          </p:nvSpPr>
          <p:spPr>
            <a:xfrm>
              <a:off x="7922091" y="2296515"/>
              <a:ext cx="164592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</a:t>
              </a:r>
              <a:endParaRPr lang="en-US" sz="2000" dirty="0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</a:t>
            </a:r>
            <a:r>
              <a:rPr lang="en-US" altLang="ko-KR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(HLM) &amp; Stage 3 (Platform text)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Multilevel modeling and Bayesian text-evidence integration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578684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 — HIERARCHICAL LINEAR MODEL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192024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Dependent variable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548640" y="2148840"/>
            <a:ext cx="5486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Digital-service usage score (0–80) summed from 8 items: finance, e-commerce, public services, communication, leisure, education, mobile payment.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99098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Level-1 predictors (individual)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10" name="Text 8"/>
          <p:cNvSpPr/>
          <p:nvPr/>
        </p:nvSpPr>
        <p:spPr>
          <a:xfrm>
            <a:off x="548640" y="3219582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· gender · education · income · occupation · housing type · disability · single-person household</a:t>
            </a:r>
            <a:r>
              <a:rPr lang="ko-KR" alt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" altLang="ko-KR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(following prior digital divide literature; van Dijk, 2020; Mossberger et al., 2006)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391883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Level-2 predictors (district)</a:t>
            </a:r>
            <a:endParaRPr lang="en-US" dirty="0">
              <a:solidFill>
                <a:srgbClr val="2E869C"/>
              </a:solidFill>
            </a:endParaRPr>
          </a:p>
        </p:txBody>
      </p:sp>
      <p:sp>
        <p:nvSpPr>
          <p:cNvPr id="12" name="Text 10"/>
          <p:cNvSpPr/>
          <p:nvPr/>
        </p:nvSpPr>
        <p:spPr>
          <a:xfrm>
            <a:off x="548640" y="4147434"/>
            <a:ext cx="5486400" cy="3742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· AFU · Affordability </a:t>
            </a:r>
            <a:r>
              <a:rPr lang="en-US" sz="14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Stage 1)</a:t>
            </a: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460230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100" dirty="0">
                <a:solidFill>
                  <a:srgbClr val="2E86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Sequential model estimation</a:t>
            </a:r>
            <a:endParaRPr lang="en-US" sz="2000" dirty="0">
              <a:solidFill>
                <a:srgbClr val="2E869C"/>
              </a:solidFill>
            </a:endParaRPr>
          </a:p>
        </p:txBody>
      </p:sp>
      <p:sp>
        <p:nvSpPr>
          <p:cNvPr id="14" name="Shape 12"/>
          <p:cNvSpPr/>
          <p:nvPr/>
        </p:nvSpPr>
        <p:spPr>
          <a:xfrm>
            <a:off x="54864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54864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77850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94310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194310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L1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17296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337560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333756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L2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67428" y="5017008"/>
            <a:ext cx="1645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744212" y="5017008"/>
            <a:ext cx="121158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4732020" y="5017008"/>
            <a:ext cx="12115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Inter.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63640" y="1600200"/>
            <a:ext cx="7315" cy="4572000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6446520" y="15786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 — PLATFORM TEXT ANALYSIS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0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1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13</a:t>
            </a:r>
            <a:endParaRPr lang="en-US" sz="9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DA07FBDD-1DD7-2BD2-C871-B8914DD0D38E}"/>
              </a:ext>
            </a:extLst>
          </p:cNvPr>
          <p:cNvGrpSpPr/>
          <p:nvPr/>
        </p:nvGrpSpPr>
        <p:grpSpPr>
          <a:xfrm>
            <a:off x="6892560" y="2220726"/>
            <a:ext cx="4320000" cy="3310152"/>
            <a:chOff x="6976224" y="2351778"/>
            <a:chExt cx="4320000" cy="3310152"/>
          </a:xfrm>
        </p:grpSpPr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F06C32EB-35E6-61F6-D09A-B7AAFEC80CE0}"/>
                </a:ext>
              </a:extLst>
            </p:cNvPr>
            <p:cNvGrpSpPr/>
            <p:nvPr/>
          </p:nvGrpSpPr>
          <p:grpSpPr>
            <a:xfrm>
              <a:off x="6976224" y="2351778"/>
              <a:ext cx="4320000" cy="3310152"/>
              <a:chOff x="6457000" y="2020818"/>
              <a:chExt cx="4320000" cy="3310152"/>
            </a:xfrm>
          </p:grpSpPr>
          <p:sp>
            <p:nvSpPr>
              <p:cNvPr id="33" name="Shape 21">
                <a:extLst>
                  <a:ext uri="{FF2B5EF4-FFF2-40B4-BE49-F238E27FC236}">
                    <a16:creationId xmlns:a16="http://schemas.microsoft.com/office/drawing/2014/main" id="{A6069FD9-263B-E752-D055-0D026E132E67}"/>
                  </a:ext>
                </a:extLst>
              </p:cNvPr>
              <p:cNvSpPr/>
              <p:nvPr/>
            </p:nvSpPr>
            <p:spPr>
              <a:xfrm>
                <a:off x="6457000" y="2020818"/>
                <a:ext cx="432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40557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4" name="Shape 21">
                <a:extLst>
                  <a:ext uri="{FF2B5EF4-FFF2-40B4-BE49-F238E27FC236}">
                    <a16:creationId xmlns:a16="http://schemas.microsoft.com/office/drawing/2014/main" id="{982623DF-F85E-36AD-9713-3519D62FBD5D}"/>
                  </a:ext>
                </a:extLst>
              </p:cNvPr>
              <p:cNvSpPr/>
              <p:nvPr/>
            </p:nvSpPr>
            <p:spPr>
              <a:xfrm>
                <a:off x="6817000" y="2890518"/>
                <a:ext cx="360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57698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5" name="Shape 21">
                <a:extLst>
                  <a:ext uri="{FF2B5EF4-FFF2-40B4-BE49-F238E27FC236}">
                    <a16:creationId xmlns:a16="http://schemas.microsoft.com/office/drawing/2014/main" id="{CE9300E4-0A78-0983-DDDF-6849C65B852E}"/>
                  </a:ext>
                </a:extLst>
              </p:cNvPr>
              <p:cNvSpPr/>
              <p:nvPr/>
            </p:nvSpPr>
            <p:spPr>
              <a:xfrm>
                <a:off x="7177000" y="3760218"/>
                <a:ext cx="288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6D7E9B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6" name="Shape 21">
                <a:extLst>
                  <a:ext uri="{FF2B5EF4-FFF2-40B4-BE49-F238E27FC236}">
                    <a16:creationId xmlns:a16="http://schemas.microsoft.com/office/drawing/2014/main" id="{14141206-5509-D460-75E1-3923AE324D86}"/>
                  </a:ext>
                </a:extLst>
              </p:cNvPr>
              <p:cNvSpPr/>
              <p:nvPr/>
            </p:nvSpPr>
            <p:spPr>
              <a:xfrm>
                <a:off x="7537000" y="4629918"/>
                <a:ext cx="2160000" cy="701052"/>
              </a:xfrm>
              <a:prstGeom prst="roundRect">
                <a:avLst>
                  <a:gd name="adj" fmla="val 5882"/>
                </a:avLst>
              </a:prstGeom>
              <a:solidFill>
                <a:srgbClr val="8392AA"/>
              </a:solidFill>
              <a:ln w="19050">
                <a:noFill/>
                <a:prstDash val="solid"/>
              </a:ln>
            </p:spPr>
            <p:txBody>
              <a:bodyPr/>
              <a:lstStyle/>
              <a:p>
                <a:endParaRPr lang="ko-KR" altLang="en-US"/>
              </a:p>
            </p:txBody>
          </p:sp>
          <p:sp>
            <p:nvSpPr>
              <p:cNvPr id="37" name="Text 20">
                <a:extLst>
                  <a:ext uri="{FF2B5EF4-FFF2-40B4-BE49-F238E27FC236}">
                    <a16:creationId xmlns:a16="http://schemas.microsoft.com/office/drawing/2014/main" id="{3F2AAD4C-2635-EAD9-AFC2-085F40513124}"/>
                  </a:ext>
                </a:extLst>
              </p:cNvPr>
              <p:cNvSpPr/>
              <p:nvPr/>
            </p:nvSpPr>
            <p:spPr>
              <a:xfrm rot="5400000">
                <a:off x="8534704" y="24175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  <p:sp>
            <p:nvSpPr>
              <p:cNvPr id="38" name="Text 20">
                <a:extLst>
                  <a:ext uri="{FF2B5EF4-FFF2-40B4-BE49-F238E27FC236}">
                    <a16:creationId xmlns:a16="http://schemas.microsoft.com/office/drawing/2014/main" id="{E8425895-F569-37A4-BC55-7E4509818F09}"/>
                  </a:ext>
                </a:extLst>
              </p:cNvPr>
              <p:cNvSpPr/>
              <p:nvPr/>
            </p:nvSpPr>
            <p:spPr>
              <a:xfrm rot="5400000">
                <a:off x="8534704" y="32872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  <p:sp>
            <p:nvSpPr>
              <p:cNvPr id="39" name="Text 20">
                <a:extLst>
                  <a:ext uri="{FF2B5EF4-FFF2-40B4-BE49-F238E27FC236}">
                    <a16:creationId xmlns:a16="http://schemas.microsoft.com/office/drawing/2014/main" id="{3361E906-79CA-0B0B-CB43-0F4B51C37A0A}"/>
                  </a:ext>
                </a:extLst>
              </p:cNvPr>
              <p:cNvSpPr/>
              <p:nvPr/>
            </p:nvSpPr>
            <p:spPr>
              <a:xfrm rot="5400000">
                <a:off x="8534704" y="4156974"/>
                <a:ext cx="164592" cy="7772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 anchor="ctr"/>
              <a:lstStyle/>
              <a:p>
                <a:pPr marL="0" indent="0" algn="ctr">
                  <a:buNone/>
                </a:pPr>
                <a:r>
                  <a:rPr lang="en-US" sz="1200" b="1" dirty="0">
                    <a:solidFill>
                      <a:srgbClr val="888888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→</a:t>
                </a:r>
                <a:endParaRPr lang="en-US" sz="1200" dirty="0">
                  <a:solidFill>
                    <a:srgbClr val="888888"/>
                  </a:solidFill>
                </a:endParaRPr>
              </a:p>
            </p:txBody>
          </p:sp>
        </p:grpSp>
        <p:sp>
          <p:nvSpPr>
            <p:cNvPr id="43" name="Text 5">
              <a:extLst>
                <a:ext uri="{FF2B5EF4-FFF2-40B4-BE49-F238E27FC236}">
                  <a16:creationId xmlns:a16="http://schemas.microsoft.com/office/drawing/2014/main" id="{CF5F1E93-C0AC-82F9-2FAB-16CF353FA264}"/>
                </a:ext>
              </a:extLst>
            </p:cNvPr>
            <p:cNvSpPr/>
            <p:nvPr/>
          </p:nvSpPr>
          <p:spPr>
            <a:xfrm>
              <a:off x="7309823" y="2453335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1,287,761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4" name="Text 5">
              <a:extLst>
                <a:ext uri="{FF2B5EF4-FFF2-40B4-BE49-F238E27FC236}">
                  <a16:creationId xmlns:a16="http://schemas.microsoft.com/office/drawing/2014/main" id="{27FEFECA-06C6-0B73-5998-967DC294DDA8}"/>
                </a:ext>
              </a:extLst>
            </p:cNvPr>
            <p:cNvSpPr/>
            <p:nvPr/>
          </p:nvSpPr>
          <p:spPr>
            <a:xfrm>
              <a:off x="7156224" y="2716365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 err="1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Danggeun</a:t>
              </a:r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community board · 25 districts </a:t>
              </a:r>
              <a:r>
                <a:rPr lang="en-US" altLang="ko-KR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· May 2024 – Mar 2026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5" name="Text 5">
              <a:extLst>
                <a:ext uri="{FF2B5EF4-FFF2-40B4-BE49-F238E27FC236}">
                  <a16:creationId xmlns:a16="http://schemas.microsoft.com/office/drawing/2014/main" id="{70ED5BAA-EA53-1AA0-041C-2DBE5C30115F}"/>
                </a:ext>
              </a:extLst>
            </p:cNvPr>
            <p:cNvSpPr/>
            <p:nvPr/>
          </p:nvSpPr>
          <p:spPr>
            <a:xfrm>
              <a:off x="7309823" y="3322444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480,972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6" name="Text 5">
              <a:extLst>
                <a:ext uri="{FF2B5EF4-FFF2-40B4-BE49-F238E27FC236}">
                  <a16:creationId xmlns:a16="http://schemas.microsoft.com/office/drawing/2014/main" id="{CFEEA0FC-1799-A409-FF4E-6793731D9408}"/>
                </a:ext>
              </a:extLst>
            </p:cNvPr>
            <p:cNvSpPr/>
            <p:nvPr/>
          </p:nvSpPr>
          <p:spPr>
            <a:xfrm>
              <a:off x="7156224" y="3585474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after removing inaccessible body text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7" name="Text 5">
              <a:extLst>
                <a:ext uri="{FF2B5EF4-FFF2-40B4-BE49-F238E27FC236}">
                  <a16:creationId xmlns:a16="http://schemas.microsoft.com/office/drawing/2014/main" id="{C6B7E284-9E13-3586-A7B3-57454F9FDF2B}"/>
                </a:ext>
              </a:extLst>
            </p:cNvPr>
            <p:cNvSpPr/>
            <p:nvPr/>
          </p:nvSpPr>
          <p:spPr>
            <a:xfrm>
              <a:off x="7309823" y="4180590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146,933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candidates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48" name="Text 5">
              <a:extLst>
                <a:ext uri="{FF2B5EF4-FFF2-40B4-BE49-F238E27FC236}">
                  <a16:creationId xmlns:a16="http://schemas.microsoft.com/office/drawing/2014/main" id="{477C07FE-ABC3-FF48-BD5D-DC3B30C075FF}"/>
                </a:ext>
              </a:extLst>
            </p:cNvPr>
            <p:cNvSpPr/>
            <p:nvPr/>
          </p:nvSpPr>
          <p:spPr>
            <a:xfrm>
              <a:off x="7156224" y="4443620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matched 6-dimension UMC keyword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49" name="Text 5">
              <a:extLst>
                <a:ext uri="{FF2B5EF4-FFF2-40B4-BE49-F238E27FC236}">
                  <a16:creationId xmlns:a16="http://schemas.microsoft.com/office/drawing/2014/main" id="{EB1D059C-DB22-7834-B2E5-E9B668E54944}"/>
                </a:ext>
              </a:extLst>
            </p:cNvPr>
            <p:cNvSpPr/>
            <p:nvPr/>
          </p:nvSpPr>
          <p:spPr>
            <a:xfrm>
              <a:off x="7309823" y="5052423"/>
              <a:ext cx="3652802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600" b="1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7,136 </a:t>
              </a:r>
              <a:r>
                <a:rPr lang="en-US" sz="1200" kern="0" spc="100" dirty="0">
                  <a:solidFill>
                    <a:schemeClr val="bg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relevant posts</a:t>
              </a:r>
              <a:endParaRPr lang="en-US" sz="1200" dirty="0">
                <a:solidFill>
                  <a:schemeClr val="bg1"/>
                </a:solidFill>
              </a:endParaRPr>
            </a:p>
          </p:txBody>
        </p:sp>
        <p:sp>
          <p:nvSpPr>
            <p:cNvPr id="50" name="Text 5">
              <a:extLst>
                <a:ext uri="{FF2B5EF4-FFF2-40B4-BE49-F238E27FC236}">
                  <a16:creationId xmlns:a16="http://schemas.microsoft.com/office/drawing/2014/main" id="{DD154307-3C24-9ABB-55C6-698DFFD5D437}"/>
                </a:ext>
              </a:extLst>
            </p:cNvPr>
            <p:cNvSpPr/>
            <p:nvPr/>
          </p:nvSpPr>
          <p:spPr>
            <a:xfrm>
              <a:off x="7156224" y="5315453"/>
              <a:ext cx="3960000" cy="289865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00" i="1" kern="0" spc="100" dirty="0">
                  <a:solidFill>
                    <a:schemeClr val="bg1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few-shot classification</a:t>
              </a:r>
              <a:endParaRPr lang="en-US" sz="900" i="1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  ·  ETL APPROACH  ·  4 / 4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Integrated ETL pipeline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421336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sequential stages with cross-stage feedback loop</a:t>
            </a:r>
            <a:endParaRPr lang="en-US" sz="1400" dirty="0"/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FB56CC29-5A28-108D-DA78-7DB44CF0833F}"/>
              </a:ext>
            </a:extLst>
          </p:cNvPr>
          <p:cNvGrpSpPr/>
          <p:nvPr/>
        </p:nvGrpSpPr>
        <p:grpSpPr>
          <a:xfrm>
            <a:off x="6264828" y="1389888"/>
            <a:ext cx="5311476" cy="1366997"/>
            <a:chOff x="527130" y="3616950"/>
            <a:chExt cx="5311476" cy="1366997"/>
          </a:xfrm>
        </p:grpSpPr>
        <p:sp>
          <p:nvSpPr>
            <p:cNvPr id="9" name="Text 6"/>
            <p:cNvSpPr/>
            <p:nvPr/>
          </p:nvSpPr>
          <p:spPr>
            <a:xfrm>
              <a:off x="527130" y="3616950"/>
              <a:ext cx="2950408" cy="29896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sz="16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STAGE INTEGRATION LOGIC</a:t>
              </a:r>
              <a:endParaRPr lang="en-US" sz="16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527130" y="4023029"/>
              <a:ext cx="5311476" cy="96091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ko-KR" altLang="ko-KR" sz="1600" b="1" dirty="0" err="1">
                  <a:solidFill>
                    <a:srgbClr val="065041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065041"/>
                  </a:solidFill>
                </a:rPr>
                <a:t> 1</a:t>
              </a:r>
              <a:r>
                <a:rPr lang="ko-KR" altLang="ko-KR" sz="1600" dirty="0"/>
                <a:t> </a:t>
              </a:r>
              <a:r>
                <a:rPr lang="ko-KR" altLang="ko-KR" sz="1600" b="1" dirty="0" err="1"/>
                <a:t>establishes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where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digital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gaps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exist</a:t>
              </a:r>
              <a:r>
                <a:rPr lang="ko-KR" altLang="ko-KR" sz="1600" b="1" dirty="0"/>
                <a:t> 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district-level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structural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baseline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>
                  <a:solidFill>
                    <a:srgbClr val="3C3389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3C3389"/>
                  </a:solidFill>
                </a:rPr>
                <a:t> 2</a:t>
              </a:r>
              <a:r>
                <a:rPr lang="ko-KR" altLang="ko-KR" sz="1600" dirty="0">
                  <a:solidFill>
                    <a:srgbClr val="3C3389"/>
                  </a:solidFill>
                </a:rPr>
                <a:t> </a:t>
              </a:r>
              <a:r>
                <a:rPr lang="ko-KR" altLang="ko-KR" sz="1600" b="1" dirty="0" err="1"/>
                <a:t>explains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who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is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affected</a:t>
              </a:r>
              <a:r>
                <a:rPr lang="ko-KR" altLang="ko-KR" sz="1600" b="1" dirty="0"/>
                <a:t> and </a:t>
              </a:r>
              <a:r>
                <a:rPr lang="ko-KR" altLang="ko-KR" sz="1600" b="1" i="1" dirty="0" err="1"/>
                <a:t>why</a:t>
              </a:r>
              <a:r>
                <a:rPr lang="ko-KR" altLang="ko-KR" sz="1600" b="1" dirty="0"/>
                <a:t> 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individual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vulnerabilities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tested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against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that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baseline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>
                  <a:solidFill>
                    <a:srgbClr val="712A12"/>
                  </a:solidFill>
                </a:rPr>
                <a:t>Stage</a:t>
              </a:r>
              <a:r>
                <a:rPr lang="ko-KR" altLang="ko-KR" sz="1600" b="1" dirty="0">
                  <a:solidFill>
                    <a:srgbClr val="712A12"/>
                  </a:solidFill>
                </a:rPr>
                <a:t> 3</a:t>
              </a:r>
              <a:r>
                <a:rPr lang="ko-KR" altLang="ko-KR" sz="1600" dirty="0">
                  <a:solidFill>
                    <a:srgbClr val="712A12"/>
                  </a:solidFill>
                </a:rPr>
                <a:t> </a:t>
              </a:r>
              <a:r>
                <a:rPr lang="ko-KR" altLang="ko-KR" sz="1600" b="1" dirty="0" err="1"/>
                <a:t>reveals</a:t>
              </a:r>
              <a:r>
                <a:rPr lang="ko-KR" altLang="ko-KR" sz="1600" b="1" dirty="0"/>
                <a:t> </a:t>
              </a:r>
              <a:r>
                <a:rPr lang="ko-KR" altLang="ko-KR" sz="1600" b="1" i="1" dirty="0" err="1"/>
                <a:t>how</a:t>
              </a:r>
              <a:r>
                <a:rPr lang="ko-KR" altLang="ko-KR" sz="1600" b="1" dirty="0"/>
                <a:t> </a:t>
              </a:r>
              <a:r>
                <a:rPr lang="ko-KR" altLang="ko-KR" sz="1600" b="1" dirty="0" err="1"/>
                <a:t>residents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experience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those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gaps</a:t>
              </a:r>
              <a:r>
                <a:rPr lang="ko-KR" altLang="ko-KR" sz="1600" b="1" dirty="0"/>
                <a:t> </a:t>
              </a:r>
              <a:endParaRPr lang="en-US" altLang="ko-KR" sz="1600" b="1" dirty="0"/>
            </a:p>
            <a:p>
              <a:r>
                <a:rPr lang="ko-KR" altLang="ko-KR" sz="1400" dirty="0">
                  <a:solidFill>
                    <a:srgbClr val="696969"/>
                  </a:solidFill>
                </a:rPr>
                <a:t>→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platform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signals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validate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and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nuance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the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quantitative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picture</a:t>
              </a:r>
              <a:endParaRPr lang="en-US" altLang="ko-KR" sz="1400" dirty="0">
                <a:solidFill>
                  <a:srgbClr val="696969"/>
                </a:solidFill>
              </a:endParaRPr>
            </a:p>
            <a:p>
              <a:endParaRPr lang="ko-KR" altLang="ko-KR" sz="1400" dirty="0"/>
            </a:p>
            <a:p>
              <a:r>
                <a:rPr lang="ko-KR" altLang="ko-KR" sz="1600" b="1" dirty="0" err="1"/>
                <a:t>Closed</a:t>
              </a:r>
              <a:r>
                <a:rPr lang="ko-KR" altLang="ko-KR" sz="1600" b="1" dirty="0"/>
                <a:t> </a:t>
              </a:r>
              <a:r>
                <a:rPr lang="ko-KR" altLang="ko-KR" sz="1600" b="1" dirty="0" err="1"/>
                <a:t>loop</a:t>
              </a:r>
              <a:r>
                <a:rPr lang="ko-KR" altLang="ko-KR" sz="1600" b="1" dirty="0"/>
                <a:t>:</a:t>
              </a:r>
              <a:r>
                <a:rPr lang="ko-KR" altLang="ko-KR" sz="1600" dirty="0"/>
                <a:t> </a:t>
              </a:r>
              <a:r>
                <a:rPr lang="ko-KR" altLang="ko-KR" sz="1600" dirty="0" err="1"/>
                <a:t>Stage</a:t>
              </a:r>
              <a:r>
                <a:rPr lang="ko-KR" altLang="ko-KR" sz="1600" dirty="0"/>
                <a:t> 1 </a:t>
              </a:r>
              <a:r>
                <a:rPr lang="ko-KR" altLang="ko-KR" sz="1600" dirty="0" err="1"/>
                <a:t>scores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re-enter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Stage</a:t>
              </a:r>
              <a:r>
                <a:rPr lang="ko-KR" altLang="ko-KR" sz="1600" dirty="0"/>
                <a:t> 3 </a:t>
              </a:r>
              <a:r>
                <a:rPr lang="ko-KR" altLang="ko-KR" sz="1600" dirty="0" err="1"/>
                <a:t>as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Bayesian</a:t>
              </a:r>
              <a:r>
                <a:rPr lang="ko-KR" altLang="ko-KR" sz="1600" dirty="0"/>
                <a:t> </a:t>
              </a:r>
              <a:r>
                <a:rPr lang="ko-KR" altLang="ko-KR" sz="1600" dirty="0" err="1"/>
                <a:t>priors</a:t>
              </a:r>
              <a:r>
                <a:rPr lang="ko-KR" altLang="ko-KR" sz="1600" dirty="0"/>
                <a:t> </a:t>
              </a:r>
              <a:r>
                <a:rPr lang="ko-KR" altLang="ko-KR" sz="1400" dirty="0">
                  <a:solidFill>
                    <a:srgbClr val="696969"/>
                  </a:solidFill>
                </a:rPr>
                <a:t>—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measurement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informs</a:t>
              </a:r>
              <a:r>
                <a:rPr lang="ko-KR" altLang="ko-KR" sz="1400" dirty="0">
                  <a:solidFill>
                    <a:srgbClr val="696969"/>
                  </a:solidFill>
                </a:rPr>
                <a:t> </a:t>
              </a:r>
              <a:r>
                <a:rPr lang="ko-KR" altLang="ko-KR" sz="1400" dirty="0" err="1">
                  <a:solidFill>
                    <a:srgbClr val="696969"/>
                  </a:solidFill>
                </a:rPr>
                <a:t>interpretation</a:t>
              </a:r>
              <a:endParaRPr lang="ko-KR" altLang="ko-KR" sz="1400" dirty="0">
                <a:solidFill>
                  <a:srgbClr val="696969"/>
                </a:solidFill>
              </a:endParaRPr>
            </a:p>
          </p:txBody>
        </p:sp>
      </p:grpSp>
      <p:sp>
        <p:nvSpPr>
          <p:cNvPr id="11" name="Shape 8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13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14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13</a:t>
            </a:r>
            <a:endParaRPr lang="en-US" sz="9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7D80DBC0-436E-40FC-1372-2DB7729D1F1D}"/>
              </a:ext>
            </a:extLst>
          </p:cNvPr>
          <p:cNvGrpSpPr/>
          <p:nvPr/>
        </p:nvGrpSpPr>
        <p:grpSpPr>
          <a:xfrm>
            <a:off x="222069" y="1309384"/>
            <a:ext cx="10526900" cy="4740029"/>
            <a:chOff x="222069" y="1394728"/>
            <a:chExt cx="10526900" cy="4740029"/>
          </a:xfrm>
        </p:grpSpPr>
        <p:pic>
          <p:nvPicPr>
            <p:cNvPr id="17" name="그림 16">
              <a:extLst>
                <a:ext uri="{FF2B5EF4-FFF2-40B4-BE49-F238E27FC236}">
                  <a16:creationId xmlns:a16="http://schemas.microsoft.com/office/drawing/2014/main" id="{28463519-E05E-D187-5DCC-1BFE22472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12942" b="29593"/>
            <a:stretch>
              <a:fillRect/>
            </a:stretch>
          </p:blipFill>
          <p:spPr>
            <a:xfrm>
              <a:off x="222069" y="1394728"/>
              <a:ext cx="5204696" cy="4689601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D6E788E0-718C-C3E3-204F-35D391614D9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20568" t="73739" r="15974" b="9953"/>
            <a:stretch>
              <a:fillRect/>
            </a:stretch>
          </p:blipFill>
          <p:spPr>
            <a:xfrm>
              <a:off x="6388646" y="4886332"/>
              <a:ext cx="4360323" cy="1248425"/>
            </a:xfrm>
            <a:prstGeom prst="rect">
              <a:avLst/>
            </a:prstGeom>
          </p:spPr>
        </p:pic>
        <p:cxnSp>
          <p:nvCxnSpPr>
            <p:cNvPr id="21" name="꺾인 연결선[E] 20">
              <a:extLst>
                <a:ext uri="{FF2B5EF4-FFF2-40B4-BE49-F238E27FC236}">
                  <a16:creationId xmlns:a16="http://schemas.microsoft.com/office/drawing/2014/main" id="{D5D38F3C-9279-7D5A-B176-B9F93422488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58235" y="5152768"/>
              <a:ext cx="2339241" cy="750490"/>
            </a:xfrm>
            <a:prstGeom prst="bentConnector3">
              <a:avLst/>
            </a:prstGeom>
            <a:ln w="12700" cap="sq">
              <a:solidFill>
                <a:srgbClr val="A2A199"/>
              </a:solidFill>
              <a:headEnd type="none" w="sm" len="sm"/>
              <a:tailEnd type="arrow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직선 화살표 연결선 27">
              <a:extLst>
                <a:ext uri="{FF2B5EF4-FFF2-40B4-BE49-F238E27FC236}">
                  <a16:creationId xmlns:a16="http://schemas.microsoft.com/office/drawing/2014/main" id="{0FB1B8C9-9733-8AAA-C2C2-49DDAE5CABDA}"/>
                </a:ext>
              </a:extLst>
            </p:cNvPr>
            <p:cNvCxnSpPr>
              <a:cxnSpLocks/>
            </p:cNvCxnSpPr>
            <p:nvPr/>
          </p:nvCxnSpPr>
          <p:spPr>
            <a:xfrm>
              <a:off x="5718313" y="5903258"/>
              <a:ext cx="1257410" cy="0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화살표 연결선 39">
              <a:extLst>
                <a:ext uri="{FF2B5EF4-FFF2-40B4-BE49-F238E27FC236}">
                  <a16:creationId xmlns:a16="http://schemas.microsoft.com/office/drawing/2014/main" id="{E8F945BA-A418-2B8B-ADB6-8DA207258BE4}"/>
                </a:ext>
              </a:extLst>
            </p:cNvPr>
            <p:cNvCxnSpPr>
              <a:cxnSpLocks/>
            </p:cNvCxnSpPr>
            <p:nvPr/>
          </p:nvCxnSpPr>
          <p:spPr>
            <a:xfrm>
              <a:off x="5426765" y="2106510"/>
              <a:ext cx="290775" cy="0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화살표 연결선 40">
              <a:extLst>
                <a:ext uri="{FF2B5EF4-FFF2-40B4-BE49-F238E27FC236}">
                  <a16:creationId xmlns:a16="http://schemas.microsoft.com/office/drawing/2014/main" id="{C0E59173-DAF7-E5A1-DE46-ECBA2AE7D939}"/>
                </a:ext>
              </a:extLst>
            </p:cNvPr>
            <p:cNvCxnSpPr>
              <a:cxnSpLocks/>
            </p:cNvCxnSpPr>
            <p:nvPr/>
          </p:nvCxnSpPr>
          <p:spPr>
            <a:xfrm>
              <a:off x="5717540" y="2106510"/>
              <a:ext cx="773" cy="3796748"/>
            </a:xfrm>
            <a:prstGeom prst="straightConnector1">
              <a:avLst/>
            </a:prstGeom>
            <a:ln w="9525">
              <a:solidFill>
                <a:srgbClr val="80AB9D"/>
              </a:solidFill>
              <a:prstDash val="sys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5" name="그림 44">
            <a:extLst>
              <a:ext uri="{FF2B5EF4-FFF2-40B4-BE49-F238E27FC236}">
                <a16:creationId xmlns:a16="http://schemas.microsoft.com/office/drawing/2014/main" id="{F6CF65AF-D77A-7B73-B0B9-39F02EA1058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4217" t="93809" r="49286" b="2530"/>
          <a:stretch>
            <a:fillRect/>
          </a:stretch>
        </p:blipFill>
        <p:spPr>
          <a:xfrm>
            <a:off x="461495" y="5927319"/>
            <a:ext cx="3168595" cy="27797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1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results — Where is the gap?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Composite Index across 25 districts</a:t>
            </a:r>
            <a:endParaRPr lang="en-US" sz="1400" dirty="0"/>
          </a:p>
        </p:txBody>
      </p:sp>
      <p:pic>
        <p:nvPicPr>
          <p:cNvPr id="6" name="Image 0" descr="/home/claude/work/fig_05_map_umc_v7.png"/>
          <p:cNvPicPr>
            <a:picLocks noChangeAspect="1"/>
          </p:cNvPicPr>
          <p:nvPr/>
        </p:nvPicPr>
        <p:blipFill>
          <a:blip r:embed="rId3"/>
          <a:srcRect t="7300"/>
          <a:stretch>
            <a:fillRect/>
          </a:stretch>
        </p:blipFill>
        <p:spPr>
          <a:xfrm>
            <a:off x="387096" y="1496524"/>
            <a:ext cx="6126480" cy="42382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87096" y="5546699"/>
            <a:ext cx="6126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Composite Score by district, Seoul 2024.</a:t>
            </a:r>
            <a:endParaRPr lang="en-US" sz="1200" dirty="0"/>
          </a:p>
        </p:txBody>
      </p: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F308BAD1-DE75-9147-74F1-67D76EFBE83B}"/>
              </a:ext>
            </a:extLst>
          </p:cNvPr>
          <p:cNvGrpSpPr/>
          <p:nvPr/>
        </p:nvGrpSpPr>
        <p:grpSpPr>
          <a:xfrm>
            <a:off x="6687312" y="1152552"/>
            <a:ext cx="4846320" cy="3611880"/>
            <a:chOff x="6858000" y="1508760"/>
            <a:chExt cx="4846320" cy="3611880"/>
          </a:xfrm>
        </p:grpSpPr>
        <p:sp>
          <p:nvSpPr>
            <p:cNvPr id="8" name="Text 5"/>
            <p:cNvSpPr/>
            <p:nvPr/>
          </p:nvSpPr>
          <p:spPr>
            <a:xfrm>
              <a:off x="6858000" y="1508760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TOP 5 DISTRICTS</a:t>
              </a:r>
              <a:endParaRPr lang="en-US" sz="16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6858000" y="182880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  Seocho-gu</a:t>
              </a:r>
              <a:endParaRPr lang="en-US" sz="1600" dirty="0"/>
            </a:p>
          </p:txBody>
        </p:sp>
        <p:sp>
          <p:nvSpPr>
            <p:cNvPr id="10" name="Text 7"/>
            <p:cNvSpPr/>
            <p:nvPr/>
          </p:nvSpPr>
          <p:spPr>
            <a:xfrm>
              <a:off x="10789920" y="182880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0.695</a:t>
              </a:r>
              <a:endParaRPr lang="en-US" sz="1600" dirty="0"/>
            </a:p>
          </p:txBody>
        </p:sp>
        <p:sp>
          <p:nvSpPr>
            <p:cNvPr id="11" name="Text 8"/>
            <p:cNvSpPr/>
            <p:nvPr/>
          </p:nvSpPr>
          <p:spPr>
            <a:xfrm>
              <a:off x="6858000" y="210312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  Yeongdeungpo-gu</a:t>
              </a:r>
              <a:endParaRPr lang="en-US" sz="16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10789920" y="210312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0.686</a:t>
              </a:r>
              <a:endParaRPr lang="en-US" sz="16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6858000" y="237744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3.  Mapo-gu</a:t>
              </a:r>
              <a:endParaRPr lang="en-US" sz="1600" dirty="0"/>
            </a:p>
          </p:txBody>
        </p:sp>
        <p:sp>
          <p:nvSpPr>
            <p:cNvPr id="14" name="Text 11"/>
            <p:cNvSpPr/>
            <p:nvPr/>
          </p:nvSpPr>
          <p:spPr>
            <a:xfrm>
              <a:off x="10789920" y="237744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0.665</a:t>
              </a:r>
              <a:endParaRPr lang="en-US" sz="1600" dirty="0"/>
            </a:p>
          </p:txBody>
        </p:sp>
        <p:sp>
          <p:nvSpPr>
            <p:cNvPr id="15" name="Text 12"/>
            <p:cNvSpPr/>
            <p:nvPr/>
          </p:nvSpPr>
          <p:spPr>
            <a:xfrm>
              <a:off x="6858000" y="265176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4.  Seodaemun-gu</a:t>
              </a:r>
              <a:endParaRPr lang="en-US" sz="16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10789920" y="265176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0.615</a:t>
              </a:r>
              <a:endParaRPr lang="en-US" sz="16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6858000" y="292608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5.  Yongsan-gu</a:t>
              </a:r>
              <a:endParaRPr lang="en-US" sz="1600" dirty="0"/>
            </a:p>
          </p:txBody>
        </p:sp>
        <p:sp>
          <p:nvSpPr>
            <p:cNvPr id="18" name="Text 15"/>
            <p:cNvSpPr/>
            <p:nvPr/>
          </p:nvSpPr>
          <p:spPr>
            <a:xfrm>
              <a:off x="10789920" y="292608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0.603</a:t>
              </a:r>
              <a:endParaRPr lang="en-US" sz="1600" dirty="0"/>
            </a:p>
          </p:txBody>
        </p:sp>
        <p:sp>
          <p:nvSpPr>
            <p:cNvPr id="19" name="Shape 16"/>
            <p:cNvSpPr/>
            <p:nvPr/>
          </p:nvSpPr>
          <p:spPr>
            <a:xfrm>
              <a:off x="6858000" y="3337560"/>
              <a:ext cx="4846320" cy="7315"/>
            </a:xfrm>
            <a:prstGeom prst="rect">
              <a:avLst/>
            </a:prstGeom>
            <a:solidFill>
              <a:srgbClr val="D0D0D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0" name="Text 17"/>
            <p:cNvSpPr/>
            <p:nvPr/>
          </p:nvSpPr>
          <p:spPr>
            <a:xfrm>
              <a:off x="6858000" y="3456432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r>
                <a:rPr lang="en-US" altLang="ko-KR" sz="1600" b="1" kern="0" spc="200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BOTTOM 5 DISTRICTS</a:t>
              </a:r>
              <a:endParaRPr lang="en-US" altLang="ko-KR" sz="1600" dirty="0"/>
            </a:p>
          </p:txBody>
        </p:sp>
        <p:sp>
          <p:nvSpPr>
            <p:cNvPr id="21" name="Text 18"/>
            <p:cNvSpPr/>
            <p:nvPr/>
          </p:nvSpPr>
          <p:spPr>
            <a:xfrm>
              <a:off x="6858000" y="374904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21.  Nowon-gu</a:t>
              </a:r>
              <a:endParaRPr lang="en-US" sz="16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10789920" y="374904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0.389</a:t>
              </a:r>
              <a:endParaRPr lang="en-US" sz="16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6858000" y="402336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22.  Guro-gu</a:t>
              </a:r>
              <a:endParaRPr lang="en-US" sz="1600" dirty="0"/>
            </a:p>
          </p:txBody>
        </p:sp>
        <p:sp>
          <p:nvSpPr>
            <p:cNvPr id="24" name="Text 21"/>
            <p:cNvSpPr/>
            <p:nvPr/>
          </p:nvSpPr>
          <p:spPr>
            <a:xfrm>
              <a:off x="10789920" y="402336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0.389</a:t>
              </a:r>
              <a:endParaRPr lang="en-US" sz="1600" dirty="0"/>
            </a:p>
          </p:txBody>
        </p:sp>
        <p:sp>
          <p:nvSpPr>
            <p:cNvPr id="25" name="Text 22"/>
            <p:cNvSpPr/>
            <p:nvPr/>
          </p:nvSpPr>
          <p:spPr>
            <a:xfrm>
              <a:off x="6858000" y="429768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23.  Gangbuk-gu</a:t>
              </a:r>
              <a:endParaRPr lang="en-US" sz="16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10789920" y="429768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0.380</a:t>
              </a:r>
              <a:endParaRPr lang="en-US" sz="16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6858000" y="457200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24.  Dobong-gu</a:t>
              </a:r>
              <a:endParaRPr lang="en-US" sz="1600" dirty="0"/>
            </a:p>
          </p:txBody>
        </p:sp>
        <p:sp>
          <p:nvSpPr>
            <p:cNvPr id="28" name="Text 25"/>
            <p:cNvSpPr/>
            <p:nvPr/>
          </p:nvSpPr>
          <p:spPr>
            <a:xfrm>
              <a:off x="10789920" y="457200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0.303</a:t>
              </a:r>
              <a:endParaRPr lang="en-US" sz="1600" dirty="0"/>
            </a:p>
          </p:txBody>
        </p:sp>
        <p:sp>
          <p:nvSpPr>
            <p:cNvPr id="29" name="Text 26"/>
            <p:cNvSpPr/>
            <p:nvPr/>
          </p:nvSpPr>
          <p:spPr>
            <a:xfrm>
              <a:off x="6858000" y="4846320"/>
              <a:ext cx="39319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25.  Jungnang-gu</a:t>
              </a:r>
              <a:endParaRPr lang="en-US" sz="16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10789920" y="4846320"/>
              <a:ext cx="9144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0.279</a:t>
              </a:r>
              <a:endParaRPr lang="en-US" sz="1600" dirty="0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C44A66E-B49A-AE29-4AEA-DC53A006F326}"/>
              </a:ext>
            </a:extLst>
          </p:cNvPr>
          <p:cNvGrpSpPr/>
          <p:nvPr/>
        </p:nvGrpSpPr>
        <p:grpSpPr>
          <a:xfrm>
            <a:off x="6684997" y="4880093"/>
            <a:ext cx="5140416" cy="1140714"/>
            <a:chOff x="6858000" y="5212080"/>
            <a:chExt cx="5140416" cy="1140714"/>
          </a:xfrm>
        </p:grpSpPr>
        <p:sp>
          <p:nvSpPr>
            <p:cNvPr id="31" name="Shape 28"/>
            <p:cNvSpPr/>
            <p:nvPr/>
          </p:nvSpPr>
          <p:spPr>
            <a:xfrm>
              <a:off x="6858000" y="5236794"/>
              <a:ext cx="73152" cy="1116000"/>
            </a:xfrm>
            <a:prstGeom prst="rect">
              <a:avLst/>
            </a:prstGeom>
            <a:solidFill>
              <a:srgbClr val="2E869B"/>
            </a:solidFill>
            <a:ln/>
          </p:spPr>
          <p:txBody>
            <a:bodyPr/>
            <a:lstStyle/>
            <a:p>
              <a:endParaRPr lang="ko-KR" altLang="en-US" dirty="0"/>
            </a:p>
          </p:txBody>
        </p:sp>
        <p:sp>
          <p:nvSpPr>
            <p:cNvPr id="32" name="Text 29"/>
            <p:cNvSpPr/>
            <p:nvPr/>
          </p:nvSpPr>
          <p:spPr>
            <a:xfrm>
              <a:off x="7040880" y="5212080"/>
              <a:ext cx="46634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FINDINGS</a:t>
              </a:r>
              <a:endParaRPr lang="en-US" sz="1600" dirty="0"/>
            </a:p>
          </p:txBody>
        </p:sp>
        <p:sp>
          <p:nvSpPr>
            <p:cNvPr id="33" name="Text 30"/>
            <p:cNvSpPr/>
            <p:nvPr/>
          </p:nvSpPr>
          <p:spPr>
            <a:xfrm>
              <a:off x="7040879" y="5468112"/>
              <a:ext cx="4957537" cy="7498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2.5× gap between top and bottom districts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Northern Seoul (Jungnang, Dobong, Gangbuk, Nowon) forms a Low-Low spatial cluster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Spatial autocorrelation confirms statistically significant clustering</a:t>
              </a:r>
              <a:endParaRPr lang="en-US" sz="1400" dirty="0"/>
            </a:p>
          </p:txBody>
        </p:sp>
      </p:grpSp>
      <p:sp>
        <p:nvSpPr>
          <p:cNvPr id="34" name="Shape 31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6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7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8" name="Text 32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2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434233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Dimensional heterogeneity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district excels in all dimensions</a:t>
            </a:r>
            <a:endParaRPr lang="en-US" sz="1400" dirty="0"/>
          </a:p>
        </p:txBody>
      </p:sp>
      <p:pic>
        <p:nvPicPr>
          <p:cNvPr id="6" name="Image 0" descr="/home/claude/work/fig_01_heatmap_v7.png"/>
          <p:cNvPicPr>
            <a:picLocks noChangeAspect="1"/>
          </p:cNvPicPr>
          <p:nvPr/>
        </p:nvPicPr>
        <p:blipFill>
          <a:blip r:embed="rId3"/>
          <a:srcRect t="2667"/>
          <a:stretch>
            <a:fillRect/>
          </a:stretch>
        </p:blipFill>
        <p:spPr>
          <a:xfrm>
            <a:off x="365760" y="1426755"/>
            <a:ext cx="6126480" cy="45390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5833620"/>
            <a:ext cx="6126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of district × UMC dimension scores, Seoul 2024.</a:t>
            </a:r>
            <a:endParaRPr lang="en-US" sz="12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CC47D9AB-4A28-9C00-509D-02BBBF69467F}"/>
              </a:ext>
            </a:extLst>
          </p:cNvPr>
          <p:cNvGrpSpPr/>
          <p:nvPr/>
        </p:nvGrpSpPr>
        <p:grpSpPr>
          <a:xfrm>
            <a:off x="6748272" y="1262281"/>
            <a:ext cx="4846320" cy="2459736"/>
            <a:chOff x="6858000" y="1508760"/>
            <a:chExt cx="4846320" cy="2459736"/>
          </a:xfrm>
        </p:grpSpPr>
        <p:sp>
          <p:nvSpPr>
            <p:cNvPr id="8" name="Text 5"/>
            <p:cNvSpPr/>
            <p:nvPr/>
          </p:nvSpPr>
          <p:spPr>
            <a:xfrm>
              <a:off x="6858000" y="1508760"/>
              <a:ext cx="48463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ILLUSTRATIVE CASES</a:t>
              </a:r>
              <a:endParaRPr lang="en-US" sz="1600" dirty="0"/>
            </a:p>
          </p:txBody>
        </p:sp>
        <p:sp>
          <p:nvSpPr>
            <p:cNvPr id="9" name="Text 6"/>
            <p:cNvSpPr/>
            <p:nvPr/>
          </p:nvSpPr>
          <p:spPr>
            <a:xfrm>
              <a:off x="6858000" y="1874520"/>
              <a:ext cx="4846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Eunpyeong-gu</a:t>
              </a:r>
              <a:endParaRPr lang="en-US" sz="1600" dirty="0"/>
            </a:p>
          </p:txBody>
        </p:sp>
        <p:sp>
          <p:nvSpPr>
            <p:cNvPr id="10" name="Shape 7"/>
            <p:cNvSpPr/>
            <p:nvPr/>
          </p:nvSpPr>
          <p:spPr>
            <a:xfrm>
              <a:off x="6858000" y="2286000"/>
              <a:ext cx="109728" cy="109728"/>
            </a:xfrm>
            <a:prstGeom prst="ellipse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1" name="Text 8"/>
            <p:cNvSpPr/>
            <p:nvPr/>
          </p:nvSpPr>
          <p:spPr>
            <a:xfrm>
              <a:off x="7040880" y="2221992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Connectivity</a:t>
              </a:r>
              <a:endParaRPr lang="en-US" sz="1600" dirty="0"/>
            </a:p>
          </p:txBody>
        </p:sp>
        <p:sp>
          <p:nvSpPr>
            <p:cNvPr id="12" name="Text 9"/>
            <p:cNvSpPr/>
            <p:nvPr/>
          </p:nvSpPr>
          <p:spPr>
            <a:xfrm>
              <a:off x="9052560" y="2221992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0.78</a:t>
              </a:r>
              <a:endParaRPr lang="en-US" sz="1600" dirty="0"/>
            </a:p>
          </p:txBody>
        </p:sp>
        <p:sp>
          <p:nvSpPr>
            <p:cNvPr id="13" name="Text 10"/>
            <p:cNvSpPr/>
            <p:nvPr/>
          </p:nvSpPr>
          <p:spPr>
            <a:xfrm>
              <a:off x="9875520" y="2221992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top tier</a:t>
              </a:r>
              <a:endParaRPr lang="en-US" sz="1200" dirty="0"/>
            </a:p>
          </p:txBody>
        </p:sp>
        <p:sp>
          <p:nvSpPr>
            <p:cNvPr id="14" name="Shape 11"/>
            <p:cNvSpPr/>
            <p:nvPr/>
          </p:nvSpPr>
          <p:spPr>
            <a:xfrm>
              <a:off x="6858000" y="2560320"/>
              <a:ext cx="109728" cy="109728"/>
            </a:xfrm>
            <a:prstGeom prst="ellipse">
              <a:avLst/>
            </a:prstGeom>
            <a:solidFill>
              <a:srgbClr val="C0392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5" name="Text 12"/>
            <p:cNvSpPr/>
            <p:nvPr/>
          </p:nvSpPr>
          <p:spPr>
            <a:xfrm>
              <a:off x="7040880" y="2496312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Affordability</a:t>
              </a:r>
              <a:endParaRPr lang="en-US" sz="1600" dirty="0"/>
            </a:p>
          </p:txBody>
        </p:sp>
        <p:sp>
          <p:nvSpPr>
            <p:cNvPr id="16" name="Text 13"/>
            <p:cNvSpPr/>
            <p:nvPr/>
          </p:nvSpPr>
          <p:spPr>
            <a:xfrm>
              <a:off x="9052560" y="2496312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0.33</a:t>
              </a:r>
              <a:endParaRPr lang="en-US" sz="1600" dirty="0"/>
            </a:p>
          </p:txBody>
        </p:sp>
        <p:sp>
          <p:nvSpPr>
            <p:cNvPr id="17" name="Text 14"/>
            <p:cNvSpPr/>
            <p:nvPr/>
          </p:nvSpPr>
          <p:spPr>
            <a:xfrm>
              <a:off x="9875520" y="2496312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bottom</a:t>
              </a:r>
              <a:endParaRPr lang="en-US" sz="1200" dirty="0"/>
            </a:p>
          </p:txBody>
        </p:sp>
        <p:sp>
          <p:nvSpPr>
            <p:cNvPr id="18" name="Shape 15"/>
            <p:cNvSpPr/>
            <p:nvPr/>
          </p:nvSpPr>
          <p:spPr>
            <a:xfrm>
              <a:off x="6858000" y="2907792"/>
              <a:ext cx="4846320" cy="7315"/>
            </a:xfrm>
            <a:prstGeom prst="rect">
              <a:avLst/>
            </a:prstGeom>
            <a:solidFill>
              <a:srgbClr val="D0D0D0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9" name="Text 16"/>
            <p:cNvSpPr/>
            <p:nvPr/>
          </p:nvSpPr>
          <p:spPr>
            <a:xfrm>
              <a:off x="6858000" y="3090672"/>
              <a:ext cx="484632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Gwanak-gu</a:t>
              </a:r>
              <a:endParaRPr lang="en-US" sz="1600" dirty="0"/>
            </a:p>
          </p:txBody>
        </p:sp>
        <p:sp>
          <p:nvSpPr>
            <p:cNvPr id="20" name="Shape 17"/>
            <p:cNvSpPr/>
            <p:nvPr/>
          </p:nvSpPr>
          <p:spPr>
            <a:xfrm>
              <a:off x="6858000" y="3502152"/>
              <a:ext cx="109728" cy="109728"/>
            </a:xfrm>
            <a:prstGeom prst="ellipse">
              <a:avLst/>
            </a:prstGeom>
            <a:solidFill>
              <a:srgbClr val="10B981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1" name="Text 18"/>
            <p:cNvSpPr/>
            <p:nvPr/>
          </p:nvSpPr>
          <p:spPr>
            <a:xfrm>
              <a:off x="7040880" y="3438144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Digital Skills</a:t>
              </a:r>
              <a:endParaRPr lang="en-US" sz="1600" dirty="0"/>
            </a:p>
          </p:txBody>
        </p:sp>
        <p:sp>
          <p:nvSpPr>
            <p:cNvPr id="22" name="Text 19"/>
            <p:cNvSpPr/>
            <p:nvPr/>
          </p:nvSpPr>
          <p:spPr>
            <a:xfrm>
              <a:off x="9052560" y="3438144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0B981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0.80</a:t>
              </a:r>
              <a:endParaRPr lang="en-US" sz="1600" dirty="0"/>
            </a:p>
          </p:txBody>
        </p:sp>
        <p:sp>
          <p:nvSpPr>
            <p:cNvPr id="23" name="Text 20"/>
            <p:cNvSpPr/>
            <p:nvPr/>
          </p:nvSpPr>
          <p:spPr>
            <a:xfrm>
              <a:off x="9875520" y="3438144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#1 in Seoul</a:t>
              </a:r>
              <a:endParaRPr lang="en-US" sz="1200" dirty="0"/>
            </a:p>
          </p:txBody>
        </p:sp>
        <p:sp>
          <p:nvSpPr>
            <p:cNvPr id="24" name="Shape 21"/>
            <p:cNvSpPr/>
            <p:nvPr/>
          </p:nvSpPr>
          <p:spPr>
            <a:xfrm>
              <a:off x="6858000" y="3776472"/>
              <a:ext cx="109728" cy="109728"/>
            </a:xfrm>
            <a:prstGeom prst="ellipse">
              <a:avLst/>
            </a:prstGeom>
            <a:solidFill>
              <a:srgbClr val="C0392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5" name="Text 22"/>
            <p:cNvSpPr/>
            <p:nvPr/>
          </p:nvSpPr>
          <p:spPr>
            <a:xfrm>
              <a:off x="7040880" y="3712464"/>
              <a:ext cx="21031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Affordability</a:t>
              </a:r>
              <a:endParaRPr lang="en-US" sz="1600" dirty="0"/>
            </a:p>
          </p:txBody>
        </p:sp>
        <p:sp>
          <p:nvSpPr>
            <p:cNvPr id="26" name="Text 23"/>
            <p:cNvSpPr/>
            <p:nvPr/>
          </p:nvSpPr>
          <p:spPr>
            <a:xfrm>
              <a:off x="9052560" y="3712464"/>
              <a:ext cx="82296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039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0.15</a:t>
              </a:r>
              <a:endParaRPr lang="en-US" sz="1600" dirty="0"/>
            </a:p>
          </p:txBody>
        </p:sp>
        <p:sp>
          <p:nvSpPr>
            <p:cNvPr id="27" name="Text 24"/>
            <p:cNvSpPr/>
            <p:nvPr/>
          </p:nvSpPr>
          <p:spPr>
            <a:xfrm>
              <a:off x="9875520" y="3712464"/>
              <a:ext cx="18288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last</a:t>
              </a:r>
              <a:endParaRPr lang="en-US" sz="1200" dirty="0"/>
            </a:p>
          </p:txBody>
        </p:sp>
      </p:grpSp>
      <p:grpSp>
        <p:nvGrpSpPr>
          <p:cNvPr id="36" name="그룹 35">
            <a:extLst>
              <a:ext uri="{FF2B5EF4-FFF2-40B4-BE49-F238E27FC236}">
                <a16:creationId xmlns:a16="http://schemas.microsoft.com/office/drawing/2014/main" id="{3DDB60AE-8863-D6EE-D14D-38B52366A55E}"/>
              </a:ext>
            </a:extLst>
          </p:cNvPr>
          <p:cNvGrpSpPr/>
          <p:nvPr/>
        </p:nvGrpSpPr>
        <p:grpSpPr>
          <a:xfrm>
            <a:off x="6745224" y="3976524"/>
            <a:ext cx="4846320" cy="1993428"/>
            <a:chOff x="6858000" y="4892040"/>
            <a:chExt cx="4846320" cy="1993428"/>
          </a:xfrm>
        </p:grpSpPr>
        <p:sp>
          <p:nvSpPr>
            <p:cNvPr id="28" name="Shape 25"/>
            <p:cNvSpPr/>
            <p:nvPr/>
          </p:nvSpPr>
          <p:spPr>
            <a:xfrm>
              <a:off x="6858000" y="4941468"/>
              <a:ext cx="73152" cy="1944000"/>
            </a:xfrm>
            <a:prstGeom prst="rect">
              <a:avLst/>
            </a:prstGeom>
            <a:solidFill>
              <a:srgbClr val="2E869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Text 26"/>
            <p:cNvSpPr/>
            <p:nvPr/>
          </p:nvSpPr>
          <p:spPr>
            <a:xfrm>
              <a:off x="7040880" y="4892040"/>
              <a:ext cx="466344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KEY FINDINGS</a:t>
              </a:r>
              <a:endParaRPr lang="en-US" sz="1600" dirty="0"/>
            </a:p>
          </p:txBody>
        </p:sp>
        <p:sp>
          <p:nvSpPr>
            <p:cNvPr id="30" name="Text 27"/>
            <p:cNvSpPr/>
            <p:nvPr/>
          </p:nvSpPr>
          <p:spPr>
            <a:xfrm>
              <a:off x="7040880" y="5148072"/>
              <a:ext cx="4663440" cy="10698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altLang="ko-KR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Digital deserts have average connectivity but severe gaps in Devices and Safety</a:t>
              </a:r>
              <a:endParaRPr lang="en-US" altLang="ko-KR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Physical infrastructure exists — what is missing is human and economic capacity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 single composite ranking hides policy-relevant, dimension-specific vulnerabilities</a:t>
              </a:r>
              <a:endParaRPr lang="en-US" sz="1400" dirty="0"/>
            </a:p>
            <a:p>
              <a:pPr marL="171450" indent="-171450">
                <a:spcAft>
                  <a:spcPts val="200"/>
                </a:spcAft>
                <a:buSzPct val="100000"/>
                <a:buFont typeface="Arial" panose="020B0604020202020204" pitchFamily="34" charset="0"/>
                <a:buChar char="•"/>
              </a:pPr>
              <a:r>
                <a:rPr lang="en-US" sz="14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Implication: dimension-specific intervention, not uniform infrastructure investment</a:t>
              </a:r>
              <a:endParaRPr lang="en-US" sz="1400" dirty="0"/>
            </a:p>
          </p:txBody>
        </p:sp>
      </p:grpSp>
      <p:sp>
        <p:nvSpPr>
          <p:cNvPr id="31" name="Shape 28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1" descr="/home/claude/work/logo_gateway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3" name="Image 2" descr="/home/claude/work/logo_eu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4" name="Image 3" descr="/home/claude/work/logo_i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3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does the gap exist? — Individual differences dominate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HLM: ICC and main effects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20557" y="195593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GAP LIVES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21793" y="1909294"/>
            <a:ext cx="1106423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all variation in digital use sits between </a:t>
            </a:r>
            <a:r>
              <a:rPr lang="en-US" sz="2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</a:t>
            </a: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not between </a:t>
            </a:r>
            <a:r>
              <a:rPr lang="en-US" sz="2400" b="1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districts</a:t>
            </a:r>
            <a:r>
              <a:rPr lang="en-US" sz="2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548640" y="3496692"/>
            <a:ext cx="53035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35599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STRONGEST PREDICTORS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388002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≤ middle school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291840" y="388002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−18.4 pts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845084" y="388002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420920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91840" y="4209204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−0.34 / yr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5084" y="4209204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45383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Single-person household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291840" y="4538388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−1.7 pts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845084" y="453838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486757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291840" y="486757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 pts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845084" y="48675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8640" y="51967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Detached housing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291840" y="519675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−2.4 pts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845084" y="5196756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p&lt;0.001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52594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Infrastructure main effect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291840" y="5525940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0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845084" y="552594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n.s.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5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6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13</a:t>
            </a:r>
            <a:endParaRPr lang="en-US" sz="900" dirty="0"/>
          </a:p>
        </p:txBody>
      </p:sp>
      <p:sp>
        <p:nvSpPr>
          <p:cNvPr id="38" name="Text 26">
            <a:extLst>
              <a:ext uri="{FF2B5EF4-FFF2-40B4-BE49-F238E27FC236}">
                <a16:creationId xmlns:a16="http://schemas.microsoft.com/office/drawing/2014/main" id="{794C96FD-9889-E1B8-EAEF-4B908059DAB3}"/>
              </a:ext>
            </a:extLst>
          </p:cNvPr>
          <p:cNvSpPr/>
          <p:nvPr/>
        </p:nvSpPr>
        <p:spPr>
          <a:xfrm>
            <a:off x="6126480" y="5734770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3 </a:t>
            </a: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Model 4</a:t>
            </a:r>
            <a:endParaRPr lang="en-US" sz="1200" dirty="0"/>
          </a:p>
        </p:txBody>
      </p:sp>
      <p:pic>
        <p:nvPicPr>
          <p:cNvPr id="44" name="Picture 43" descr="07_coefficient_comparison_c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0" y="3671033"/>
            <a:ext cx="5868224" cy="1909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4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infrastructure offset individual vulnerability?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HLM: cross-level interactions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65760" y="5917401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Cross-level interactions: how district-level UMC dimensions interact with vulnerable groups.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66928" y="1538415"/>
            <a:ext cx="2603784" cy="2396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EFFECT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66928" y="1862163"/>
            <a:ext cx="5132833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District-level UMC dimensions show only weak, contextual associations with individual digital use.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7794639" y="2407095"/>
            <a:ext cx="402336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0"/>
          <p:cNvSpPr/>
          <p:nvPr/>
        </p:nvSpPr>
        <p:spPr>
          <a:xfrm>
            <a:off x="566928" y="2544255"/>
            <a:ext cx="2995669" cy="2689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CROSS-LEVEL INTERACTIONS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566928" y="28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Connectivity × low education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950208" y="28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+4.66  n.s. (M3)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66928" y="31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× low education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950208" y="31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−0.40  *** (M3)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566928" y="34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Older (65+) × low education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3950208" y="34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−3.53  * (M4 supp.)</a:t>
            </a:r>
            <a:endParaRPr lang="en-US" sz="1400" dirty="0"/>
          </a:p>
        </p:txBody>
      </p:sp>
      <p:sp>
        <p:nvSpPr>
          <p:cNvPr id="50" name="Text Row 4 Label"/>
          <p:cNvSpPr/>
          <p:nvPr/>
        </p:nvSpPr>
        <p:spPr>
          <a:xfrm>
            <a:off x="566928" y="3764295"/>
            <a:ext cx="329184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Affordability (main)</a:t>
            </a:r>
            <a:endParaRPr lang="en-US" sz="1300" dirty="0"/>
          </a:p>
        </p:txBody>
      </p:sp>
      <p:sp>
        <p:nvSpPr>
          <p:cNvPr id="51" name="Text Row 4 Value"/>
          <p:cNvSpPr/>
          <p:nvPr/>
        </p:nvSpPr>
        <p:spPr>
          <a:xfrm>
            <a:off x="3950208" y="3764295"/>
            <a:ext cx="219456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A8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−1.35  † (M3)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492240" y="1554480"/>
            <a:ext cx="5120640" cy="4480560"/>
          </a:xfrm>
          <a:prstGeom prst="roundRect">
            <a:avLst>
              <a:gd name="adj" fmla="val 2703"/>
            </a:avLst>
          </a:prstGeom>
          <a:solidFill>
            <a:srgbClr val="1F386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8"/>
          <p:cNvSpPr/>
          <p:nvPr/>
        </p:nvSpPr>
        <p:spPr>
          <a:xfrm>
            <a:off x="6693408" y="16916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200" dirty="0">
                <a:solidFill>
                  <a:srgbClr val="7FE4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693408" y="2011680"/>
            <a:ext cx="47548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Retained interactions are individual-level: the low-education penalty steepens with age (Age × low education −0.40***, M3) and with being 65+ (Older × low education −3.53*, M4 supplementary). District-level UMC dimensions show only weak, marginal main associations (Connectivity −1.34†, Affordability −1.35† in M3); the Connectivity × low-education term is positive but non-significant (+4.66, p=.16). District scores locate where vulnerable residents concentrate — supporting place-sensitive (not place-based) targeting.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25" name="Image 2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26" name="Image 3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5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infrastructure indicators may miss the problem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Bayesian posterior shifts: Stage 1 priors updated by platform text evidence</a:t>
            </a:r>
            <a:endParaRPr lang="en-US" sz="1400" dirty="0"/>
          </a:p>
        </p:txBody>
      </p: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9E52D6A7-9167-94BE-EFDE-A4856090B7E5}"/>
              </a:ext>
            </a:extLst>
          </p:cNvPr>
          <p:cNvGrpSpPr/>
          <p:nvPr/>
        </p:nvGrpSpPr>
        <p:grpSpPr>
          <a:xfrm>
            <a:off x="548640" y="1536917"/>
            <a:ext cx="5852160" cy="1371600"/>
            <a:chOff x="548640" y="1600200"/>
            <a:chExt cx="5852160" cy="1371600"/>
          </a:xfrm>
        </p:grpSpPr>
        <p:sp>
          <p:nvSpPr>
            <p:cNvPr id="8" name="Text 6"/>
            <p:cNvSpPr/>
            <p:nvPr/>
          </p:nvSpPr>
          <p:spPr>
            <a:xfrm>
              <a:off x="548640" y="1600200"/>
              <a:ext cx="5852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METHOD</a:t>
              </a:r>
              <a:endParaRPr lang="en-US" sz="160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548640" y="1874520"/>
              <a:ext cx="5852160" cy="10972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>
                <a:spcAft>
                  <a:spcPts val="400"/>
                </a:spcAft>
              </a:pP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UMC dimension scores serve as Bayesian priors; classified </a:t>
              </a:r>
              <a:r>
                <a:rPr lang="en-US" sz="1600" dirty="0" err="1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Danggeun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posts update them. The resulting </a:t>
              </a: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posterior shifts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reveal where measured indicators may overstate or understate lived deprivation.</a:t>
              </a:r>
              <a:endParaRPr lang="en-US" sz="1600" dirty="0"/>
            </a:p>
          </p:txBody>
        </p:sp>
      </p:grpSp>
      <p:sp>
        <p:nvSpPr>
          <p:cNvPr id="10" name="Shape 8"/>
          <p:cNvSpPr/>
          <p:nvPr/>
        </p:nvSpPr>
        <p:spPr>
          <a:xfrm>
            <a:off x="536448" y="2943362"/>
            <a:ext cx="585216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F8901D0-BC1E-1523-3B14-17EEB61CDAE0}"/>
              </a:ext>
            </a:extLst>
          </p:cNvPr>
          <p:cNvGrpSpPr/>
          <p:nvPr/>
        </p:nvGrpSpPr>
        <p:grpSpPr>
          <a:xfrm>
            <a:off x="6812241" y="3010052"/>
            <a:ext cx="5852160" cy="2987040"/>
            <a:chOff x="548640" y="3057144"/>
            <a:chExt cx="5852160" cy="2987040"/>
          </a:xfrm>
        </p:grpSpPr>
        <p:sp>
          <p:nvSpPr>
            <p:cNvPr id="11" name="Text 9"/>
            <p:cNvSpPr/>
            <p:nvPr/>
          </p:nvSpPr>
          <p:spPr>
            <a:xfrm>
              <a:off x="548640" y="3057144"/>
              <a:ext cx="58521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PRELIMINARY POSTERIOR SHIFTS</a:t>
              </a:r>
              <a:endParaRPr lang="en-US" sz="16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548640" y="3474720"/>
              <a:ext cx="73152" cy="594360"/>
            </a:xfrm>
            <a:prstGeom prst="rect">
              <a:avLst/>
            </a:prstGeom>
            <a:solidFill>
              <a:srgbClr val="14263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3" name="Text 11"/>
            <p:cNvSpPr/>
            <p:nvPr/>
          </p:nvSpPr>
          <p:spPr>
            <a:xfrm>
              <a:off x="731520" y="3493008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Jungnang · Devices</a:t>
              </a:r>
              <a:endParaRPr lang="en-US" dirty="0"/>
            </a:p>
          </p:txBody>
        </p:sp>
        <p:sp>
          <p:nvSpPr>
            <p:cNvPr id="14" name="Text 12"/>
            <p:cNvSpPr/>
            <p:nvPr/>
          </p:nvSpPr>
          <p:spPr>
            <a:xfrm>
              <a:off x="3017520" y="3493008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+4.77 pp</a:t>
              </a:r>
              <a:endParaRPr lang="en-US" sz="1600" dirty="0"/>
            </a:p>
          </p:txBody>
        </p:sp>
        <p:sp>
          <p:nvSpPr>
            <p:cNvPr id="15" name="Text 13"/>
            <p:cNvSpPr/>
            <p:nvPr/>
          </p:nvSpPr>
          <p:spPr>
            <a:xfrm>
              <a:off x="731520" y="3767328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measured score understates device-access deprivation</a:t>
              </a:r>
              <a:endParaRPr lang="en-US" sz="160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48640" y="4133088"/>
              <a:ext cx="73152" cy="594360"/>
            </a:xfrm>
            <a:prstGeom prst="rect">
              <a:avLst/>
            </a:prstGeom>
            <a:solidFill>
              <a:srgbClr val="14263D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7" name="Text 15"/>
            <p:cNvSpPr/>
            <p:nvPr/>
          </p:nvSpPr>
          <p:spPr>
            <a:xfrm>
              <a:off x="731520" y="4151376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Jungnang · Skills</a:t>
              </a:r>
              <a:endParaRPr lang="en-US" dirty="0"/>
            </a:p>
          </p:txBody>
        </p:sp>
        <p:sp>
          <p:nvSpPr>
            <p:cNvPr id="18" name="Text 16"/>
            <p:cNvSpPr/>
            <p:nvPr/>
          </p:nvSpPr>
          <p:spPr>
            <a:xfrm>
              <a:off x="3017520" y="4151376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+4.69 pp</a:t>
              </a:r>
              <a:endParaRPr lang="en-US" sz="1600" dirty="0"/>
            </a:p>
          </p:txBody>
        </p:sp>
        <p:sp>
          <p:nvSpPr>
            <p:cNvPr id="19" name="Text 17"/>
            <p:cNvSpPr/>
            <p:nvPr/>
          </p:nvSpPr>
          <p:spPr>
            <a:xfrm>
              <a:off x="731520" y="4425696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platform signals stronger skill-related struggles</a:t>
              </a:r>
              <a:endParaRPr lang="en-US" sz="160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548640" y="4791456"/>
              <a:ext cx="73152" cy="594360"/>
            </a:xfrm>
            <a:prstGeom prst="rect">
              <a:avLst/>
            </a:prstGeom>
            <a:solidFill>
              <a:srgbClr val="B90027"/>
            </a:solidFill>
            <a:ln/>
          </p:spPr>
          <p:txBody>
            <a:bodyPr/>
            <a:lstStyle/>
            <a:p>
              <a:endParaRPr lang="ko-KR" altLang="en-US">
                <a:solidFill>
                  <a:srgbClr val="B90027"/>
                </a:solidFill>
              </a:endParaRPr>
            </a:p>
          </p:txBody>
        </p:sp>
        <p:sp>
          <p:nvSpPr>
            <p:cNvPr id="21" name="Text 19"/>
            <p:cNvSpPr/>
            <p:nvPr/>
          </p:nvSpPr>
          <p:spPr>
            <a:xfrm>
              <a:off x="731520" y="4809744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Gwanak · Skills</a:t>
              </a:r>
              <a:endParaRPr lang="en-US" dirty="0"/>
            </a:p>
          </p:txBody>
        </p:sp>
        <p:sp>
          <p:nvSpPr>
            <p:cNvPr id="22" name="Text 20"/>
            <p:cNvSpPr/>
            <p:nvPr/>
          </p:nvSpPr>
          <p:spPr>
            <a:xfrm>
              <a:off x="3017520" y="4809744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−4.52 pp</a:t>
              </a:r>
              <a:endParaRPr lang="en-US" sz="1600" dirty="0">
                <a:solidFill>
                  <a:srgbClr val="B90027"/>
                </a:solidFill>
              </a:endParaRPr>
            </a:p>
          </p:txBody>
        </p:sp>
        <p:sp>
          <p:nvSpPr>
            <p:cNvPr id="23" name="Text 21"/>
            <p:cNvSpPr/>
            <p:nvPr/>
          </p:nvSpPr>
          <p:spPr>
            <a:xfrm>
              <a:off x="731520" y="5084064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measured score overstates skill deprivation</a:t>
              </a:r>
              <a:endParaRPr lang="en-US" sz="160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48640" y="5449824"/>
              <a:ext cx="73152" cy="594360"/>
            </a:xfrm>
            <a:prstGeom prst="rect">
              <a:avLst/>
            </a:prstGeom>
            <a:solidFill>
              <a:srgbClr val="B90027"/>
            </a:solidFill>
            <a:ln/>
          </p:spPr>
          <p:txBody>
            <a:bodyPr/>
            <a:lstStyle/>
            <a:p>
              <a:endParaRPr lang="ko-KR" altLang="en-US">
                <a:solidFill>
                  <a:srgbClr val="B90027"/>
                </a:solidFill>
              </a:endParaRPr>
            </a:p>
          </p:txBody>
        </p:sp>
        <p:sp>
          <p:nvSpPr>
            <p:cNvPr id="25" name="Text 23"/>
            <p:cNvSpPr/>
            <p:nvPr/>
          </p:nvSpPr>
          <p:spPr>
            <a:xfrm>
              <a:off x="731520" y="5468112"/>
              <a:ext cx="22860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Yongsan · Devices</a:t>
              </a:r>
              <a:endParaRPr lang="en-US" dirty="0"/>
            </a:p>
          </p:txBody>
        </p:sp>
        <p:sp>
          <p:nvSpPr>
            <p:cNvPr id="26" name="Text 24"/>
            <p:cNvSpPr/>
            <p:nvPr/>
          </p:nvSpPr>
          <p:spPr>
            <a:xfrm>
              <a:off x="3017520" y="5468112"/>
              <a:ext cx="10972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−4.18 pp</a:t>
              </a:r>
              <a:endParaRPr lang="en-US" sz="1600" dirty="0">
                <a:solidFill>
                  <a:srgbClr val="B90027"/>
                </a:solidFill>
              </a:endParaRPr>
            </a:p>
          </p:txBody>
        </p:sp>
        <p:sp>
          <p:nvSpPr>
            <p:cNvPr id="27" name="Text 25"/>
            <p:cNvSpPr/>
            <p:nvPr/>
          </p:nvSpPr>
          <p:spPr>
            <a:xfrm>
              <a:off x="731520" y="5742432"/>
              <a:ext cx="5577840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platform signals fewer device-related issues</a:t>
              </a:r>
              <a:endParaRPr lang="en-US" sz="1600" dirty="0"/>
            </a:p>
          </p:txBody>
        </p:sp>
      </p:grp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84B5219F-FAAB-49E6-A44A-078464A66A18}"/>
              </a:ext>
            </a:extLst>
          </p:cNvPr>
          <p:cNvGrpSpPr/>
          <p:nvPr/>
        </p:nvGrpSpPr>
        <p:grpSpPr>
          <a:xfrm>
            <a:off x="548640" y="3202241"/>
            <a:ext cx="5730240" cy="3017520"/>
            <a:chOff x="6766560" y="3200400"/>
            <a:chExt cx="5730240" cy="3017520"/>
          </a:xfrm>
        </p:grpSpPr>
        <p:sp>
          <p:nvSpPr>
            <p:cNvPr id="32" name="Text 30"/>
            <p:cNvSpPr/>
            <p:nvPr/>
          </p:nvSpPr>
          <p:spPr>
            <a:xfrm>
              <a:off x="6766560" y="3200400"/>
              <a:ext cx="50292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kern="0" spc="20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INTERPRETATION</a:t>
              </a:r>
              <a:endParaRPr lang="en-US" sz="1600" dirty="0"/>
            </a:p>
          </p:txBody>
        </p:sp>
        <p:sp>
          <p:nvSpPr>
            <p:cNvPr id="33" name="Text 31"/>
            <p:cNvSpPr/>
            <p:nvPr/>
          </p:nvSpPr>
          <p:spPr>
            <a:xfrm>
              <a:off x="6766560" y="3520440"/>
              <a:ext cx="5730240" cy="26974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POSITIVE shift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→ measurement misses deprivation that residents actually express on the platform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b="1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NEGATIVE shift</a:t>
              </a:r>
              <a:r>
                <a:rPr lang="en-US" sz="1600" dirty="0">
                  <a:solidFill>
                    <a:srgbClr val="B900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r>
                <a:rPr lang="en-US" sz="1600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→ measurement overstates deprivation relative to lived signals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dirty="0">
                  <a:solidFill>
                    <a:srgbClr val="00000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 </a:t>
              </a:r>
              <a:endParaRPr lang="en-US" sz="1600" dirty="0"/>
            </a:p>
            <a:p>
              <a:pPr marL="0" indent="0" algn="l">
                <a:spcAft>
                  <a:spcPts val="400"/>
                </a:spcAft>
                <a:buNone/>
              </a:pPr>
              <a:r>
                <a:rPr lang="en-US" sz="16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Across 150 cells, the dominant pattern (preliminary): Skills and Safety show hidden deprivation in northern districts; AFU and Affordability tend to be overstated by measurement.</a:t>
              </a:r>
              <a:endParaRPr lang="en-US" sz="1600" dirty="0"/>
            </a:p>
          </p:txBody>
        </p:sp>
      </p:grpSp>
      <p:sp>
        <p:nvSpPr>
          <p:cNvPr id="34" name="Shape 32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6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7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8" name="Text 33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13</a:t>
            </a:r>
            <a:endParaRPr lang="en-US" sz="900" dirty="0"/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B5FA58DE-8209-FFA9-9F0F-5BFCAC7903F2}"/>
              </a:ext>
            </a:extLst>
          </p:cNvPr>
          <p:cNvGrpSpPr/>
          <p:nvPr/>
        </p:nvGrpSpPr>
        <p:grpSpPr>
          <a:xfrm>
            <a:off x="6278880" y="1395984"/>
            <a:ext cx="5852160" cy="1005840"/>
            <a:chOff x="548640" y="1600200"/>
            <a:chExt cx="6309360" cy="1005840"/>
          </a:xfrm>
        </p:grpSpPr>
        <p:sp>
          <p:nvSpPr>
            <p:cNvPr id="44" name="Text 6">
              <a:extLst>
                <a:ext uri="{FF2B5EF4-FFF2-40B4-BE49-F238E27FC236}">
                  <a16:creationId xmlns:a16="http://schemas.microsoft.com/office/drawing/2014/main" id="{BE3B3686-CD5E-F014-7535-5F2D64B3AC6F}"/>
                </a:ext>
              </a:extLst>
            </p:cNvPr>
            <p:cNvSpPr/>
            <p:nvPr/>
          </p:nvSpPr>
          <p:spPr>
            <a:xfrm>
              <a:off x="5486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1.29M</a:t>
              </a:r>
              <a:endParaRPr lang="en-US" sz="2600" dirty="0"/>
            </a:p>
          </p:txBody>
        </p:sp>
        <p:sp>
          <p:nvSpPr>
            <p:cNvPr id="45" name="Text 7">
              <a:extLst>
                <a:ext uri="{FF2B5EF4-FFF2-40B4-BE49-F238E27FC236}">
                  <a16:creationId xmlns:a16="http://schemas.microsoft.com/office/drawing/2014/main" id="{4D5AC8F7-673B-91FB-68FC-C29C79DC9A6A}"/>
                </a:ext>
              </a:extLst>
            </p:cNvPr>
            <p:cNvSpPr/>
            <p:nvPr/>
          </p:nvSpPr>
          <p:spPr>
            <a:xfrm>
              <a:off x="5486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Posts crawled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(2024–2026)</a:t>
              </a:r>
              <a:endParaRPr lang="en-US" sz="1400" dirty="0"/>
            </a:p>
          </p:txBody>
        </p:sp>
        <p:sp>
          <p:nvSpPr>
            <p:cNvPr id="46" name="Text 8">
              <a:extLst>
                <a:ext uri="{FF2B5EF4-FFF2-40B4-BE49-F238E27FC236}">
                  <a16:creationId xmlns:a16="http://schemas.microsoft.com/office/drawing/2014/main" id="{9366D0DC-D4CA-AE41-19B1-D3EEC4215A35}"/>
                </a:ext>
              </a:extLst>
            </p:cNvPr>
            <p:cNvSpPr/>
            <p:nvPr/>
          </p:nvSpPr>
          <p:spPr>
            <a:xfrm>
              <a:off x="26822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~520k</a:t>
              </a:r>
              <a:endParaRPr lang="en-US" sz="2600" dirty="0"/>
            </a:p>
          </p:txBody>
        </p:sp>
        <p:sp>
          <p:nvSpPr>
            <p:cNvPr id="47" name="Text 9">
              <a:extLst>
                <a:ext uri="{FF2B5EF4-FFF2-40B4-BE49-F238E27FC236}">
                  <a16:creationId xmlns:a16="http://schemas.microsoft.com/office/drawing/2014/main" id="{DC168083-E418-C46D-0DD7-15FDBFC8782E}"/>
                </a:ext>
              </a:extLst>
            </p:cNvPr>
            <p:cNvSpPr/>
            <p:nvPr/>
          </p:nvSpPr>
          <p:spPr>
            <a:xfrm>
              <a:off x="26822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Analyzed after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dedup &amp; filtering</a:t>
              </a:r>
              <a:endParaRPr lang="en-US" sz="1400" dirty="0"/>
            </a:p>
          </p:txBody>
        </p:sp>
        <p:sp>
          <p:nvSpPr>
            <p:cNvPr id="48" name="Text 10">
              <a:extLst>
                <a:ext uri="{FF2B5EF4-FFF2-40B4-BE49-F238E27FC236}">
                  <a16:creationId xmlns:a16="http://schemas.microsoft.com/office/drawing/2014/main" id="{FC31D4F0-7EDA-21ED-1162-033BDDF1638F}"/>
                </a:ext>
              </a:extLst>
            </p:cNvPr>
            <p:cNvSpPr/>
            <p:nvPr/>
          </p:nvSpPr>
          <p:spPr>
            <a:xfrm>
              <a:off x="4815840" y="1600200"/>
              <a:ext cx="204216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marL="0" indent="0" algn="ctr">
                <a:buNone/>
              </a:pPr>
              <a:r>
                <a:rPr lang="en-US" sz="2600" b="1" dirty="0">
                  <a:solidFill>
                    <a:srgbClr val="1426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25</a:t>
              </a:r>
              <a:endParaRPr lang="en-US" sz="2600" dirty="0"/>
            </a:p>
          </p:txBody>
        </p:sp>
        <p:sp>
          <p:nvSpPr>
            <p:cNvPr id="49" name="Text 11">
              <a:extLst>
                <a:ext uri="{FF2B5EF4-FFF2-40B4-BE49-F238E27FC236}">
                  <a16:creationId xmlns:a16="http://schemas.microsoft.com/office/drawing/2014/main" id="{05C5903F-E2A5-FD07-98F2-4529E674228A}"/>
                </a:ext>
              </a:extLst>
            </p:cNvPr>
            <p:cNvSpPr/>
            <p:nvPr/>
          </p:nvSpPr>
          <p:spPr>
            <a:xfrm>
              <a:off x="4815840" y="2148840"/>
              <a:ext cx="2042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Districts covered</a:t>
              </a:r>
              <a:endParaRPr lang="en-US" sz="1400" dirty="0"/>
            </a:p>
            <a:p>
              <a:pPr marL="0" indent="0" algn="ctr">
                <a:spcAft>
                  <a:spcPts val="200"/>
                </a:spcAft>
                <a:buNone/>
              </a:pPr>
              <a:r>
                <a:rPr lang="en-US" sz="14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(all of Seoul)</a:t>
              </a:r>
              <a:endParaRPr lang="en-US" sz="1400" dirty="0"/>
            </a:p>
          </p:txBody>
        </p:sp>
      </p:grpSp>
      <p:sp>
        <p:nvSpPr>
          <p:cNvPr id="50" name="Shape 12">
            <a:extLst>
              <a:ext uri="{FF2B5EF4-FFF2-40B4-BE49-F238E27FC236}">
                <a16:creationId xmlns:a16="http://schemas.microsoft.com/office/drawing/2014/main" id="{7F695F48-298A-7C7F-EA86-765CE8249B2B}"/>
              </a:ext>
            </a:extLst>
          </p:cNvPr>
          <p:cNvSpPr/>
          <p:nvPr/>
        </p:nvSpPr>
        <p:spPr>
          <a:xfrm>
            <a:off x="6675120" y="2730702"/>
            <a:ext cx="518400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III  ·  PRELIMINARY RESULTS  ·  6 / 6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is the gap experienced?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text analysis — deprivation patterns from ~520k community posts.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48640" y="5571505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30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1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13</a:t>
            </a:r>
            <a:endParaRPr lang="en-US" sz="900" dirty="0"/>
          </a:p>
        </p:txBody>
      </p: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F52BC7AC-F1EB-806C-2922-5AB59F3344DB}"/>
              </a:ext>
            </a:extLst>
          </p:cNvPr>
          <p:cNvGrpSpPr/>
          <p:nvPr/>
        </p:nvGrpSpPr>
        <p:grpSpPr>
          <a:xfrm>
            <a:off x="548640" y="1842225"/>
            <a:ext cx="6400800" cy="4019770"/>
            <a:chOff x="548640" y="1761200"/>
            <a:chExt cx="6400800" cy="4019770"/>
          </a:xfrm>
        </p:grpSpPr>
        <p:graphicFrame>
          <p:nvGraphicFramePr>
            <p:cNvPr id="16" name="Chart 0"/>
            <p:cNvGraphicFramePr/>
            <p:nvPr>
              <p:extLst>
                <p:ext uri="{D42A27DB-BD31-4B8C-83A1-F6EECF244321}">
                  <p14:modId xmlns:p14="http://schemas.microsoft.com/office/powerpoint/2010/main" val="3699519129"/>
                </p:ext>
              </p:extLst>
            </p:nvPr>
          </p:nvGraphicFramePr>
          <p:xfrm>
            <a:off x="548640" y="1761200"/>
            <a:ext cx="6400800" cy="3810305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6"/>
            </a:graphicData>
          </a:graphic>
        </p:graphicFrame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E936D9EB-C84A-B457-6C27-F6747BCB5DBF}"/>
                </a:ext>
              </a:extLst>
            </p:cNvPr>
            <p:cNvSpPr txBox="1"/>
            <p:nvPr/>
          </p:nvSpPr>
          <p:spPr>
            <a:xfrm>
              <a:off x="791707" y="5503971"/>
              <a:ext cx="60998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200" i="1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Deprivation Types (n=100) — 88% of posts overlap 2 or more types.</a:t>
              </a:r>
              <a:endParaRPr lang="en-US" altLang="ko-KR" sz="1200" dirty="0"/>
            </a:p>
          </p:txBody>
        </p:sp>
      </p:grp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BCE6AA8A-C760-84D6-2F37-8244143CD800}"/>
              </a:ext>
            </a:extLst>
          </p:cNvPr>
          <p:cNvGrpSpPr/>
          <p:nvPr/>
        </p:nvGrpSpPr>
        <p:grpSpPr>
          <a:xfrm>
            <a:off x="7315200" y="1554480"/>
            <a:ext cx="4434840" cy="3945520"/>
            <a:chOff x="7315200" y="1554480"/>
            <a:chExt cx="4434840" cy="3945520"/>
          </a:xfrm>
        </p:grpSpPr>
        <p:sp>
          <p:nvSpPr>
            <p:cNvPr id="40" name="Text 18">
              <a:extLst>
                <a:ext uri="{FF2B5EF4-FFF2-40B4-BE49-F238E27FC236}">
                  <a16:creationId xmlns:a16="http://schemas.microsoft.com/office/drawing/2014/main" id="{C93104D9-0E47-C299-7771-D463F8F3D29A}"/>
                </a:ext>
              </a:extLst>
            </p:cNvPr>
            <p:cNvSpPr/>
            <p:nvPr/>
          </p:nvSpPr>
          <p:spPr>
            <a:xfrm>
              <a:off x="7315200" y="1554480"/>
              <a:ext cx="44348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b="1" kern="0" spc="200" dirty="0">
                  <a:solidFill>
                    <a:srgbClr val="6B6B6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REPRESENTATIVE CASES</a:t>
              </a:r>
              <a:endParaRPr lang="en-US" dirty="0"/>
            </a:p>
          </p:txBody>
        </p:sp>
        <p:sp>
          <p:nvSpPr>
            <p:cNvPr id="41" name="Text 19">
              <a:extLst>
                <a:ext uri="{FF2B5EF4-FFF2-40B4-BE49-F238E27FC236}">
                  <a16:creationId xmlns:a16="http://schemas.microsoft.com/office/drawing/2014/main" id="{351649C5-DEBA-AAD4-C54F-AA60211A1B6D}"/>
                </a:ext>
              </a:extLst>
            </p:cNvPr>
            <p:cNvSpPr/>
            <p:nvPr/>
          </p:nvSpPr>
          <p:spPr>
            <a:xfrm>
              <a:off x="7315200" y="205000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Sinsa-dong, Eunpyeong-gu</a:t>
              </a:r>
              <a:endParaRPr lang="en-US" sz="1600" dirty="0"/>
            </a:p>
          </p:txBody>
        </p:sp>
        <p:sp>
          <p:nvSpPr>
            <p:cNvPr id="42" name="Text 20">
              <a:extLst>
                <a:ext uri="{FF2B5EF4-FFF2-40B4-BE49-F238E27FC236}">
                  <a16:creationId xmlns:a16="http://schemas.microsoft.com/office/drawing/2014/main" id="{1AA48CF5-5EC0-DC88-0D80-E80776157092}"/>
                </a:ext>
              </a:extLst>
            </p:cNvPr>
            <p:cNvSpPr/>
            <p:nvPr/>
          </p:nvSpPr>
          <p:spPr>
            <a:xfrm>
              <a:off x="7452360" y="235000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“Is there really no place...?”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INFO ABSENCE  ·  DIGITAL SKILLS</a:t>
              </a:r>
              <a:endParaRPr lang="en-US" sz="1400" dirty="0"/>
            </a:p>
          </p:txBody>
        </p:sp>
        <p:sp>
          <p:nvSpPr>
            <p:cNvPr id="43" name="Text 21">
              <a:extLst>
                <a:ext uri="{FF2B5EF4-FFF2-40B4-BE49-F238E27FC236}">
                  <a16:creationId xmlns:a16="http://schemas.microsoft.com/office/drawing/2014/main" id="{33957CED-D6E5-A57B-B2C3-7B99AB166035}"/>
                </a:ext>
              </a:extLst>
            </p:cNvPr>
            <p:cNvSpPr/>
            <p:nvPr/>
          </p:nvSpPr>
          <p:spPr>
            <a:xfrm>
              <a:off x="7315200" y="324621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Bongcheon-dong, Gwanak-gu</a:t>
              </a:r>
              <a:endParaRPr lang="en-US" sz="1600" dirty="0"/>
            </a:p>
          </p:txBody>
        </p:sp>
        <p:sp>
          <p:nvSpPr>
            <p:cNvPr id="44" name="Text 22">
              <a:extLst>
                <a:ext uri="{FF2B5EF4-FFF2-40B4-BE49-F238E27FC236}">
                  <a16:creationId xmlns:a16="http://schemas.microsoft.com/office/drawing/2014/main" id="{3B2C728A-62F7-F95E-A38B-6344E72E4694}"/>
                </a:ext>
              </a:extLst>
            </p:cNvPr>
            <p:cNvSpPr/>
            <p:nvPr/>
          </p:nvSpPr>
          <p:spPr>
            <a:xfrm>
              <a:off x="7452360" y="354621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“Where can I print legal documents? Regular print shops can't do it.”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PUBLIC ACCESS GAP  ·  AVAILABILITY FOR USE</a:t>
              </a:r>
              <a:endParaRPr lang="en-US" sz="1000" dirty="0"/>
            </a:p>
          </p:txBody>
        </p:sp>
        <p:sp>
          <p:nvSpPr>
            <p:cNvPr id="45" name="Text 23">
              <a:extLst>
                <a:ext uri="{FF2B5EF4-FFF2-40B4-BE49-F238E27FC236}">
                  <a16:creationId xmlns:a16="http://schemas.microsoft.com/office/drawing/2014/main" id="{0128962B-EA6C-A108-02DE-F0E84E14C13F}"/>
                </a:ext>
              </a:extLst>
            </p:cNvPr>
            <p:cNvSpPr/>
            <p:nvPr/>
          </p:nvSpPr>
          <p:spPr>
            <a:xfrm>
              <a:off x="7315200" y="4550000"/>
              <a:ext cx="4434840" cy="28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1F3864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Sillim-dong, Gwanak-gu</a:t>
              </a:r>
              <a:endParaRPr lang="en-US" sz="1600" dirty="0"/>
            </a:p>
          </p:txBody>
        </p:sp>
        <p:sp>
          <p:nvSpPr>
            <p:cNvPr id="46" name="Text 24">
              <a:extLst>
                <a:ext uri="{FF2B5EF4-FFF2-40B4-BE49-F238E27FC236}">
                  <a16:creationId xmlns:a16="http://schemas.microsoft.com/office/drawing/2014/main" id="{0A292D4D-BEEF-F40D-91EF-DA1AC99FFA83}"/>
                </a:ext>
              </a:extLst>
            </p:cNvPr>
            <p:cNvSpPr/>
            <p:nvPr/>
          </p:nvSpPr>
          <p:spPr>
            <a:xfrm>
              <a:off x="7452360" y="4850000"/>
              <a:ext cx="4297680" cy="6500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l">
                <a:buNone/>
              </a:pPr>
              <a:r>
                <a:rPr lang="en-US" sz="1400" i="1" dirty="0">
                  <a:solidFill>
                    <a:srgbClr val="33333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“Looking for a PC-bang that can do document scanning.”</a:t>
              </a:r>
              <a:endParaRPr lang="en-US" sz="1400" dirty="0"/>
            </a:p>
            <a:p>
              <a:pPr marL="0" indent="0" algn="l">
                <a:buNone/>
              </a:pPr>
              <a:r>
                <a:rPr lang="en-US" sz="1000" b="1" kern="0" spc="150" dirty="0">
                  <a:solidFill>
                    <a:srgbClr val="2E869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DEVICE ACCESS GAP  ·  DEVICES + AVAILABILITY</a:t>
              </a:r>
              <a:endParaRPr lang="en-US" sz="1000" dirty="0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IV  ·  PROGRESS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365760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status &amp; next steps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978408"/>
            <a:ext cx="594360" cy="41148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48640" y="10698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analyses underway; Phase 2 of platform text validation in progress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73152" cy="27432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/>
          <p:nvPr/>
        </p:nvSpPr>
        <p:spPr>
          <a:xfrm>
            <a:off x="73152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ANALYSIS COMPLETE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1828800"/>
            <a:ext cx="330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1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Index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districts × 6 dimensions (2023, 2024)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Composite + dimensional scores finalized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 autocorrelation validated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3152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against external benchmarks.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312920" y="1554480"/>
            <a:ext cx="73152" cy="2743200"/>
          </a:xfrm>
          <a:prstGeom prst="rect">
            <a:avLst/>
          </a:prstGeom>
          <a:solidFill>
            <a:srgbClr val="2E869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449580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◐  MAIN RESULTS DRAFTED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95800" y="1828800"/>
            <a:ext cx="3307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2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HLM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49580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 M0–M3 estimated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ICC, fixed effects, cross-level interactions complete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checks pending finalization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49580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49580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final sensitivity &amp; dong-level robustness in progress.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077200" y="1554480"/>
            <a:ext cx="73152" cy="2743200"/>
          </a:xfrm>
          <a:prstGeom prst="rect">
            <a:avLst/>
          </a:prstGeom>
          <a:solidFill>
            <a:srgbClr val="CA8A0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8260080" y="1554480"/>
            <a:ext cx="330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CA8A0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◑  PHASE 2 IN PROGRESS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260080" y="1828800"/>
            <a:ext cx="3581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3 · </a:t>
            </a:r>
            <a:r>
              <a:rPr lang="en-US" sz="1600" b="1" dirty="0">
                <a:solidFill>
                  <a:srgbClr val="142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 agent + Bayesian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60080" y="2323071"/>
            <a:ext cx="32613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– 1 complete: classification, hypothesis generation (n=100)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posterior shifts computed on validation sample</a:t>
            </a:r>
            <a:endParaRPr lang="en-US" sz="1200" dirty="0"/>
          </a:p>
          <a:p>
            <a:pPr marL="171450" indent="-171450">
              <a:spcAft>
                <a:spcPts val="3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(judge-agent triangulation on full corpus) running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260080" y="3730752"/>
            <a:ext cx="316992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8260080" y="3794760"/>
            <a:ext cx="3307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Preliminary — values may shift after Phase 2 validation.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33696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548640" y="4831497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kern="0" spc="200" dirty="0">
                <a:solidFill>
                  <a:srgbClr val="2E86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 BEFORE FINAL DELIVERABLE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548640" y="5262750"/>
            <a:ext cx="11064240" cy="7552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judge-agent triangulation on the full corpus of LLM-relevant posts</a:t>
            </a:r>
            <a:endParaRPr lang="en-US" sz="1600" dirty="0"/>
          </a:p>
          <a:p>
            <a:pPr marL="171450" indent="-171450">
              <a:spcAft>
                <a:spcPts val="500"/>
              </a:spcAft>
              <a:buSzPct val="100000"/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</a:t>
            </a:r>
            <a:r>
              <a:rPr lang="en-US" altLang="ko-KR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implications</a:t>
            </a:r>
            <a:r>
              <a:rPr lang="en-US" sz="16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refine the four preliminary directions with validated evidence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548640" y="6263640"/>
            <a:ext cx="11064240" cy="7315"/>
          </a:xfrm>
          <a:prstGeom prst="rect">
            <a:avLst/>
          </a:prstGeom>
          <a:solidFill>
            <a:srgbClr val="D0D0D0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0" descr="/home/claude/work/logo_gateway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6355080"/>
            <a:ext cx="640080" cy="411480"/>
          </a:xfrm>
          <a:prstGeom prst="rect">
            <a:avLst/>
          </a:prstGeom>
        </p:spPr>
      </p:pic>
      <p:pic>
        <p:nvPicPr>
          <p:cNvPr id="29" name="Image 1" descr="/home/claude/work/logo_eu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96144" y="6400800"/>
            <a:ext cx="1280160" cy="320040"/>
          </a:xfrm>
          <a:prstGeom prst="rect">
            <a:avLst/>
          </a:prstGeom>
        </p:spPr>
      </p:pic>
      <p:pic>
        <p:nvPicPr>
          <p:cNvPr id="30" name="Image 2" descr="/home/claude/work/logo_it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86032" y="6355080"/>
            <a:ext cx="411480" cy="411480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548640" y="6565392"/>
            <a:ext cx="1371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2620</TotalTime>
  <Words>1948</Words>
  <Application>Microsoft Macintosh PowerPoint</Application>
  <PresentationFormat>와이드스크린</PresentationFormat>
  <Paragraphs>377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HighFive — Step 3 Submission</dc:title>
  <dc:subject>PptxGenJS Presentation</dc:subject>
  <dc:creator>Team High-Five</dc:creator>
  <cp:lastModifiedBy>우준빈</cp:lastModifiedBy>
  <cp:revision>25</cp:revision>
  <dcterms:created xsi:type="dcterms:W3CDTF">2026-05-25T15:32:26Z</dcterms:created>
  <dcterms:modified xsi:type="dcterms:W3CDTF">2026-05-28T17:56:43Z</dcterms:modified>
</cp:coreProperties>
</file>