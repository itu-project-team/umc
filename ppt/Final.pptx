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1"/>
  </p:notesMasterIdLst>
  <p:sldIdLst>
    <p:sldId id="256" r:id="rId2"/>
    <p:sldId id="257" r:id="rId3"/>
    <p:sldId id="258" r:id="rId4"/>
    <p:sldId id="292" r:id="rId5"/>
    <p:sldId id="293" r:id="rId6"/>
    <p:sldId id="261" r:id="rId7"/>
    <p:sldId id="288" r:id="rId8"/>
    <p:sldId id="262" r:id="rId9"/>
    <p:sldId id="263" r:id="rId10"/>
    <p:sldId id="287" r:id="rId11"/>
    <p:sldId id="285" r:id="rId12"/>
    <p:sldId id="286" r:id="rId13"/>
    <p:sldId id="289" r:id="rId14"/>
    <p:sldId id="291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94" r:id="rId3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우준빈" initials="" lastIdx="23" clrIdx="0"/>
  <p:cmAuthor id="1" name="Jiyoon Shin" initials="" lastIdx="2" clrIdx="1"/>
  <p:cmAuthor id="2" name="우준빈" initials="우" lastIdx="1" clrIdx="2">
    <p:extLst>
      <p:ext uri="{19B8F6BF-5375-455C-9EA6-DF929625EA0E}">
        <p15:presenceInfo xmlns:p15="http://schemas.microsoft.com/office/powerpoint/2012/main" userId="S::2025321267@o365.yonsei.ac.kr::7d06a040-1a71-4491-85bc-14bc282146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07E248-7B14-439D-80B4-0DDB9BA23D15}">
  <a:tblStyle styleId="{DF07E248-7B14-439D-80B4-0DDB9BA23D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/>
    <p:restoredTop sz="94658"/>
  </p:normalViewPr>
  <p:slideViewPr>
    <p:cSldViewPr snapToGrid="0">
      <p:cViewPr>
        <p:scale>
          <a:sx n="85" d="100"/>
          <a:sy n="85" d="100"/>
        </p:scale>
        <p:origin x="167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23">
    <p:pos x="6000" y="0"/>
    <p:text>준빈 작업 예정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7">
    <p:pos x="6000" y="0"/>
    <p:text>준빈 작업 예정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22">
    <p:pos x="6000" y="0"/>
    <p:text>준빈 작업 예정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4T02:53:52.929" idx="8">
    <p:pos x="6000" y="0"/>
    <p:text>준빈 수정 예정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4T02:47:35.257" idx="14">
    <p:pos x="345" y="230"/>
    <p:text>공간적 자기상관성 그림 삽입 후 설명 추가</p:text>
  </p:cm>
  <p:cm authorId="0" dt="2026-06-15T04:07:04.331" idx="15">
    <p:pos x="5029" y="2829"/>
    <p:text>이 부분은 따로 설명 안해도 될겁니다. Key Finding 부분에서 어떤 지역x차원이 어떻게 밀집 패턴을 보이는지 서술해주시면 좋을 것 같아요!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3:27.005" idx="16">
    <p:pos x="345" y="230"/>
    <p:text>모델에 사용된 변수 표 넣고 설명 오른쪽에 불렛 표시 설명</p:text>
  </p:cm>
  <p:cm authorId="0" dt="2026-06-13T15:23:27.005" idx="17">
    <p:pos x="345" y="230"/>
    <p:text>보고서에 있음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3:50.443" idx="18">
    <p:pos x="345" y="230"/>
    <p:text>지역보다 개인 특성 효과가 더 크게 나타났다는 것 설명</p:text>
  </p:cm>
  <p:cm authorId="0" dt="2026-06-13T15:24:43.872" idx="19">
    <p:pos x="2073" y="1737"/>
    <p:text>수치에 주안점 두고 설명하지 말 것. 어떤 특성이 주요한 특성인지 설명</p:text>
  </p:cm>
  <p:cm authorId="0" dt="2026-06-13T15:24:43.872" idx="20">
    <p:pos x="2073" y="1737"/>
    <p:text>모델 4개 간 차이 설명도 좋음 -&gt; 이거 어려우면 남겨두시면 제가 작업함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9:33.914" idx="21">
    <p:pos x="345" y="230"/>
    <p:text>출처표기하신 분들 여기에 출처 모두 모아서 APA 7th 양식으로 정리할 것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eef9681bc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" name="Google Shape;9;g3eef9681bc1_0_14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f8d251b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eef8d251b6_0_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g3eef8d251b6_0_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37E1DC13-E43E-E9DF-DA0B-DA265D54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f8d251b6_0_50:notes">
            <a:extLst>
              <a:ext uri="{FF2B5EF4-FFF2-40B4-BE49-F238E27FC236}">
                <a16:creationId xmlns:a16="http://schemas.microsoft.com/office/drawing/2014/main" id="{FFE4C814-A716-931C-8F3D-4DA2825DF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eef8d251b6_0_50:notes">
            <a:extLst>
              <a:ext uri="{FF2B5EF4-FFF2-40B4-BE49-F238E27FC236}">
                <a16:creationId xmlns:a16="http://schemas.microsoft.com/office/drawing/2014/main" id="{65399CD4-46D8-6AB4-AE37-E33BB0FF7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g3eef8d251b6_0_50:notes">
            <a:extLst>
              <a:ext uri="{FF2B5EF4-FFF2-40B4-BE49-F238E27FC236}">
                <a16:creationId xmlns:a16="http://schemas.microsoft.com/office/drawing/2014/main" id="{FF23C5EE-D968-A7B4-6AE0-D703EF6D9E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71814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B58D343-AECD-6E2F-7B01-71ADB7EB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>
            <a:extLst>
              <a:ext uri="{FF2B5EF4-FFF2-40B4-BE49-F238E27FC236}">
                <a16:creationId xmlns:a16="http://schemas.microsoft.com/office/drawing/2014/main" id="{9D4276E0-59BB-2AA5-539F-E783B32D8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>
            <a:extLst>
              <a:ext uri="{FF2B5EF4-FFF2-40B4-BE49-F238E27FC236}">
                <a16:creationId xmlns:a16="http://schemas.microsoft.com/office/drawing/2014/main" id="{1D2C0F5D-2D0B-6F11-9211-C78F96567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>
            <a:extLst>
              <a:ext uri="{FF2B5EF4-FFF2-40B4-BE49-F238E27FC236}">
                <a16:creationId xmlns:a16="http://schemas.microsoft.com/office/drawing/2014/main" id="{C16058B8-B925-3EB0-949C-31966B1089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9359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ED20989-1817-B74E-2DEC-FA77E574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>
            <a:extLst>
              <a:ext uri="{FF2B5EF4-FFF2-40B4-BE49-F238E27FC236}">
                <a16:creationId xmlns:a16="http://schemas.microsoft.com/office/drawing/2014/main" id="{87A8A4F6-F118-573C-7467-AFEA87E23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>
            <a:extLst>
              <a:ext uri="{FF2B5EF4-FFF2-40B4-BE49-F238E27FC236}">
                <a16:creationId xmlns:a16="http://schemas.microsoft.com/office/drawing/2014/main" id="{8733CBBC-61A7-DB15-CDCD-FDB03ABDD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>
            <a:extLst>
              <a:ext uri="{FF2B5EF4-FFF2-40B4-BE49-F238E27FC236}">
                <a16:creationId xmlns:a16="http://schemas.microsoft.com/office/drawing/2014/main" id="{AD00122A-FAAF-9CA6-ABC4-57A0E2AF2A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14356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AD8C2B31-F37B-228B-B1E5-6961D116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C1E07FC6-B9E8-2887-ADF9-E484354FD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CDF1B32E-7FC2-A1A8-60F5-3DA8E4F8A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BA870BFA-04D1-E143-F148-0FFF5A52F2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83470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B04B234C-9DB5-7774-40C9-F4AB784F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2BEA40C6-2280-B635-8636-7B0A9FC59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99C9E8F4-45CE-DAA0-F1FB-A825C8BDD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3:notes">
            <a:extLst>
              <a:ext uri="{FF2B5EF4-FFF2-40B4-BE49-F238E27FC236}">
                <a16:creationId xmlns:a16="http://schemas.microsoft.com/office/drawing/2014/main" id="{EB87590C-A2CC-CBE9-DEA0-99FA6ADD3A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04776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ef9681b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ef9681bc1_0_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ef9681bc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eef9681bc1_0_6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1" name="Google Shape;331;g3eef9681bc1_0_6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ef9681bc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g3eef9681bc1_0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eef9681bc1_0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ef9681bc1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g3eef9681bc1_0_10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0" name="Google Shape;430;g3eef9681bc1_0_10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ef9681bc1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g3eef9681bc1_0_15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g3eef9681bc1_0_15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ef9681bc1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g3eef9681bc1_0_1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g3eef9681bc1_0_1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ef9681bc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g3eef9681bc1_0_1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g3eef9681bc1_0_1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ef9681bc1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g3eef9681bc1_0_18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g3eef9681bc1_0_1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ef9681bc1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g3eef9681bc1_0_19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eef9681bc1_0_1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ef9681bc1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g3eef9681bc1_0_20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g3eef9681bc1_0_20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ef9681bc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ef9681bc1_0_14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comments" Target="../comments/commen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3.png"/><Relationship Id="rId7" Type="http://schemas.openxmlformats.org/officeDocument/2006/relationships/comments" Target="../comments/commen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comments" Target="../comments/commen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1471050" y="1013200"/>
            <a:ext cx="9193200" cy="4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/>
          </a:p>
        </p:txBody>
      </p:sp>
      <p:sp>
        <p:nvSpPr>
          <p:cNvPr id="12" name="TextBox 11"/>
          <p:cNvSpPr txBox="1"/>
          <p:nvPr/>
        </p:nvSpPr>
        <p:spPr>
          <a:xfrm>
            <a:off x="1350000" y="1180000"/>
            <a:ext cx="94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400" b="1">
                <a:solidFill>
                  <a:srgbClr val="0B3A5B"/>
                </a:solidFill>
                <a:latin typeface="Malgun Gothic"/>
              </a:rPr>
              <a:t>서울 초연결 도시의 UMC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0000" y="1920000"/>
            <a:ext cx="8650000" cy="4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006FA0"/>
                </a:solidFill>
                <a:latin typeface="Malgun Gothic"/>
              </a:rPr>
              <a:t>Universal and Meaningful Connectivity 통합 방법론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0000" y="2520000"/>
            <a:ext cx="825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555F69"/>
                </a:solidFill>
                <a:latin typeface="Malgun Gothic"/>
              </a:rPr>
              <a:t>ITU UMC Data Hackathon 2026 | 서울 25개 자치구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0000" y="3650000"/>
            <a:ext cx="270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000" y="3650000"/>
            <a:ext cx="76200" cy="10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0000" y="3795000"/>
            <a:ext cx="24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Part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0000" y="4140000"/>
            <a:ext cx="24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555F69"/>
                </a:solidFill>
                <a:latin typeface="Malgun Gothic"/>
              </a:rPr>
              <a:t>• 자치구 UMC 지수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0000" y="3650000"/>
            <a:ext cx="270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00" y="3650000"/>
            <a:ext cx="76200" cy="10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0000" y="3795000"/>
            <a:ext cx="24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Part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0" y="4140000"/>
            <a:ext cx="24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555F69"/>
                </a:solidFill>
                <a:latin typeface="Malgun Gothic"/>
              </a:rPr>
              <a:t>• 개인-자치구 HLM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00000" y="3650000"/>
            <a:ext cx="270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00000" y="3650000"/>
            <a:ext cx="76200" cy="10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0000" y="3795000"/>
            <a:ext cx="24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Part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0000" y="4140000"/>
            <a:ext cx="242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>
                <a:solidFill>
                  <a:srgbClr val="555F69"/>
                </a:solidFill>
                <a:latin typeface="Malgun Gothic"/>
              </a:rPr>
              <a:t>• 플랫폼 텍스트 · EB 신호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00000" y="5480000"/>
            <a:ext cx="69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555F69"/>
                </a:solidFill>
                <a:latin typeface="Malgun Gothic"/>
              </a:rPr>
              <a:t>인프라 접근 이후의 의미 있는 이용, 역량, 안전, 비용 부담을 함께 읽는 발표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p_problem_q_card_3_bar">
            <a:extLst>
              <a:ext uri="{FF2B5EF4-FFF2-40B4-BE49-F238E27FC236}">
                <a16:creationId xmlns:a16="http://schemas.microsoft.com/office/drawing/2014/main" id="{004E4713-EB49-3642-8205-B0E9535FAC08}"/>
              </a:ext>
            </a:extLst>
          </p:cNvPr>
          <p:cNvSpPr/>
          <p:nvPr/>
        </p:nvSpPr>
        <p:spPr>
          <a:xfrm>
            <a:off x="6553200" y="44894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9" name="bp_problem_q_card_3">
            <a:extLst>
              <a:ext uri="{FF2B5EF4-FFF2-40B4-BE49-F238E27FC236}">
                <a16:creationId xmlns:a16="http://schemas.microsoft.com/office/drawing/2014/main" id="{0EB1770C-D7CF-3D4F-9A31-9970534D3BAD}"/>
              </a:ext>
            </a:extLst>
          </p:cNvPr>
          <p:cNvSpPr/>
          <p:nvPr/>
        </p:nvSpPr>
        <p:spPr>
          <a:xfrm>
            <a:off x="6553200" y="4489450"/>
            <a:ext cx="505968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8" name="bp_problem_q_card_2_bar">
            <a:extLst>
              <a:ext uri="{FF2B5EF4-FFF2-40B4-BE49-F238E27FC236}">
                <a16:creationId xmlns:a16="http://schemas.microsoft.com/office/drawing/2014/main" id="{45F60651-2919-F747-8230-797454F7434C}"/>
              </a:ext>
            </a:extLst>
          </p:cNvPr>
          <p:cNvSpPr/>
          <p:nvPr/>
        </p:nvSpPr>
        <p:spPr>
          <a:xfrm>
            <a:off x="6553200" y="32067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7" name="bp_problem_q_card_2">
            <a:extLst>
              <a:ext uri="{FF2B5EF4-FFF2-40B4-BE49-F238E27FC236}">
                <a16:creationId xmlns:a16="http://schemas.microsoft.com/office/drawing/2014/main" id="{901037BC-58A8-EE40-A53E-30D044612D91}"/>
              </a:ext>
            </a:extLst>
          </p:cNvPr>
          <p:cNvSpPr/>
          <p:nvPr/>
        </p:nvSpPr>
        <p:spPr>
          <a:xfrm>
            <a:off x="6553200" y="3206750"/>
            <a:ext cx="505968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6" name="bp_problem_q_card_1_bar">
            <a:extLst>
              <a:ext uri="{FF2B5EF4-FFF2-40B4-BE49-F238E27FC236}">
                <a16:creationId xmlns:a16="http://schemas.microsoft.com/office/drawing/2014/main" id="{23885771-FCAA-3841-A9A0-BE7FAD68CA54}"/>
              </a:ext>
            </a:extLst>
          </p:cNvPr>
          <p:cNvSpPr/>
          <p:nvPr/>
        </p:nvSpPr>
        <p:spPr>
          <a:xfrm>
            <a:off x="6553200" y="19240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5" name="bp_problem_q_card_1">
            <a:extLst>
              <a:ext uri="{FF2B5EF4-FFF2-40B4-BE49-F238E27FC236}">
                <a16:creationId xmlns:a16="http://schemas.microsoft.com/office/drawing/2014/main" id="{F46D7CC5-2D03-9A44-B91B-B7BBEBF2F3A9}"/>
              </a:ext>
            </a:extLst>
          </p:cNvPr>
          <p:cNvSpPr/>
          <p:nvPr/>
        </p:nvSpPr>
        <p:spPr>
          <a:xfrm>
            <a:off x="6553200" y="1924050"/>
            <a:ext cx="505968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4" name="bp_problem_photo_card">
            <a:extLst>
              <a:ext uri="{FF2B5EF4-FFF2-40B4-BE49-F238E27FC236}">
                <a16:creationId xmlns:a16="http://schemas.microsoft.com/office/drawing/2014/main" id="{4D7434D9-ACCE-EB43-83D1-4B830D2BB730}"/>
              </a:ext>
            </a:extLst>
          </p:cNvPr>
          <p:cNvSpPr/>
          <p:nvPr/>
        </p:nvSpPr>
        <p:spPr>
          <a:xfrm>
            <a:off x="548640" y="1924049"/>
            <a:ext cx="5848350" cy="4030521"/>
          </a:xfrm>
          <a:prstGeom prst="rect">
            <a:avLst/>
          </a:prstGeom>
          <a:solidFill>
            <a:srgbClr val="F7FAFC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3" name="bp_problem_question_accent">
            <a:extLst>
              <a:ext uri="{FF2B5EF4-FFF2-40B4-BE49-F238E27FC236}">
                <a16:creationId xmlns:a16="http://schemas.microsoft.com/office/drawing/2014/main" id="{CFC1C8FF-46A9-6343-A929-144B6E295617}"/>
              </a:ext>
            </a:extLst>
          </p:cNvPr>
          <p:cNvSpPr/>
          <p:nvPr/>
        </p:nvSpPr>
        <p:spPr>
          <a:xfrm>
            <a:off x="548640" y="1225550"/>
            <a:ext cx="76200" cy="5588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52" name="bp_problem_question_band">
            <a:extLst>
              <a:ext uri="{FF2B5EF4-FFF2-40B4-BE49-F238E27FC236}">
                <a16:creationId xmlns:a16="http://schemas.microsoft.com/office/drawing/2014/main" id="{A62741F5-7C5A-AA46-816C-E131B66D77FC}"/>
              </a:ext>
            </a:extLst>
          </p:cNvPr>
          <p:cNvSpPr/>
          <p:nvPr/>
        </p:nvSpPr>
        <p:spPr>
          <a:xfrm>
            <a:off x="548640" y="1225550"/>
            <a:ext cx="11064240" cy="558800"/>
          </a:xfrm>
          <a:prstGeom prst="rect">
            <a:avLst/>
          </a:prstGeom>
          <a:solidFill>
            <a:srgbClr val="F3F8FA"/>
          </a:solidFill>
          <a:ln w="9525" cap="flat" cmpd="sng" algn="ctr">
            <a:solidFill>
              <a:srgbClr val="D6E5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7" name="Google Shape;17;p4"/>
          <p:cNvSpPr/>
          <p:nvPr/>
        </p:nvSpPr>
        <p:spPr>
          <a:xfrm>
            <a:off x="548650" y="365750"/>
            <a:ext cx="3449192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연구 질문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31520" y="133985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>
              <a:buClr>
                <a:srgbClr val="6B6B6B"/>
              </a:buClr>
              <a:buSzPts val="1400"/>
            </a:pPr>
            <a:r>
              <a:rPr sz="1700" b="1">
                <a:solidFill>
                  <a:srgbClr val="0B3A5B"/>
                </a:solidFill>
                <a:latin typeface="Malgun Gothic"/>
              </a:rPr>
              <a:t>인프라 접근성이 높은 도시에서도 의미 있는 연결성 격차는 어떻게 측정되는가?</a:t>
            </a:r>
            <a:endParaRPr sz="2000"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  <a:sym typeface="Calibri"/>
            </a:endParaRPr>
          </a:p>
        </p:txBody>
      </p:sp>
      <p:pic>
        <p:nvPicPr>
          <p:cNvPr id="2050" name="Picture 2" descr="서울 여행, 현대와 전통이 공존하는 도시의 아름다움">
            <a:extLst>
              <a:ext uri="{FF2B5EF4-FFF2-40B4-BE49-F238E27FC236}">
                <a16:creationId xmlns:a16="http://schemas.microsoft.com/office/drawing/2014/main" id="{4B0389EF-5A25-7959-E950-EE42D5078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2057400"/>
            <a:ext cx="5600700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9;p4">
            <a:extLst>
              <a:ext uri="{FF2B5EF4-FFF2-40B4-BE49-F238E27FC236}">
                <a16:creationId xmlns:a16="http://schemas.microsoft.com/office/drawing/2014/main" id="{0B778FEE-3602-6851-1320-8344BBA30294}"/>
              </a:ext>
            </a:extLst>
          </p:cNvPr>
          <p:cNvSpPr/>
          <p:nvPr/>
        </p:nvSpPr>
        <p:spPr>
          <a:xfrm>
            <a:off x="782320" y="5348633"/>
            <a:ext cx="5486400" cy="62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9" name="Google Shape;32;p4">
            <a:extLst>
              <a:ext uri="{FF2B5EF4-FFF2-40B4-BE49-F238E27FC236}">
                <a16:creationId xmlns:a16="http://schemas.microsoft.com/office/drawing/2014/main" id="{42D306AB-BA82-49ED-82B4-19F63CBC75C8}"/>
              </a:ext>
            </a:extLst>
          </p:cNvPr>
          <p:cNvSpPr/>
          <p:nvPr/>
        </p:nvSpPr>
        <p:spPr>
          <a:xfrm>
            <a:off x="6772909" y="21272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3;p4">
            <a:extLst>
              <a:ext uri="{FF2B5EF4-FFF2-40B4-BE49-F238E27FC236}">
                <a16:creationId xmlns:a16="http://schemas.microsoft.com/office/drawing/2014/main" id="{B018AC8B-BF28-09BA-04DB-7910731F8416}"/>
              </a:ext>
            </a:extLst>
          </p:cNvPr>
          <p:cNvSpPr/>
          <p:nvPr/>
        </p:nvSpPr>
        <p:spPr>
          <a:xfrm>
            <a:off x="7010400" y="20891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sz="1300" b="1">
                <a:solidFill>
                  <a:srgbClr val="006FA0"/>
                </a:solidFill>
                <a:latin typeface="Malgun Gothic"/>
              </a:rPr>
              <a:t>Q1 — 자치구 UMC 측정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4;p4">
            <a:extLst>
              <a:ext uri="{FF2B5EF4-FFF2-40B4-BE49-F238E27FC236}">
                <a16:creationId xmlns:a16="http://schemas.microsoft.com/office/drawing/2014/main" id="{0F0DFA65-F1EC-D8D6-3408-8E4017C188DD}"/>
              </a:ext>
            </a:extLst>
          </p:cNvPr>
          <p:cNvSpPr/>
          <p:nvPr/>
        </p:nvSpPr>
        <p:spPr>
          <a:xfrm>
            <a:off x="7010400" y="241935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55F69"/>
                </a:solidFill>
                <a:latin typeface="Malgun Gothic"/>
              </a:rPr>
              <a:t>25개 자치구의 UMC 6차원 조건은 어디서, 어떤 차원에서 다른가?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44" name="Google Shape;32;p4">
            <a:extLst>
              <a:ext uri="{FF2B5EF4-FFF2-40B4-BE49-F238E27FC236}">
                <a16:creationId xmlns:a16="http://schemas.microsoft.com/office/drawing/2014/main" id="{5C0231CD-5A58-596C-E389-A60CCC2DAF0C}"/>
              </a:ext>
            </a:extLst>
          </p:cNvPr>
          <p:cNvSpPr/>
          <p:nvPr/>
        </p:nvSpPr>
        <p:spPr>
          <a:xfrm>
            <a:off x="6772909" y="34099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3;p4">
            <a:extLst>
              <a:ext uri="{FF2B5EF4-FFF2-40B4-BE49-F238E27FC236}">
                <a16:creationId xmlns:a16="http://schemas.microsoft.com/office/drawing/2014/main" id="{D81A3160-642B-9A63-3C1C-FB0AC5380B33}"/>
              </a:ext>
            </a:extLst>
          </p:cNvPr>
          <p:cNvSpPr/>
          <p:nvPr/>
        </p:nvSpPr>
        <p:spPr>
          <a:xfrm>
            <a:off x="7010400" y="33718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sz="1300" b="1">
                <a:solidFill>
                  <a:srgbClr val="006FA0"/>
                </a:solidFill>
                <a:latin typeface="Malgun Gothic"/>
              </a:rPr>
              <a:t>Q2 — 개인·지역 요인 분리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4;p4">
            <a:extLst>
              <a:ext uri="{FF2B5EF4-FFF2-40B4-BE49-F238E27FC236}">
                <a16:creationId xmlns:a16="http://schemas.microsoft.com/office/drawing/2014/main" id="{1C4BBC8C-0DEA-F80E-B662-8A6778A8E369}"/>
              </a:ext>
            </a:extLst>
          </p:cNvPr>
          <p:cNvSpPr/>
          <p:nvPr/>
        </p:nvSpPr>
        <p:spPr>
          <a:xfrm>
            <a:off x="7010400" y="370205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/>
            <a:r>
              <a:rPr sz="1200" b="0">
                <a:solidFill>
                  <a:srgbClr val="555F69"/>
                </a:solidFill>
                <a:latin typeface="Malgun Gothic"/>
              </a:rPr>
              <a:t>디지털 이용 격차는 개인 특성인가, 자치구 맥락인가?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47" name="Google Shape;32;p4">
            <a:extLst>
              <a:ext uri="{FF2B5EF4-FFF2-40B4-BE49-F238E27FC236}">
                <a16:creationId xmlns:a16="http://schemas.microsoft.com/office/drawing/2014/main" id="{97C7F6C8-4CE2-B225-CA55-02432C049672}"/>
              </a:ext>
            </a:extLst>
          </p:cNvPr>
          <p:cNvSpPr/>
          <p:nvPr/>
        </p:nvSpPr>
        <p:spPr>
          <a:xfrm>
            <a:off x="6772909" y="46926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3;p4">
            <a:extLst>
              <a:ext uri="{FF2B5EF4-FFF2-40B4-BE49-F238E27FC236}">
                <a16:creationId xmlns:a16="http://schemas.microsoft.com/office/drawing/2014/main" id="{7FE59C51-090C-61BC-BBBA-BA1E8C5DCD92}"/>
              </a:ext>
            </a:extLst>
          </p:cNvPr>
          <p:cNvSpPr/>
          <p:nvPr/>
        </p:nvSpPr>
        <p:spPr>
          <a:xfrm>
            <a:off x="7010400" y="46545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sz="1300" b="1">
                <a:solidFill>
                  <a:srgbClr val="006FA0"/>
                </a:solidFill>
                <a:latin typeface="Malgun Gothic"/>
              </a:rPr>
              <a:t>Q3 — 생활세계 신호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4;p4">
            <a:extLst>
              <a:ext uri="{FF2B5EF4-FFF2-40B4-BE49-F238E27FC236}">
                <a16:creationId xmlns:a16="http://schemas.microsoft.com/office/drawing/2014/main" id="{1F411CB8-59F4-6DED-931D-67CE16D4ACF4}"/>
              </a:ext>
            </a:extLst>
          </p:cNvPr>
          <p:cNvSpPr/>
          <p:nvPr/>
        </p:nvSpPr>
        <p:spPr>
          <a:xfrm>
            <a:off x="7010400" y="4984750"/>
            <a:ext cx="4318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555F69"/>
                </a:solidFill>
                <a:latin typeface="Malgun Gothic"/>
              </a:rPr>
              <a:t>행정·서베이가 포착하지 못하는 플랫폼 가시 경험은 어디서 어긋나는가?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" descr="/home/claude/work/logo_gateway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/home/claude/work/logo_eu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/home/claude/work/logo_itu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1" name="Rectangle 205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TextBox 2051"/>
          <p:cNvSpPr txBox="1"/>
          <p:nvPr/>
        </p:nvSpPr>
        <p:spPr>
          <a:xfrm>
            <a:off x="780000" y="5320000"/>
            <a:ext cx="540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서울은 이미 연결된 도시로 보이지만, 시민이 디지털 서비스를 의미 있고 안전하며 부담 가능한 방식으로 이용하는지는 별도의 측정 문제가 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핵심 주장 한 장 요약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5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352180" y="3578996"/>
            <a:ext cx="1054805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2" name="Google Shape;57;p5">
            <a:extLst>
              <a:ext uri="{FF2B5EF4-FFF2-40B4-BE49-F238E27FC236}">
                <a16:creationId xmlns:a16="http://schemas.microsoft.com/office/drawing/2014/main" id="{FC418B3F-F04A-AD41-E33E-01053E742567}"/>
              </a:ext>
            </a:extLst>
          </p:cNvPr>
          <p:cNvSpPr txBox="1"/>
          <p:nvPr/>
        </p:nvSpPr>
        <p:spPr>
          <a:xfrm>
            <a:off x="2183162" y="1818616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" name="Google Shape;57;p5">
            <a:extLst>
              <a:ext uri="{FF2B5EF4-FFF2-40B4-BE49-F238E27FC236}">
                <a16:creationId xmlns:a16="http://schemas.microsoft.com/office/drawing/2014/main" id="{D4EA9817-F2C8-1466-9303-DE3E7B5F345B}"/>
              </a:ext>
            </a:extLst>
          </p:cNvPr>
          <p:cNvSpPr txBox="1"/>
          <p:nvPr/>
        </p:nvSpPr>
        <p:spPr>
          <a:xfrm>
            <a:off x="2261550" y="5417864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" name="왼쪽 중괄호[L] 3">
            <a:extLst>
              <a:ext uri="{FF2B5EF4-FFF2-40B4-BE49-F238E27FC236}">
                <a16:creationId xmlns:a16="http://schemas.microsoft.com/office/drawing/2014/main" id="{57E2AC2E-EA47-32D5-29CE-322C17046EFB}"/>
              </a:ext>
            </a:extLst>
          </p:cNvPr>
          <p:cNvSpPr/>
          <p:nvPr/>
        </p:nvSpPr>
        <p:spPr>
          <a:xfrm>
            <a:off x="1406985" y="2052511"/>
            <a:ext cx="776177" cy="3593804"/>
          </a:xfrm>
          <a:prstGeom prst="leftBrace">
            <a:avLst>
              <a:gd name="adj1" fmla="val 8333"/>
              <a:gd name="adj2" fmla="val 502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 lIns="0" rIns="0" tIns="0" bIns="0"/>
          <a:lstStyle/>
          <a:p>
            <a:pPr algn="ctr"/>
            <a:endParaRPr kumimoji="1" lang="ko-KR" altLang="en-US"/>
          </a:p>
        </p:txBody>
      </p:sp>
      <p:sp>
        <p:nvSpPr>
          <p:cNvPr id="6" name="Google Shape;57;p5">
            <a:extLst>
              <a:ext uri="{FF2B5EF4-FFF2-40B4-BE49-F238E27FC236}">
                <a16:creationId xmlns:a16="http://schemas.microsoft.com/office/drawing/2014/main" id="{56755C74-F5C2-1A75-90EF-AE6DF9759DF6}"/>
              </a:ext>
            </a:extLst>
          </p:cNvPr>
          <p:cNvSpPr txBox="1"/>
          <p:nvPr/>
        </p:nvSpPr>
        <p:spPr>
          <a:xfrm>
            <a:off x="4941519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7" name="Google Shape;57;p5">
            <a:extLst>
              <a:ext uri="{FF2B5EF4-FFF2-40B4-BE49-F238E27FC236}">
                <a16:creationId xmlns:a16="http://schemas.microsoft.com/office/drawing/2014/main" id="{204C6B49-9275-1519-E606-B2063026ADCB}"/>
              </a:ext>
            </a:extLst>
          </p:cNvPr>
          <p:cNvSpPr txBox="1"/>
          <p:nvPr/>
        </p:nvSpPr>
        <p:spPr>
          <a:xfrm>
            <a:off x="7355110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8" name="Google Shape;57;p5">
            <a:extLst>
              <a:ext uri="{FF2B5EF4-FFF2-40B4-BE49-F238E27FC236}">
                <a16:creationId xmlns:a16="http://schemas.microsoft.com/office/drawing/2014/main" id="{10B77A28-5FAD-38A1-0456-AF045EA29D0F}"/>
              </a:ext>
            </a:extLst>
          </p:cNvPr>
          <p:cNvSpPr txBox="1"/>
          <p:nvPr/>
        </p:nvSpPr>
        <p:spPr>
          <a:xfrm>
            <a:off x="9747436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9" name="Google Shape;57;p5">
            <a:extLst>
              <a:ext uri="{FF2B5EF4-FFF2-40B4-BE49-F238E27FC236}">
                <a16:creationId xmlns:a16="http://schemas.microsoft.com/office/drawing/2014/main" id="{A2C5A472-4167-AF47-FEC3-9F7A2ED14142}"/>
              </a:ext>
            </a:extLst>
          </p:cNvPr>
          <p:cNvSpPr txBox="1"/>
          <p:nvPr/>
        </p:nvSpPr>
        <p:spPr>
          <a:xfrm>
            <a:off x="5782524" y="1492419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187045E2-2E85-9B75-00E1-B32A0E5AEB93}"/>
              </a:ext>
            </a:extLst>
          </p:cNvPr>
          <p:cNvSpPr/>
          <p:nvPr/>
        </p:nvSpPr>
        <p:spPr>
          <a:xfrm>
            <a:off x="4436459" y="1888297"/>
            <a:ext cx="665354" cy="3284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endParaRPr kumimoji="1" lang="ko-KR" altLang="en-US"/>
          </a:p>
        </p:txBody>
      </p:sp>
      <p:sp>
        <p:nvSpPr>
          <p:cNvPr id="11" name="Google Shape;57;p5">
            <a:extLst>
              <a:ext uri="{FF2B5EF4-FFF2-40B4-BE49-F238E27FC236}">
                <a16:creationId xmlns:a16="http://schemas.microsoft.com/office/drawing/2014/main" id="{26B389BA-8533-F4B9-CC88-D00397278B1A}"/>
              </a:ext>
            </a:extLst>
          </p:cNvPr>
          <p:cNvSpPr txBox="1"/>
          <p:nvPr/>
        </p:nvSpPr>
        <p:spPr>
          <a:xfrm>
            <a:off x="5782524" y="2553499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60000" y="560000"/>
            <a:ext cx="65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700" b="1">
                <a:solidFill>
                  <a:srgbClr val="0B3A5B"/>
                </a:solidFill>
                <a:latin typeface="Malgun Gothic"/>
              </a:rPr>
              <a:t>서울의 UMC 격차는 하나의 지표나 단일 모형으로 닫히지 않는다.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0000" y="162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0000" y="1620000"/>
            <a:ext cx="76200" cy="31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40000" y="176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1. 자치구 격차는 다차원적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0000" y="211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종합 점수보다 차원별 약점이 더 중요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Digital Desert는 잠정적 타기팅 라벨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연결성보다 Devices, Safety, Affordability가 핵심 약점으로 드러남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450000" y="162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50000" y="1620000"/>
            <a:ext cx="76200" cy="31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10000" y="176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2. 개인 취약성이 지배적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0000" y="211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디지털 이용 변이의 대부분은 자치구 내부 개인 간 차이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낮은 학력, 고령, 1인 가구, 주거 조건의 중첩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지표는 원인보다 맥락적 타기팅 신호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20000" y="162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20000" y="1620000"/>
            <a:ext cx="76200" cy="31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80000" y="176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 플랫폼 신호는 경로를 보완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80000" y="211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행정 prior와 플랫폼 observed rate를 EB로 비교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Devices·Digital Skills에서 괴리가 가장 큼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유병률 추정이 아니라 탐색적 증거 통합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0000" y="5300000"/>
            <a:ext cx="90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3A5B"/>
                </a:solidFill>
                <a:latin typeface="Malgun Gothic"/>
              </a:rPr>
              <a:t>정책 논리: 취약 개인 우선 → 자치구 UMC 프로필로 장소 민감형 타기팅 → 역량·안전·비용·접근 지원 결합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4C0663C8-9EE8-63F2-CE80-D4941539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p_goal_meta_takeaway">
            <a:extLst>
              <a:ext uri="{FF2B5EF4-FFF2-40B4-BE49-F238E27FC236}">
                <a16:creationId xmlns:a16="http://schemas.microsoft.com/office/drawing/2014/main" id="{FC6C91A0-9E96-C149-8EE6-C3D5AED0DE42}"/>
              </a:ext>
            </a:extLst>
          </p:cNvPr>
          <p:cNvSpPr/>
          <p:nvPr/>
        </p:nvSpPr>
        <p:spPr>
          <a:xfrm>
            <a:off x="548640" y="5486400"/>
            <a:ext cx="11064240" cy="558800"/>
          </a:xfrm>
          <a:prstGeom prst="rect">
            <a:avLst/>
          </a:prstGeom>
          <a:solidFill>
            <a:srgbClr val="14263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7" name="bp_goal_meta_process_bg">
            <a:extLst>
              <a:ext uri="{FF2B5EF4-FFF2-40B4-BE49-F238E27FC236}">
                <a16:creationId xmlns:a16="http://schemas.microsoft.com/office/drawing/2014/main" id="{61246AF2-4B5A-1542-B658-3CB9C123D6C6}"/>
              </a:ext>
            </a:extLst>
          </p:cNvPr>
          <p:cNvSpPr/>
          <p:nvPr/>
        </p:nvSpPr>
        <p:spPr>
          <a:xfrm>
            <a:off x="548640" y="4191000"/>
            <a:ext cx="11064240" cy="1054100"/>
          </a:xfrm>
          <a:prstGeom prst="rect">
            <a:avLst/>
          </a:prstGeom>
          <a:solidFill>
            <a:srgbClr val="F7FAFC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4" name="bp_goal_meta_card_3_top">
            <a:extLst>
              <a:ext uri="{FF2B5EF4-FFF2-40B4-BE49-F238E27FC236}">
                <a16:creationId xmlns:a16="http://schemas.microsoft.com/office/drawing/2014/main" id="{86663449-52B5-DF46-A4AB-1E0C2B2FB230}"/>
              </a:ext>
            </a:extLst>
          </p:cNvPr>
          <p:cNvSpPr/>
          <p:nvPr/>
        </p:nvSpPr>
        <p:spPr>
          <a:xfrm>
            <a:off x="818388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3" name="bp_goal_meta_card_3">
            <a:extLst>
              <a:ext uri="{FF2B5EF4-FFF2-40B4-BE49-F238E27FC236}">
                <a16:creationId xmlns:a16="http://schemas.microsoft.com/office/drawing/2014/main" id="{5C7DD8BA-44BB-354B-A625-02DDF0866D33}"/>
              </a:ext>
            </a:extLst>
          </p:cNvPr>
          <p:cNvSpPr/>
          <p:nvPr/>
        </p:nvSpPr>
        <p:spPr>
          <a:xfrm>
            <a:off x="818388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20" name="bp_goal_meta_card_2_top">
            <a:extLst>
              <a:ext uri="{FF2B5EF4-FFF2-40B4-BE49-F238E27FC236}">
                <a16:creationId xmlns:a16="http://schemas.microsoft.com/office/drawing/2014/main" id="{55F0DE7D-B7CF-4947-9BA9-AFF6A59C6EDF}"/>
              </a:ext>
            </a:extLst>
          </p:cNvPr>
          <p:cNvSpPr/>
          <p:nvPr/>
        </p:nvSpPr>
        <p:spPr>
          <a:xfrm>
            <a:off x="436626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9" name="bp_goal_meta_card_2">
            <a:extLst>
              <a:ext uri="{FF2B5EF4-FFF2-40B4-BE49-F238E27FC236}">
                <a16:creationId xmlns:a16="http://schemas.microsoft.com/office/drawing/2014/main" id="{8C8762AD-3FC1-5D48-9FF8-2E44BE2BDA9B}"/>
              </a:ext>
            </a:extLst>
          </p:cNvPr>
          <p:cNvSpPr/>
          <p:nvPr/>
        </p:nvSpPr>
        <p:spPr>
          <a:xfrm>
            <a:off x="436626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6" name="bp_goal_meta_card_1_top">
            <a:extLst>
              <a:ext uri="{FF2B5EF4-FFF2-40B4-BE49-F238E27FC236}">
                <a16:creationId xmlns:a16="http://schemas.microsoft.com/office/drawing/2014/main" id="{C16645F5-8704-C64A-9EC8-20795C69606A}"/>
              </a:ext>
            </a:extLst>
          </p:cNvPr>
          <p:cNvSpPr/>
          <p:nvPr/>
        </p:nvSpPr>
        <p:spPr>
          <a:xfrm>
            <a:off x="54864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5" name="bp_goal_meta_card_1">
            <a:extLst>
              <a:ext uri="{FF2B5EF4-FFF2-40B4-BE49-F238E27FC236}">
                <a16:creationId xmlns:a16="http://schemas.microsoft.com/office/drawing/2014/main" id="{B3A8671E-717B-6E47-B57F-97C816F92F6E}"/>
              </a:ext>
            </a:extLst>
          </p:cNvPr>
          <p:cNvSpPr/>
          <p:nvPr/>
        </p:nvSpPr>
        <p:spPr>
          <a:xfrm>
            <a:off x="54864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3" name="bp_goal_meta_band_accent">
            <a:extLst>
              <a:ext uri="{FF2B5EF4-FFF2-40B4-BE49-F238E27FC236}">
                <a16:creationId xmlns:a16="http://schemas.microsoft.com/office/drawing/2014/main" id="{E2590B86-C392-B146-9926-59E0BADD4CD7}"/>
              </a:ext>
            </a:extLst>
          </p:cNvPr>
          <p:cNvSpPr/>
          <p:nvPr/>
        </p:nvSpPr>
        <p:spPr>
          <a:xfrm>
            <a:off x="548640" y="1206500"/>
            <a:ext cx="76200" cy="736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2" name="bp_goal_meta_band">
            <a:extLst>
              <a:ext uri="{FF2B5EF4-FFF2-40B4-BE49-F238E27FC236}">
                <a16:creationId xmlns:a16="http://schemas.microsoft.com/office/drawing/2014/main" id="{2EF0821C-9B35-5841-8098-22D6DB755211}"/>
              </a:ext>
            </a:extLst>
          </p:cNvPr>
          <p:cNvSpPr/>
          <p:nvPr/>
        </p:nvSpPr>
        <p:spPr>
          <a:xfrm>
            <a:off x="548640" y="1206500"/>
            <a:ext cx="11064240" cy="736600"/>
          </a:xfrm>
          <a:prstGeom prst="rect">
            <a:avLst/>
          </a:prstGeom>
          <a:solidFill>
            <a:srgbClr val="F3F8FA"/>
          </a:solidFill>
          <a:ln w="9525" cap="flat" cmpd="sng" algn="ctr">
            <a:solidFill>
              <a:srgbClr val="D6E5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14" name="bp_goal_meta_summary">
            <a:extLst>
              <a:ext uri="{FF2B5EF4-FFF2-40B4-BE49-F238E27FC236}">
                <a16:creationId xmlns:a16="http://schemas.microsoft.com/office/drawing/2014/main" id="{66137970-0E51-4F4E-8157-C8B18DF74C3E}"/>
              </a:ext>
            </a:extLst>
          </p:cNvPr>
          <p:cNvSpPr txBox="1"/>
          <p:nvPr/>
        </p:nvSpPr>
        <p:spPr>
          <a:xfrm>
            <a:off x="3632200" y="1320800"/>
            <a:ext cx="7620000" cy="4318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fontScale="77500" lnSpcReduction="20000"/>
          </a:bodyPr>
          <a:lstStyle/>
          <a:p>
            <a:pPr algn="l"/>
            <a:endParaRPr lang="ko-KR" altLang="en-US" sz="1600" b="1">
              <a:solidFill>
                <a:srgbClr val="14263D"/>
              </a:solidFill>
            </a:endParaRPr>
          </a:p>
        </p:txBody>
      </p:sp>
      <p:sp>
        <p:nvSpPr>
          <p:cNvPr id="17" name="bp_goal_meta_card_1_head">
            <a:extLst>
              <a:ext uri="{FF2B5EF4-FFF2-40B4-BE49-F238E27FC236}">
                <a16:creationId xmlns:a16="http://schemas.microsoft.com/office/drawing/2014/main" id="{17FF7A76-CDBB-D344-B18A-5B769DB03DC4}"/>
              </a:ext>
            </a:extLst>
          </p:cNvPr>
          <p:cNvSpPr txBox="1"/>
          <p:nvPr/>
        </p:nvSpPr>
        <p:spPr>
          <a:xfrm>
            <a:off x="77724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18" name="bp_goal_meta_card_1_body">
            <a:extLst>
              <a:ext uri="{FF2B5EF4-FFF2-40B4-BE49-F238E27FC236}">
                <a16:creationId xmlns:a16="http://schemas.microsoft.com/office/drawing/2014/main" id="{73EC13BF-ACC6-0B49-B83F-75565A7B6CB5}"/>
              </a:ext>
            </a:extLst>
          </p:cNvPr>
          <p:cNvSpPr txBox="1"/>
          <p:nvPr/>
        </p:nvSpPr>
        <p:spPr>
          <a:xfrm>
            <a:off x="77724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  <a:endParaRPr lang="ko-KR" altLang="en-US" sz="1350" dirty="0">
              <a:solidFill>
                <a:srgbClr val="14263D"/>
              </a:solidFill>
            </a:endParaRPr>
          </a:p>
        </p:txBody>
      </p:sp>
      <p:sp>
        <p:nvSpPr>
          <p:cNvPr id="21" name="bp_goal_meta_card_2_head">
            <a:extLst>
              <a:ext uri="{FF2B5EF4-FFF2-40B4-BE49-F238E27FC236}">
                <a16:creationId xmlns:a16="http://schemas.microsoft.com/office/drawing/2014/main" id="{63F25280-DCD5-9040-B068-B9159ECCEC15}"/>
              </a:ext>
            </a:extLst>
          </p:cNvPr>
          <p:cNvSpPr txBox="1"/>
          <p:nvPr/>
        </p:nvSpPr>
        <p:spPr>
          <a:xfrm>
            <a:off x="459486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22" name="bp_goal_meta_card_2_body">
            <a:extLst>
              <a:ext uri="{FF2B5EF4-FFF2-40B4-BE49-F238E27FC236}">
                <a16:creationId xmlns:a16="http://schemas.microsoft.com/office/drawing/2014/main" id="{3CE15BB2-33A7-3A46-A1F2-25E75475FE59}"/>
              </a:ext>
            </a:extLst>
          </p:cNvPr>
          <p:cNvSpPr txBox="1"/>
          <p:nvPr/>
        </p:nvSpPr>
        <p:spPr>
          <a:xfrm>
            <a:off x="459486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  <a:endParaRPr lang="ko-KR" altLang="en-US" sz="1350" dirty="0">
              <a:solidFill>
                <a:srgbClr val="14263D"/>
              </a:solidFill>
            </a:endParaRPr>
          </a:p>
        </p:txBody>
      </p:sp>
      <p:sp>
        <p:nvSpPr>
          <p:cNvPr id="25" name="bp_goal_meta_card_3_head">
            <a:extLst>
              <a:ext uri="{FF2B5EF4-FFF2-40B4-BE49-F238E27FC236}">
                <a16:creationId xmlns:a16="http://schemas.microsoft.com/office/drawing/2014/main" id="{C78FA6BD-3DC1-B443-9CEB-1730F73B2F08}"/>
              </a:ext>
            </a:extLst>
          </p:cNvPr>
          <p:cNvSpPr txBox="1"/>
          <p:nvPr/>
        </p:nvSpPr>
        <p:spPr>
          <a:xfrm>
            <a:off x="841248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26" name="bp_goal_meta_card_3_body">
            <a:extLst>
              <a:ext uri="{FF2B5EF4-FFF2-40B4-BE49-F238E27FC236}">
                <a16:creationId xmlns:a16="http://schemas.microsoft.com/office/drawing/2014/main" id="{2FAE4D85-5910-6549-96B3-430E8A402756}"/>
              </a:ext>
            </a:extLst>
          </p:cNvPr>
          <p:cNvSpPr txBox="1"/>
          <p:nvPr/>
        </p:nvSpPr>
        <p:spPr>
          <a:xfrm>
            <a:off x="841248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  <a:endParaRPr lang="ko-KR" altLang="en-US" sz="1350">
              <a:solidFill>
                <a:srgbClr val="14263D"/>
              </a:solidFill>
            </a:endParaRPr>
          </a:p>
        </p:txBody>
      </p:sp>
      <p:sp>
        <p:nvSpPr>
          <p:cNvPr id="28" name="bp_goal_meta_process_title">
            <a:extLst>
              <a:ext uri="{FF2B5EF4-FFF2-40B4-BE49-F238E27FC236}">
                <a16:creationId xmlns:a16="http://schemas.microsoft.com/office/drawing/2014/main" id="{EEC070CD-B953-FA40-96E0-4942F28D1BC9}"/>
              </a:ext>
            </a:extLst>
          </p:cNvPr>
          <p:cNvSpPr txBox="1"/>
          <p:nvPr/>
        </p:nvSpPr>
        <p:spPr>
          <a:xfrm>
            <a:off x="736600" y="43434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lnSpcReduction="10000"/>
          </a:bodyPr>
          <a:lstStyle/>
          <a:p>
            <a:pPr algn="l"/>
          </a:p>
        </p:txBody>
      </p:sp>
      <p:sp>
        <p:nvSpPr>
          <p:cNvPr id="29" name="bp_goal_meta_step_1_circle">
            <a:extLst>
              <a:ext uri="{FF2B5EF4-FFF2-40B4-BE49-F238E27FC236}">
                <a16:creationId xmlns:a16="http://schemas.microsoft.com/office/drawing/2014/main" id="{4D525E9C-316B-BB45-BDE4-FD1FE1DD1C86}"/>
              </a:ext>
            </a:extLst>
          </p:cNvPr>
          <p:cNvSpPr/>
          <p:nvPr/>
        </p:nvSpPr>
        <p:spPr>
          <a:xfrm>
            <a:off x="22606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0" name="bp_goal_meta_step_1_label">
            <a:extLst>
              <a:ext uri="{FF2B5EF4-FFF2-40B4-BE49-F238E27FC236}">
                <a16:creationId xmlns:a16="http://schemas.microsoft.com/office/drawing/2014/main" id="{FC38F444-236C-0A44-98C8-0F1423BF034E}"/>
              </a:ext>
            </a:extLst>
          </p:cNvPr>
          <p:cNvSpPr txBox="1"/>
          <p:nvPr/>
        </p:nvSpPr>
        <p:spPr>
          <a:xfrm>
            <a:off x="29210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1" name="bp_goal_meta_step_2_circle">
            <a:extLst>
              <a:ext uri="{FF2B5EF4-FFF2-40B4-BE49-F238E27FC236}">
                <a16:creationId xmlns:a16="http://schemas.microsoft.com/office/drawing/2014/main" id="{9FBD0DEA-6DF1-524B-A5A5-F852512456F4}"/>
              </a:ext>
            </a:extLst>
          </p:cNvPr>
          <p:cNvSpPr/>
          <p:nvPr/>
        </p:nvSpPr>
        <p:spPr>
          <a:xfrm>
            <a:off x="46355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2" name="bp_goal_meta_step_2_label">
            <a:extLst>
              <a:ext uri="{FF2B5EF4-FFF2-40B4-BE49-F238E27FC236}">
                <a16:creationId xmlns:a16="http://schemas.microsoft.com/office/drawing/2014/main" id="{78B927A8-EA90-EB42-8633-8588DE02E14B}"/>
              </a:ext>
            </a:extLst>
          </p:cNvPr>
          <p:cNvSpPr txBox="1"/>
          <p:nvPr/>
        </p:nvSpPr>
        <p:spPr>
          <a:xfrm>
            <a:off x="52959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3" name="bp_goal_meta_step_3_circle">
            <a:extLst>
              <a:ext uri="{FF2B5EF4-FFF2-40B4-BE49-F238E27FC236}">
                <a16:creationId xmlns:a16="http://schemas.microsoft.com/office/drawing/2014/main" id="{26FBE9CC-1C28-D643-9806-FF24D8AEC93A}"/>
              </a:ext>
            </a:extLst>
          </p:cNvPr>
          <p:cNvSpPr/>
          <p:nvPr/>
        </p:nvSpPr>
        <p:spPr>
          <a:xfrm>
            <a:off x="70104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4" name="bp_goal_meta_step_3_label">
            <a:extLst>
              <a:ext uri="{FF2B5EF4-FFF2-40B4-BE49-F238E27FC236}">
                <a16:creationId xmlns:a16="http://schemas.microsoft.com/office/drawing/2014/main" id="{4C96FC6F-43A1-F849-92F3-CBB8AEFF6EB4}"/>
              </a:ext>
            </a:extLst>
          </p:cNvPr>
          <p:cNvSpPr txBox="1"/>
          <p:nvPr/>
        </p:nvSpPr>
        <p:spPr>
          <a:xfrm>
            <a:off x="76708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5" name="bp_goal_meta_step_4_circle">
            <a:extLst>
              <a:ext uri="{FF2B5EF4-FFF2-40B4-BE49-F238E27FC236}">
                <a16:creationId xmlns:a16="http://schemas.microsoft.com/office/drawing/2014/main" id="{614609F3-E8FB-B443-8BD9-93AEBCB0B1EA}"/>
              </a:ext>
            </a:extLst>
          </p:cNvPr>
          <p:cNvSpPr/>
          <p:nvPr/>
        </p:nvSpPr>
        <p:spPr>
          <a:xfrm>
            <a:off x="93853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6" name="bp_goal_meta_step_4_label">
            <a:extLst>
              <a:ext uri="{FF2B5EF4-FFF2-40B4-BE49-F238E27FC236}">
                <a16:creationId xmlns:a16="http://schemas.microsoft.com/office/drawing/2014/main" id="{75B0415E-03BD-AC4A-ABDB-763147F6DD59}"/>
              </a:ext>
            </a:extLst>
          </p:cNvPr>
          <p:cNvSpPr txBox="1"/>
          <p:nvPr/>
        </p:nvSpPr>
        <p:spPr>
          <a:xfrm>
            <a:off x="100457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/>
          </a:bodyPr>
          <a:lstStyle/>
          <a:p>
            <a:pPr algn="l"/>
          </a:p>
        </p:txBody>
      </p:sp>
      <p:sp>
        <p:nvSpPr>
          <p:cNvPr id="37" name="bp_goal_meta_arrow_1">
            <a:extLst>
              <a:ext uri="{FF2B5EF4-FFF2-40B4-BE49-F238E27FC236}">
                <a16:creationId xmlns:a16="http://schemas.microsoft.com/office/drawing/2014/main" id="{6100A61E-7E89-C049-A565-A12AF5E91322}"/>
              </a:ext>
            </a:extLst>
          </p:cNvPr>
          <p:cNvSpPr/>
          <p:nvPr/>
        </p:nvSpPr>
        <p:spPr>
          <a:xfrm>
            <a:off x="41021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38" name="bp_goal_meta_arrow_2">
            <a:extLst>
              <a:ext uri="{FF2B5EF4-FFF2-40B4-BE49-F238E27FC236}">
                <a16:creationId xmlns:a16="http://schemas.microsoft.com/office/drawing/2014/main" id="{A847F219-E0FD-B445-B128-3C052311AC74}"/>
              </a:ext>
            </a:extLst>
          </p:cNvPr>
          <p:cNvSpPr/>
          <p:nvPr/>
        </p:nvSpPr>
        <p:spPr>
          <a:xfrm>
            <a:off x="64770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39" name="bp_goal_meta_arrow_3">
            <a:extLst>
              <a:ext uri="{FF2B5EF4-FFF2-40B4-BE49-F238E27FC236}">
                <a16:creationId xmlns:a16="http://schemas.microsoft.com/office/drawing/2014/main" id="{035DBB64-40C4-B640-86F2-F9CF6C68B1F1}"/>
              </a:ext>
            </a:extLst>
          </p:cNvPr>
          <p:cNvSpPr/>
          <p:nvPr/>
        </p:nvSpPr>
        <p:spPr>
          <a:xfrm>
            <a:off x="88519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lIns="0" rIns="0" tIns="0" bIns="0"/>
          <a:lstStyle/>
          <a:p>
            <a:pPr algn="l"/>
            <a:endParaRPr lang="ko-KR" altLang="en-US"/>
          </a:p>
        </p:txBody>
      </p:sp>
      <p:sp>
        <p:nvSpPr>
          <p:cNvPr id="41" name="bp_goal_meta_takeaway_text">
            <a:extLst>
              <a:ext uri="{FF2B5EF4-FFF2-40B4-BE49-F238E27FC236}">
                <a16:creationId xmlns:a16="http://schemas.microsoft.com/office/drawing/2014/main" id="{7CED39F7-431C-C047-B7FC-E4E62F0CD227}"/>
              </a:ext>
            </a:extLst>
          </p:cNvPr>
          <p:cNvSpPr txBox="1"/>
          <p:nvPr/>
        </p:nvSpPr>
        <p:spPr>
          <a:xfrm>
            <a:off x="736600" y="5638800"/>
            <a:ext cx="10604500" cy="279400"/>
          </a:xfrm>
          <a:prstGeom prst="rect">
            <a:avLst/>
          </a:prstGeom>
          <a:noFill/>
        </p:spPr>
        <p:txBody>
          <a:bodyPr vertOverflow="overflow" vert="horz" wrap="square" rtlCol="0" anchor="t" lIns="0" rIns="0" tIns="0" bIns="0">
            <a:normAutofit fontScale="92500" lnSpcReduction="10000"/>
          </a:bodyPr>
          <a:lstStyle/>
          <a:p>
            <a:pPr algn="l"/>
            <a:endParaRPr lang="ko-KR" altLang="en-US" sz="1380" b="1">
              <a:solidFill>
                <a:srgbClr val="FFFFFF"/>
              </a:solidFill>
            </a:endParaRPr>
          </a:p>
        </p:txBody>
      </p:sp>
      <p:sp>
        <p:nvSpPr>
          <p:cNvPr id="49" name="Google Shape;49;p5">
            <a:extLst>
              <a:ext uri="{FF2B5EF4-FFF2-40B4-BE49-F238E27FC236}">
                <a16:creationId xmlns:a16="http://schemas.microsoft.com/office/drawing/2014/main" id="{D8D8E48B-008A-58B6-6D09-CB58132BFB96}"/>
              </a:ext>
            </a:extLst>
          </p:cNvPr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전체 분석 구조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>
            <a:extLst>
              <a:ext uri="{FF2B5EF4-FFF2-40B4-BE49-F238E27FC236}">
                <a16:creationId xmlns:a16="http://schemas.microsoft.com/office/drawing/2014/main" id="{24E167F8-92D4-AB4D-98A0-47479B3A77EB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>
            <a:extLst>
              <a:ext uri="{FF2B5EF4-FFF2-40B4-BE49-F238E27FC236}">
                <a16:creationId xmlns:a16="http://schemas.microsoft.com/office/drawing/2014/main" id="{5DA41181-C225-77DC-388A-BE111800F4B1}"/>
              </a:ext>
            </a:extLst>
          </p:cNvPr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" name="Google Shape;57;p5">
            <a:extLst>
              <a:ext uri="{FF2B5EF4-FFF2-40B4-BE49-F238E27FC236}">
                <a16:creationId xmlns:a16="http://schemas.microsoft.com/office/drawing/2014/main" id="{E6454DDA-6517-5E07-C75C-E97025483956}"/>
              </a:ext>
            </a:extLst>
          </p:cNvPr>
          <p:cNvSpPr txBox="1"/>
          <p:nvPr/>
        </p:nvSpPr>
        <p:spPr>
          <a:xfrm>
            <a:off x="736600" y="12954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2B8A9C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pic>
        <p:nvPicPr>
          <p:cNvPr id="52" name="Google Shape;52;p5" descr="/home/claude/work/logo_gateway.jpeg">
            <a:extLst>
              <a:ext uri="{FF2B5EF4-FFF2-40B4-BE49-F238E27FC236}">
                <a16:creationId xmlns:a16="http://schemas.microsoft.com/office/drawing/2014/main" id="{64CE2CA9-5742-4562-6716-1474CACE9A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descr="/home/claude/work/logo_eu.jpeg">
            <a:extLst>
              <a:ext uri="{FF2B5EF4-FFF2-40B4-BE49-F238E27FC236}">
                <a16:creationId xmlns:a16="http://schemas.microsoft.com/office/drawing/2014/main" id="{90BAE8B5-E617-925D-5FBD-A27670BD53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/home/claude/work/logo_itu.png">
            <a:extLst>
              <a:ext uri="{FF2B5EF4-FFF2-40B4-BE49-F238E27FC236}">
                <a16:creationId xmlns:a16="http://schemas.microsoft.com/office/drawing/2014/main" id="{5CA69AEA-A382-758D-FC49-4552F26B54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>
            <a:extLst>
              <a:ext uri="{FF2B5EF4-FFF2-40B4-BE49-F238E27FC236}">
                <a16:creationId xmlns:a16="http://schemas.microsoft.com/office/drawing/2014/main" id="{01356691-B61F-2754-AFC8-051D6BF0A02B}"/>
              </a:ext>
            </a:extLst>
          </p:cNvPr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0000" y="1170000"/>
            <a:ext cx="10900000" cy="48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0000" y="1290000"/>
            <a:ext cx="10200000" cy="37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세 분석은 병렬 산출물이 아니라 측정 → 설명적 분해 → 생활세계 신호 탐색으로 이어지는 순차 구조다.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0000" y="2050000"/>
            <a:ext cx="2380000" cy="178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0000" y="2050000"/>
            <a:ext cx="76200" cy="178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Part 1 | 자치구 UMC 지수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행정·통신·조사 지표를 UMC 6차원으로 정규화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3130000" y="2710000"/>
            <a:ext cx="360000" cy="250000"/>
          </a:xfrm>
          <a:prstGeom prst="rightArrow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530000" y="2050000"/>
            <a:ext cx="2380000" cy="178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30000" y="2050000"/>
            <a:ext cx="76200" cy="178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Part 2 | HLM 다층 분석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개인 특성과 자치구 조건의 연관성을 분리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5830000" y="2710000"/>
            <a:ext cx="360000" cy="250000"/>
          </a:xfrm>
          <a:prstGeom prst="rightArrow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230000" y="2050000"/>
            <a:ext cx="2380000" cy="178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30000" y="2050000"/>
            <a:ext cx="76200" cy="178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Part 3 | 플랫폼·EB 신호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텍스트 분류와 Bayesian 업데이트로 괴리 후보를 탐색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8530000" y="2710000"/>
            <a:ext cx="360000" cy="250000"/>
          </a:xfrm>
          <a:prstGeom prst="rightArrow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930000" y="2050000"/>
            <a:ext cx="2380000" cy="178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30000" y="2050000"/>
            <a:ext cx="76200" cy="1780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90000" y="2195000"/>
            <a:ext cx="212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정책 | 장소 민감형 지원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0000" y="2540000"/>
            <a:ext cx="2100000" cy="1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개인 취약성 우선, 자치구 프로필로 도달 경로 설계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0000" y="4500000"/>
            <a:ext cx="98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3.1은 Part 3의 행정자료 기반 prior를 제공한다.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3.2는 자치구 조건을 개인 디지털 이용의 직접 원인으로 과대 해석하지 않도록 guardrail을 제공한다.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3.3은 행정·서베이로 잘 보이지 않는 생활세계 신호를 탐색적으로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31529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998C3B3-83D0-D652-D1E9-C8841FF9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6B1AC57F-1464-C9B0-F866-3B7F8A131DFA}"/>
              </a:ext>
            </a:extLst>
          </p:cNvPr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>
            <a:extLst>
              <a:ext uri="{FF2B5EF4-FFF2-40B4-BE49-F238E27FC236}">
                <a16:creationId xmlns:a16="http://schemas.microsoft.com/office/drawing/2014/main" id="{14A0FFA5-D4A3-9BFA-0DD4-F450E95421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>
            <a:extLst>
              <a:ext uri="{FF2B5EF4-FFF2-40B4-BE49-F238E27FC236}">
                <a16:creationId xmlns:a16="http://schemas.microsoft.com/office/drawing/2014/main" id="{AC24717E-5F2D-4244-FE72-ECFCC221CB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>
            <a:extLst>
              <a:ext uri="{FF2B5EF4-FFF2-40B4-BE49-F238E27FC236}">
                <a16:creationId xmlns:a16="http://schemas.microsoft.com/office/drawing/2014/main" id="{04FB4601-12AA-80FF-2787-5F52BF6CE5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>
            <a:extLst>
              <a:ext uri="{FF2B5EF4-FFF2-40B4-BE49-F238E27FC236}">
                <a16:creationId xmlns:a16="http://schemas.microsoft.com/office/drawing/2014/main" id="{E762C9A3-0927-B5D5-D0F5-02CE8EE2E6B4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9;p5">
            <a:extLst>
              <a:ext uri="{FF2B5EF4-FFF2-40B4-BE49-F238E27FC236}">
                <a16:creationId xmlns:a16="http://schemas.microsoft.com/office/drawing/2014/main" id="{17623782-6122-E961-5E49-5FEB77003A0F}"/>
              </a:ext>
            </a:extLst>
          </p:cNvPr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UMC 개념 | 접근을 넘어 의미 있는 이용으로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6;p5">
            <a:extLst>
              <a:ext uri="{FF2B5EF4-FFF2-40B4-BE49-F238E27FC236}">
                <a16:creationId xmlns:a16="http://schemas.microsoft.com/office/drawing/2014/main" id="{F40D440E-7A56-F95A-B003-1506E32FE8A7}"/>
              </a:ext>
            </a:extLst>
          </p:cNvPr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0000" y="1240000"/>
            <a:ext cx="103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UMC는 모든 사람이 인터넷을 안전하고 만족스럽고 풍요롭고 생산적으로, 부담 가능한 비용으로 이용할 수 있는지를 묻는다.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0000" y="205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20000" y="2050000"/>
            <a:ext cx="76200" cy="103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80000" y="219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Connectivity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0000" y="254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품질·안정성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70000" y="205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70000" y="2050000"/>
            <a:ext cx="76200" cy="103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30000" y="219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Available for Use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30000" y="254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서비스 이용 가능성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920000" y="205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920000" y="2050000"/>
            <a:ext cx="76200" cy="103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80000" y="219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Affordability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80000" y="254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비용 부담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20000" y="350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20000" y="3500000"/>
            <a:ext cx="76200" cy="103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0000" y="364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Devices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0000" y="399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기기 보유·사용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70000" y="350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370000" y="3500000"/>
            <a:ext cx="76200" cy="103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530000" y="364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Digital Skills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30000" y="399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기본·활용·고급 역량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920000" y="3500000"/>
            <a:ext cx="3000000" cy="103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920000" y="3500000"/>
            <a:ext cx="76200" cy="103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80000" y="3645000"/>
            <a:ext cx="2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Safety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80000" y="3990000"/>
            <a:ext cx="272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보안 행동·인식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0000" y="5350000"/>
            <a:ext cx="9500000" cy="4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3A5B"/>
                </a:solidFill>
                <a:latin typeface="Malgun Gothic"/>
              </a:rPr>
              <a:t>서울처럼 기본 임계치가 높은 도시는 '접속 여부'보다 서울 내부 상대 격차와 차원별 취약성을 측정해야 한다.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5 / 30</a:t>
            </a:r>
          </a:p>
        </p:txBody>
      </p:sp>
    </p:spTree>
    <p:extLst>
      <p:ext uri="{BB962C8B-B14F-4D97-AF65-F5344CB8AC3E}">
        <p14:creationId xmlns:p14="http://schemas.microsoft.com/office/powerpoint/2010/main" val="197069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548651" y="365750"/>
            <a:ext cx="4817828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이론적 배경 | 이전 가능한 틀과 지역 조건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0000" y="1360000"/>
            <a:ext cx="500000" cy="500000"/>
          </a:xfrm>
          <a:prstGeom prst="ellipse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0000" y="14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20000" y="135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Evidence transfer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0000" y="1650000"/>
            <a:ext cx="938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개별 추정치를 다른 국가로 그대로 옮기기보다, 어떤 조건에서 적용 가능한지 설명하는 공통 언어가 필요하다.</a:t>
            </a:r>
          </a:p>
        </p:txBody>
      </p:sp>
      <p:sp>
        <p:nvSpPr>
          <p:cNvPr id="101" name="Oval 100"/>
          <p:cNvSpPr/>
          <p:nvPr/>
        </p:nvSpPr>
        <p:spPr>
          <a:xfrm>
            <a:off x="900000" y="2510000"/>
            <a:ext cx="500000" cy="500000"/>
          </a:xfrm>
          <a:prstGeom prst="ellipse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0000" y="26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520000" y="250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Capability approach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20000" y="2800000"/>
            <a:ext cx="938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자원 보유가 아니라 실제로 무엇을 할 수 있는지, 안전하고 의미 있게 이용할 수 있는지가 핵심이다.</a:t>
            </a:r>
          </a:p>
        </p:txBody>
      </p:sp>
      <p:sp>
        <p:nvSpPr>
          <p:cNvPr id="105" name="Oval 104"/>
          <p:cNvSpPr/>
          <p:nvPr/>
        </p:nvSpPr>
        <p:spPr>
          <a:xfrm>
            <a:off x="900000" y="3660000"/>
            <a:ext cx="500000" cy="500000"/>
          </a:xfrm>
          <a:prstGeom prst="ellipse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0000" y="37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20000" y="365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Critical realism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20000" y="3950000"/>
            <a:ext cx="9380000" cy="6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자치구 지표, 개인 응답, 플랫폼 텍스트는 같은 현상의 서로 다른 층위를 측정하므로 단일 증거로 합치지 않는다.</a:t>
            </a:r>
          </a:p>
        </p:txBody>
      </p:sp>
      <p:sp>
        <p:nvSpPr>
          <p:cNvPr id="109" name="Oval 108"/>
          <p:cNvSpPr/>
          <p:nvPr/>
        </p:nvSpPr>
        <p:spPr>
          <a:xfrm>
            <a:off x="900000" y="4810000"/>
            <a:ext cx="500000" cy="500000"/>
          </a:xfrm>
          <a:prstGeom prst="ellipse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00000" y="49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20000" y="4800000"/>
            <a:ext cx="93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People-based + place-sensitive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20000" y="5100000"/>
            <a:ext cx="9380000" cy="4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사람의 취약성을 우선하되, 자치구 프로필은 지원이 필요한 위치와 차원을 정하는 보조 신호로 쓴다.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4A1A465-8FA4-7968-D7E5-01887B65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BC38D1CB-8BA0-8FEA-9FD2-F034686D886B}"/>
              </a:ext>
            </a:extLst>
          </p:cNvPr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>
            <a:extLst>
              <a:ext uri="{FF2B5EF4-FFF2-40B4-BE49-F238E27FC236}">
                <a16:creationId xmlns:a16="http://schemas.microsoft.com/office/drawing/2014/main" id="{819DF796-C32F-9E5D-187B-FBBED7AF3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>
            <a:extLst>
              <a:ext uri="{FF2B5EF4-FFF2-40B4-BE49-F238E27FC236}">
                <a16:creationId xmlns:a16="http://schemas.microsoft.com/office/drawing/2014/main" id="{4A153A5D-19A5-3812-D813-D98FE17902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>
            <a:extLst>
              <a:ext uri="{FF2B5EF4-FFF2-40B4-BE49-F238E27FC236}">
                <a16:creationId xmlns:a16="http://schemas.microsoft.com/office/drawing/2014/main" id="{57E89226-BFBE-77AA-8C43-251C7A9C53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>
            <a:extLst>
              <a:ext uri="{FF2B5EF4-FFF2-40B4-BE49-F238E27FC236}">
                <a16:creationId xmlns:a16="http://schemas.microsoft.com/office/drawing/2014/main" id="{4FCDF65B-E3D6-A9DB-A2DA-0559A5340D93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4;p8">
            <a:extLst>
              <a:ext uri="{FF2B5EF4-FFF2-40B4-BE49-F238E27FC236}">
                <a16:creationId xmlns:a16="http://schemas.microsoft.com/office/drawing/2014/main" id="{DA1D6C0C-6B0E-4A60-0CC4-6470245D35E0}"/>
              </a:ext>
            </a:extLst>
          </p:cNvPr>
          <p:cNvSpPr/>
          <p:nvPr/>
        </p:nvSpPr>
        <p:spPr>
          <a:xfrm>
            <a:off x="548651" y="365750"/>
            <a:ext cx="4817828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서울 맥락 | 왜 초연결 도시를 다시 측정하는가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20000" y="1360000"/>
            <a:ext cx="3150000" cy="3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20000" y="1360000"/>
            <a:ext cx="76200" cy="35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0000" y="1505000"/>
            <a:ext cx="28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도시 조건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80000" y="1850000"/>
            <a:ext cx="2870000" cy="2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고밀도·직주분리로 실제 이용 장소와 거주지가 다를 수 있음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고령화와 1인 가구 증가가 디지털 이용 취약성을 재구성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자치구는 정책 집행과 아웃리치의 실질 단위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460000" y="1360000"/>
            <a:ext cx="3150000" cy="3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460000" y="1360000"/>
            <a:ext cx="76200" cy="35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620000" y="1505000"/>
            <a:ext cx="28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정책 환경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20000" y="1850000"/>
            <a:ext cx="2870000" cy="2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통신 인프라 보급 이후 요금, 공공 Wi-Fi, 통합 모바일 서비스가 중요해짐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AI 디지털 학습센터 등 역량 지원이 인프라 정책을 보완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공공서비스 모바일화는 접근성을 높이는 동시에 새 장벽을 만들 수 있음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00000" y="1360000"/>
            <a:ext cx="3150000" cy="3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100000" y="1360000"/>
            <a:ext cx="76200" cy="35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260000" y="1505000"/>
            <a:ext cx="28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측정 과제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60000" y="1850000"/>
            <a:ext cx="2870000" cy="2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높은 네트워크 가용성은 의미 있는 이용을 보장하지 않음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행정 지표, 서베이, 플랫폼 신호를 같은 층위로 취급하면 오해가 생김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서울 내부 상대 비교와 차원별 프로필이 필요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7 / 30</a:t>
            </a:r>
          </a:p>
        </p:txBody>
      </p:sp>
    </p:spTree>
    <p:extLst>
      <p:ext uri="{BB962C8B-B14F-4D97-AF65-F5344CB8AC3E}">
        <p14:creationId xmlns:p14="http://schemas.microsoft.com/office/powerpoint/2010/main" val="238232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548649" y="365750"/>
            <a:ext cx="4690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증거 수준과 해석 원칙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2" name="Table 111"/>
          <p:cNvGraphicFramePr>
            <a:graphicFrameLocks noGrp="1"/>
          </p:cNvGraphicFramePr>
          <p:nvPr/>
        </p:nvGraphicFramePr>
        <p:xfrm>
          <a:off x="820000" y="1350000"/>
          <a:ext cx="10550000" cy="24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4300000"/>
                <a:gridCol w="4150000"/>
              </a:tblGrid>
              <a:tr h="49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분석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무엇을 보여주는가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해석 경계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1 UMC 지수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서울 25개 자치구의 상대적·차원별 조건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절대 달성도나 타 도시 직접 비교가 아님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2 HLM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개인·자치구 수준 연관의 분리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인과 추정이 아님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3 플랫폼/EB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행정 prior와 플랫폼 신호의 탐색적 괴리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유병률·수요 규모 추정이 아님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Digital Desert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낮은 종합점수 자치구의 정책 점검 후보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고정 진단이나 낙인 라벨이 아님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1000000" y="4350000"/>
            <a:ext cx="985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LLM은 독립적 증거원이 아니라 사전 정의된 코드북을 적용하는 구조화된 코딩 보조자다.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큰 z_shift는 결핍이 가장 심하다는 뜻이 아니라, 같은 차원 안에서 prior와 observed signal의 거리가 큰 후보를 뜻한다.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발표 자료에는 게시물 ID, 원문 텍스트, 로컬 경로, 행 단위 출력물을 노출하지 않는다.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자료와 지표 | Part 1 &amp; Part 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10"/>
          <p:cNvGraphicFramePr/>
          <p:nvPr>
            <p:extLst>
              <p:ext uri="{D42A27DB-BD31-4B8C-83A1-F6EECF244321}">
                <p14:modId xmlns:p14="http://schemas.microsoft.com/office/powerpoint/2010/main" val="2486934030"/>
              </p:ext>
            </p:extLst>
          </p:nvPr>
        </p:nvGraphicFramePr>
        <p:xfrm>
          <a:off x="635581" y="1341827"/>
          <a:ext cx="10840350" cy="4837688"/>
        </p:xfrm>
        <a:graphic>
          <a:graphicData uri="http://schemas.openxmlformats.org/drawingml/2006/table">
            <a:tbl>
              <a:tblPr>
                <a:noFill/>
                <a:tableStyleId>{DF07E248-7B14-439D-80B4-0DDB9BA23D15}</a:tableStyleId>
              </a:tblPr>
              <a:tblGrid>
                <a:gridCol w="143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76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name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variables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method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Digital Competency Survey</a:t>
                      </a:r>
                      <a:endParaRPr sz="1000" b="1" u="none" strike="noStrike" cap="none" dirty="0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AI Foundation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https://saif.or.kr/dataroom/2564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 used</a:t>
                      </a:r>
                      <a:endParaRPr sz="8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devices, skills, safety;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survey weights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CSV/XLSX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provision upon official request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Cellular Base Station Data</a:t>
                      </a:r>
                      <a:endParaRPr sz="1000" b="1" dirty="0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Spectrum Resource Mgmt System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spectrummap.kr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mobile_service.do?menuNo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=300480</a:t>
                      </a:r>
                      <a:endParaRPr sz="8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4G/5G cell-site locations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Open Data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NIA Communication Quality (CQ)</a:t>
                      </a:r>
                      <a:endParaRPr sz="10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Korean Public Data Portal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https://www.data.go.kr/data/15120591/fileData.do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district-level download speed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6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Free Wi-Fi Installation Data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Admin </a:t>
                      </a:r>
                      <a:r>
                        <a:rPr lang="en-US" sz="10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WiFi</a:t>
                      </a: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License Data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www.localdata.go.kr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lifeCtacDataView.do</a:t>
                      </a:r>
                      <a:endParaRPr sz="8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public Wi-Fi installation locations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9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Telecommunication Indicators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SKT Telecom Data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https://www.data.go.kr/data/15127168/fileData.do#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mobile data use;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online service days;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fee delinquency rate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2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Monthly Household Income by District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Commercial Analysis Service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https://data.seoul.go.kr/dataList/OA-22167/S/1/datasetView.do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average monthly household income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1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Survey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Open Data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https://data.seoul.go.kr/dataList/OA-15564/F/1/datasetView.do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digital service use;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demographics, income, housing, district/year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Google Shape;134;p10">
            <a:extLst>
              <a:ext uri="{FF2B5EF4-FFF2-40B4-BE49-F238E27FC236}">
                <a16:creationId xmlns:a16="http://schemas.microsoft.com/office/drawing/2014/main" id="{F551C4F6-24D2-F651-97D4-A8366E1768D3}"/>
              </a:ext>
            </a:extLst>
          </p:cNvPr>
          <p:cNvSpPr txBox="1"/>
          <p:nvPr/>
        </p:nvSpPr>
        <p:spPr>
          <a:xfrm>
            <a:off x="377388" y="1050374"/>
            <a:ext cx="210043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indent="-50800">
              <a:buClr>
                <a:schemeClr val="dk1"/>
              </a:buClr>
              <a:buSzPts val="1400"/>
            </a:pPr>
          </a:p>
        </p:txBody>
      </p:sp>
      <p:sp>
        <p:nvSpPr>
          <p:cNvPr id="132" name="Rectangle 13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0000" y="1030000"/>
            <a:ext cx="11300000" cy="5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800000" y="1450000"/>
          <a:ext cx="1065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000"/>
                <a:gridCol w="5250000"/>
                <a:gridCol w="2200000"/>
                <a:gridCol w="1650000"/>
              </a:tblGrid>
              <a:tr h="53333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분석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자료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단위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핵심 산출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533333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1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Spectrum Resource Mgmt System, NIA 품질자료, SKT Telecom Data, 서울시 디지털역량조사 등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자치구-연도·동 집계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UMC 6차원 점수와 종합 지수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53333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Part 2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Seoul Survey 2023-2024 + Part 1 자치구 UMC 점수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개인 10,000명 / 25개 자치구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디지털 이용 점수에 대한 2수준 HLM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5" name="Rounded Rectangle 134"/>
          <p:cNvSpPr/>
          <p:nvPr/>
        </p:nvSpPr>
        <p:spPr>
          <a:xfrm>
            <a:off x="1000000" y="3500000"/>
            <a:ext cx="4800000" cy="14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000000" y="3500000"/>
            <a:ext cx="76200" cy="145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60000" y="3645000"/>
            <a:ext cx="45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Part 1 측정 원칙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60000" y="3990000"/>
            <a:ext cx="4520000" cy="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UMC 6차원을 서울 데이터 환경에 맞게 조작화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정책 집행 단위인 자치구와 측정 단위를 일치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2023-2024 산출을 비교 가능한 내부 척도로 구성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400000" y="3500000"/>
            <a:ext cx="4800000" cy="14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400000" y="3500000"/>
            <a:ext cx="76200" cy="145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560000" y="3645000"/>
            <a:ext cx="45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Part 2 모형 원칙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560000" y="3990000"/>
            <a:ext cx="4520000" cy="8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개인이 자치구에 중첩된 자료 구조를 반영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개인 특성과 자치구 조건의 평균적 연관을 분리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district effect를 인과 효과로 해석하지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76DFD41-0B4F-658D-0E78-C93538E8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>
            <a:extLst>
              <a:ext uri="{FF2B5EF4-FFF2-40B4-BE49-F238E27FC236}">
                <a16:creationId xmlns:a16="http://schemas.microsoft.com/office/drawing/2014/main" id="{91A61B0B-91CA-954E-E773-E7C3A7233FF1}"/>
              </a:ext>
            </a:extLst>
          </p:cNvPr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자료 수집 | Part 3 플랫폼 텍스트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>
            <a:extLst>
              <a:ext uri="{FF2B5EF4-FFF2-40B4-BE49-F238E27FC236}">
                <a16:creationId xmlns:a16="http://schemas.microsoft.com/office/drawing/2014/main" id="{EE0E8EC0-406A-E347-E541-7D281A5EC6C8}"/>
              </a:ext>
            </a:extLst>
          </p:cNvPr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>
            <a:extLst>
              <a:ext uri="{FF2B5EF4-FFF2-40B4-BE49-F238E27FC236}">
                <a16:creationId xmlns:a16="http://schemas.microsoft.com/office/drawing/2014/main" id="{B5AD3B37-25E0-6468-DB2F-AEEB85481B74}"/>
              </a:ext>
            </a:extLst>
          </p:cNvPr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 descr="/home/claude/work/logo_gateway.jpeg">
            <a:extLst>
              <a:ext uri="{FF2B5EF4-FFF2-40B4-BE49-F238E27FC236}">
                <a16:creationId xmlns:a16="http://schemas.microsoft.com/office/drawing/2014/main" id="{F69DE749-576E-BB22-CE6C-132A67C84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 descr="/home/claude/work/logo_eu.jpeg">
            <a:extLst>
              <a:ext uri="{FF2B5EF4-FFF2-40B4-BE49-F238E27FC236}">
                <a16:creationId xmlns:a16="http://schemas.microsoft.com/office/drawing/2014/main" id="{D5CDF6E8-2DDA-2BC8-A804-91C8E4220C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 descr="/home/claude/work/logo_itu.png">
            <a:extLst>
              <a:ext uri="{FF2B5EF4-FFF2-40B4-BE49-F238E27FC236}">
                <a16:creationId xmlns:a16="http://schemas.microsoft.com/office/drawing/2014/main" id="{30C7BB3E-51E5-EF4A-2782-DDE68D14B2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>
            <a:extLst>
              <a:ext uri="{FF2B5EF4-FFF2-40B4-BE49-F238E27FC236}">
                <a16:creationId xmlns:a16="http://schemas.microsoft.com/office/drawing/2014/main" id="{3E56D4D0-193D-E2D7-E4BD-3F8E537ACFAF}"/>
              </a:ext>
            </a:extLst>
          </p:cNvPr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0">
            <a:extLst>
              <a:ext uri="{FF2B5EF4-FFF2-40B4-BE49-F238E27FC236}">
                <a16:creationId xmlns:a16="http://schemas.microsoft.com/office/drawing/2014/main" id="{BB7953AB-9FC6-ADBD-928B-D1F12A53D5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631807"/>
              </p:ext>
            </p:extLst>
          </p:nvPr>
        </p:nvGraphicFramePr>
        <p:xfrm>
          <a:off x="635583" y="1466439"/>
          <a:ext cx="10840300" cy="1143030"/>
        </p:xfrm>
        <a:graphic>
          <a:graphicData uri="http://schemas.openxmlformats.org/drawingml/2006/table">
            <a:tbl>
              <a:tblPr>
                <a:noFill/>
                <a:tableStyleId>{DF07E248-7B14-439D-80B4-0DDB9BA23D15}</a:tableStyleId>
              </a:tblPr>
              <a:tblGrid>
                <a:gridCol w="174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5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3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name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variables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method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 Community Post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 Market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daangn.com/kr/community/s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 dong fields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2024-2026 crawl period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text; gu/location;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createdAt; subject/category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CSV/XLSX</a:t>
                      </a:r>
                      <a:endParaRPr sz="11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Scraping</a:t>
                      </a:r>
                      <a:endParaRPr sz="11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Living/Floating Population</a:t>
                      </a:r>
                      <a:endParaRPr sz="10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Open Data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data.seoul.go.kr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OA-14991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2023-2026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as available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hourly/dong population;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daytime population;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shares; dong/district code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Open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" name="Google Shape;134;p10">
            <a:extLst>
              <a:ext uri="{FF2B5EF4-FFF2-40B4-BE49-F238E27FC236}">
                <a16:creationId xmlns:a16="http://schemas.microsoft.com/office/drawing/2014/main" id="{909E8E43-CEB4-A2F2-DA09-468D922F2DD8}"/>
              </a:ext>
            </a:extLst>
          </p:cNvPr>
          <p:cNvSpPr txBox="1"/>
          <p:nvPr/>
        </p:nvSpPr>
        <p:spPr>
          <a:xfrm>
            <a:off x="377388" y="1149401"/>
            <a:ext cx="34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0000" y="1030000"/>
            <a:ext cx="11300000" cy="5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80000" y="1240000"/>
            <a:ext cx="103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2024년 5월부터 2026년 3월까지 서울 25개 자치구 동네생활 게시물을 대상으로, 후보 추출·한정 코드 분류·행정동/생활인구 연계를 수행했다.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8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80000" y="2050000"/>
            <a:ext cx="76200" cy="10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4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149,733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키워드 필터 후보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96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960000" y="2050000"/>
            <a:ext cx="76200" cy="10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2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131,792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2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행정동 매칭 포함 분류 완료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14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140000" y="2050000"/>
            <a:ext cx="76200" cy="10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0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7,136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0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UMC 관련 Y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32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320000" y="2050000"/>
            <a:ext cx="76200" cy="1000000"/>
          </a:xfrm>
          <a:prstGeom prst="rect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48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2,147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48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불확정 ?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500000" y="2050000"/>
            <a:ext cx="1850000" cy="10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500000" y="2050000"/>
            <a:ext cx="76200" cy="1000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60000" y="2195000"/>
            <a:ext cx="15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900" b="1">
                <a:solidFill>
                  <a:srgbClr val="0B3A5B"/>
                </a:solidFill>
                <a:latin typeface="Malgun Gothic"/>
              </a:rPr>
              <a:t>122,509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660000" y="2540000"/>
            <a:ext cx="15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무관 N</a:t>
            </a:r>
          </a:p>
        </p:txBody>
      </p:sp>
      <p:graphicFrame>
        <p:nvGraphicFramePr>
          <p:cNvPr id="158" name="Table 157"/>
          <p:cNvGraphicFramePr>
            <a:graphicFrameLocks noGrp="1"/>
          </p:cNvGraphicFramePr>
          <p:nvPr/>
        </p:nvGraphicFramePr>
        <p:xfrm>
          <a:off x="780000" y="3450000"/>
          <a:ext cx="10650000" cy="1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5100000"/>
                <a:gridCol w="3950000"/>
              </a:tblGrid>
              <a:tr h="4125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처리 내용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발표에서의 해석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12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1. 후보 구성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UMC 6차원 seed list와 확장 키워드 적용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디지털 연결성 신호 가능성이 있는 텍스트만 선별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2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2. 전처리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본문 접근 불가, 중복, 광고·홍보성 게시물 제외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게시 가능한 플랫폼 경험 신호로 제한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125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3. 연계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행정동 후보 매칭과 작성 시점 생활인구 노출 연결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자치구·차원 관측율 산출의 분모 구성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37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| UMC 6차원 지표 구성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1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11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48640" y="1212343"/>
            <a:ext cx="264223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endParaRPr sz="1800" b="1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B27BA0-F575-643C-5D08-C531200B0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06626"/>
              </p:ext>
            </p:extLst>
          </p:nvPr>
        </p:nvGraphicFramePr>
        <p:xfrm>
          <a:off x="548640" y="1594288"/>
          <a:ext cx="7264101" cy="4567943"/>
        </p:xfrm>
        <a:graphic>
          <a:graphicData uri="http://schemas.openxmlformats.org/drawingml/2006/table">
            <a:tbl>
              <a:tblPr firstRow="1">
                <a:tableStyleId>{DF07E248-7B14-439D-80B4-0DDB9BA23D15}</a:tableStyleId>
              </a:tblPr>
              <a:tblGrid>
                <a:gridCol w="1405955">
                  <a:extLst>
                    <a:ext uri="{9D8B030D-6E8A-4147-A177-3AD203B41FA5}">
                      <a16:colId xmlns:a16="http://schemas.microsoft.com/office/drawing/2014/main" val="1267026568"/>
                    </a:ext>
                  </a:extLst>
                </a:gridCol>
                <a:gridCol w="1597676">
                  <a:extLst>
                    <a:ext uri="{9D8B030D-6E8A-4147-A177-3AD203B41FA5}">
                      <a16:colId xmlns:a16="http://schemas.microsoft.com/office/drawing/2014/main" val="2263909554"/>
                    </a:ext>
                  </a:extLst>
                </a:gridCol>
                <a:gridCol w="4260470">
                  <a:extLst>
                    <a:ext uri="{9D8B030D-6E8A-4147-A177-3AD203B41FA5}">
                      <a16:colId xmlns:a16="http://schemas.microsoft.com/office/drawing/2014/main" val="339048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Dimension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Indicator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지표 정의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22769857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Connectivity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station_density_4g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4G</a:t>
                      </a:r>
                      <a:r>
                        <a:rPr lang="en-US" altLang="ko-KR" sz="1200" b="0" u="none" dirty="0">
                          <a:effectLst/>
                        </a:rPr>
                        <a:t>/5G</a:t>
                      </a:r>
                      <a:r>
                        <a:rPr lang="en-US" sz="1200" b="0" u="none" dirty="0">
                          <a:effectLst/>
                        </a:rPr>
                        <a:t> base-station density per 1,000 daytime residents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956833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station_density_5g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1" u="sng" dirty="0">
                          <a:effectLst/>
                        </a:rPr>
                        <a:t>5G base-station density</a:t>
                      </a:r>
                      <a:r>
                        <a:rPr lang="en-US" sz="1200" dirty="0">
                          <a:effectLst/>
                        </a:rPr>
                        <a:t> per 1,000 daytime residents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9444392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download_speed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District average download speed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31122323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Available</a:t>
                      </a:r>
                      <a:r>
                        <a:rPr lang="ko-KR" sz="1400" b="1" dirty="0">
                          <a:effectLst/>
                        </a:rPr>
                        <a:t> </a:t>
                      </a:r>
                      <a:r>
                        <a:rPr lang="ko-KR" sz="1400" b="1" dirty="0" err="1">
                          <a:effectLst/>
                        </a:rPr>
                        <a:t>for</a:t>
                      </a:r>
                      <a:r>
                        <a:rPr lang="ko-KR" sz="1400" b="1" dirty="0">
                          <a:effectLst/>
                        </a:rPr>
                        <a:t> </a:t>
                      </a:r>
                      <a:r>
                        <a:rPr lang="ko-KR" sz="1400" b="1" dirty="0" err="1">
                          <a:effectLst/>
                        </a:rPr>
                        <a:t>Use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mobile_data_usage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Monthly mobile data usage, weighted by daytime floating population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677499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online_service_days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Online service-use days across finance, shopping, video, delivery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70315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wifi_density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Registered public Wi-Fi access points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85326993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Affordability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avg_income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Average monthly household income by distric</a:t>
                      </a:r>
                      <a:r>
                        <a:rPr lang="en-US" altLang="ko-KR" sz="1200" b="0" u="none" dirty="0">
                          <a:effectLst/>
                        </a:rPr>
                        <a:t>t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8697240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delinq_rate</a:t>
                      </a:r>
                      <a:endParaRPr lang="ko-KR" sz="12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Telecom fee delinquency rate, reverse-coded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7122537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>
                          <a:effectLst/>
                        </a:rPr>
                        <a:t>Devices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device_home_core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Core device types owned in the household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960917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device_use_core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Core device types actually used by individuals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41290950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>
                          <a:effectLst/>
                        </a:rPr>
                        <a:t>Digital </a:t>
                      </a:r>
                      <a:r>
                        <a:rPr lang="ko-KR" sz="1400" b="1" dirty="0" err="1">
                          <a:effectLst/>
                        </a:rPr>
                        <a:t>Skills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Basic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Basic skills 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5080299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Applied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Applied skills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9290398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Advanced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Advanced skills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7761435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Cyber</a:t>
                      </a:r>
                      <a:r>
                        <a:rPr lang="ko-KR" sz="1200" dirty="0">
                          <a:effectLst/>
                        </a:rPr>
                        <a:t> </a:t>
                      </a:r>
                      <a:r>
                        <a:rPr lang="ko-KR" sz="1200" dirty="0" err="1">
                          <a:effectLst/>
                        </a:rPr>
                        <a:t>activity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Cyber activity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9196413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Safety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safety_behavior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Security behavior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4438083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safety_awareness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Security awareness 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245315349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E5AFCFA5-A114-850F-4F49-26D964A70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670" y="23915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9EBB9-282D-D4D8-8029-239289E506F5}"/>
              </a:ext>
            </a:extLst>
          </p:cNvPr>
          <p:cNvSpPr txBox="1"/>
          <p:nvPr/>
        </p:nvSpPr>
        <p:spPr>
          <a:xfrm>
            <a:off x="8018373" y="1782395"/>
            <a:ext cx="4051195" cy="3293209"/>
          </a:xfrm>
          <a:prstGeom prst="rect">
            <a:avLst/>
          </a:prstGeom>
          <a:noFill/>
        </p:spPr>
        <p:txBody>
          <a:bodyPr wrap="square" rtlCol="0" lIns="0" rIns="0" tIns="0" bIns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endParaRPr kumimoji="1" lang="en-US" altLang="ko-KR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0000" y="1210000"/>
            <a:ext cx="26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서울 25개 자치구 지표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850000" y="1550000"/>
            <a:ext cx="365000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120000" y="1780000"/>
            <a:ext cx="32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Connectivity: 기지국 밀도와 통신 품질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Available for Use: 모바일 데이터 사용, 온라인 서비스 이용일수, 공공 Wi-Fi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Affordability: 평균 소득과 통신요금 연체율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Devices·Digital Skills·Safety: 서울시 디지털역량조사 기반 가중 평균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통신요금 연체율처럼 값이 클수록 불리한 지표는 역코딩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120000" y="4740000"/>
            <a:ext cx="3200000" cy="4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6FA0"/>
                </a:solidFill>
                <a:latin typeface="Malgun Gothic"/>
              </a:rPr>
              <a:t>핵심: 단순 네트워크 접근성이 아니라 기기, 역량, 안전, 비용 부담을 함께 측정한다.</a:t>
            </a:r>
          </a:p>
        </p:txBody>
      </p:sp>
    </p:spTree>
    <p:extLst>
      <p:ext uri="{BB962C8B-B14F-4D97-AF65-F5344CB8AC3E}">
        <p14:creationId xmlns:p14="http://schemas.microsoft.com/office/powerpoint/2010/main" val="377051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FA55D71-F45B-E549-F2A7-0BEB4815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>
            <a:extLst>
              <a:ext uri="{FF2B5EF4-FFF2-40B4-BE49-F238E27FC236}">
                <a16:creationId xmlns:a16="http://schemas.microsoft.com/office/drawing/2014/main" id="{02F65081-2D3B-7F5F-DD15-303CA8991CB2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| 지수화 방법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>
            <a:extLst>
              <a:ext uri="{FF2B5EF4-FFF2-40B4-BE49-F238E27FC236}">
                <a16:creationId xmlns:a16="http://schemas.microsoft.com/office/drawing/2014/main" id="{1CA67D06-A944-FFF7-8477-C9972C772EA6}"/>
              </a:ext>
            </a:extLst>
          </p:cNvPr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>
            <a:extLst>
              <a:ext uri="{FF2B5EF4-FFF2-40B4-BE49-F238E27FC236}">
                <a16:creationId xmlns:a16="http://schemas.microsoft.com/office/drawing/2014/main" id="{89FAB872-C967-9A82-270E-F7682B5546EF}"/>
              </a:ext>
            </a:extLst>
          </p:cNvPr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1" descr="/home/claude/work/logo_gateway.jpeg">
            <a:extLst>
              <a:ext uri="{FF2B5EF4-FFF2-40B4-BE49-F238E27FC236}">
                <a16:creationId xmlns:a16="http://schemas.microsoft.com/office/drawing/2014/main" id="{EB001932-1377-CA7D-C7C6-DA36D0BE2E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/home/claude/work/logo_eu.jpeg">
            <a:extLst>
              <a:ext uri="{FF2B5EF4-FFF2-40B4-BE49-F238E27FC236}">
                <a16:creationId xmlns:a16="http://schemas.microsoft.com/office/drawing/2014/main" id="{0CAF922F-2060-EA53-F7CE-36DC1C1311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 descr="/home/claude/work/logo_itu.png">
            <a:extLst>
              <a:ext uri="{FF2B5EF4-FFF2-40B4-BE49-F238E27FC236}">
                <a16:creationId xmlns:a16="http://schemas.microsoft.com/office/drawing/2014/main" id="{BFE60806-0AD7-2E61-C7FC-345C160C99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>
            <a:extLst>
              <a:ext uri="{FF2B5EF4-FFF2-40B4-BE49-F238E27FC236}">
                <a16:creationId xmlns:a16="http://schemas.microsoft.com/office/drawing/2014/main" id="{1E79D56F-2FD5-50D1-4785-052184A4D8A3}"/>
              </a:ext>
            </a:extLst>
          </p:cNvPr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ADA5812-FA95-8802-4B62-0A45484D6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670" y="23915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7" name="Rectangle 15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00000" y="1460000"/>
            <a:ext cx="500000" cy="500000"/>
          </a:xfrm>
          <a:prstGeom prst="ellipse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00000" y="15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20000" y="145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지표 정규화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20000" y="175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각 지표를 서울 25개 자치구 범위 안에서 0-1 Min-Max 스케일로 변환</a:t>
            </a:r>
          </a:p>
        </p:txBody>
      </p:sp>
      <p:sp>
        <p:nvSpPr>
          <p:cNvPr id="163" name="Oval 162"/>
          <p:cNvSpPr/>
          <p:nvPr/>
        </p:nvSpPr>
        <p:spPr>
          <a:xfrm>
            <a:off x="900000" y="2410000"/>
            <a:ext cx="500000" cy="500000"/>
          </a:xfrm>
          <a:prstGeom prst="ellipse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00000" y="25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520000" y="240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방향 통일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20000" y="270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연체율처럼 값이 클수록 불리한 지표는 점수가 높을수록 유리하도록 역코딩</a:t>
            </a:r>
          </a:p>
        </p:txBody>
      </p:sp>
      <p:sp>
        <p:nvSpPr>
          <p:cNvPr id="167" name="Oval 166"/>
          <p:cNvSpPr/>
          <p:nvPr/>
        </p:nvSpPr>
        <p:spPr>
          <a:xfrm>
            <a:off x="900000" y="3360000"/>
            <a:ext cx="500000" cy="500000"/>
          </a:xfrm>
          <a:prstGeom prst="ellipse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00000" y="34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520000" y="335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차원 점수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20000" y="365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UMC 6차원별 지표를 동일 가중 산술평균으로 결합</a:t>
            </a:r>
          </a:p>
        </p:txBody>
      </p:sp>
      <p:sp>
        <p:nvSpPr>
          <p:cNvPr id="171" name="Oval 170"/>
          <p:cNvSpPr/>
          <p:nvPr/>
        </p:nvSpPr>
        <p:spPr>
          <a:xfrm>
            <a:off x="900000" y="4310000"/>
            <a:ext cx="500000" cy="500000"/>
          </a:xfrm>
          <a:prstGeom prst="ellipse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00000" y="44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520000" y="4300000"/>
            <a:ext cx="88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종합 점수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20000" y="4600000"/>
            <a:ext cx="888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6개 차원 점수를 동일 가중 평균해 자치구별 UMC composite 산출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250000" y="5400000"/>
            <a:ext cx="915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해석: 이 지수는 서울 내부 상대 비교 지수이며, UMC 달성의 절대 수준이나 타 도시와의 직접 비교값이 아니다.</a:t>
            </a:r>
          </a:p>
        </p:txBody>
      </p:sp>
    </p:spTree>
    <p:extLst>
      <p:ext uri="{BB962C8B-B14F-4D97-AF65-F5344CB8AC3E}">
        <p14:creationId xmlns:p14="http://schemas.microsoft.com/office/powerpoint/2010/main" val="89488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3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3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3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5BF6F110-7B90-2D28-CB8D-A85EE049EAC1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결과 | 2024 UMC 종합 격차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6F3236-852F-22BA-145E-8E349C68EE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0" t="9500" r="2500" b="26000"/>
          <a:stretch>
            <a:fillRect/>
          </a:stretch>
        </p:blipFill>
        <p:spPr>
          <a:xfrm>
            <a:off x="548640" y="1313993"/>
            <a:ext cx="5394960" cy="25206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D0B62D-454D-E8E2-7C65-01A03259C5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00" t="9500" r="2500" b="26000"/>
          <a:stretch>
            <a:fillRect/>
          </a:stretch>
        </p:blipFill>
        <p:spPr>
          <a:xfrm>
            <a:off x="6248400" y="1313993"/>
            <a:ext cx="5394960" cy="2520696"/>
          </a:xfrm>
          <a:prstGeom prst="rect">
            <a:avLst/>
          </a:prstGeom>
        </p:spPr>
      </p:pic>
      <p:sp>
        <p:nvSpPr>
          <p:cNvPr id="273" name="Rectangle 27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ounded Rectangle 273"/>
          <p:cNvSpPr/>
          <p:nvPr/>
        </p:nvSpPr>
        <p:spPr>
          <a:xfrm>
            <a:off x="800000" y="4180000"/>
            <a:ext cx="3200000" cy="13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800000" y="4180000"/>
            <a:ext cx="76200" cy="135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60000" y="432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종합 점수 범위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60000" y="4670000"/>
            <a:ext cx="2920000" cy="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중랑구 0.279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서초구 0.695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최상위-최하위 약 2.5배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4450000" y="4180000"/>
            <a:ext cx="3200000" cy="13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450000" y="4180000"/>
            <a:ext cx="76200" cy="135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610000" y="432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공간 패턴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4610000" y="4670000"/>
            <a:ext cx="2920000" cy="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한강·중심축과 전통 도심권에서 상대적으로 높은 점수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북부 외곽과 서남부 일부에서 낮은 점수 집중</a:t>
            </a:r>
          </a:p>
        </p:txBody>
      </p:sp>
      <p:sp>
        <p:nvSpPr>
          <p:cNvPr id="282" name="Rounded Rectangle 281"/>
          <p:cNvSpPr/>
          <p:nvPr/>
        </p:nvSpPr>
        <p:spPr>
          <a:xfrm>
            <a:off x="8100000" y="4180000"/>
            <a:ext cx="3200000" cy="135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8100000" y="4180000"/>
            <a:ext cx="76200" cy="135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8260000" y="432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해석 경계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8260000" y="4670000"/>
            <a:ext cx="2920000" cy="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낮은 점수는 UMC 미달 확정이 아니라 서울 내부 상대 위치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종합 점수보다 차원별 약점이 정책 설계에 중요</a:t>
            </a:r>
          </a:p>
        </p:txBody>
      </p:sp>
    </p:spTree>
    <p:extLst>
      <p:ext uri="{BB962C8B-B14F-4D97-AF65-F5344CB8AC3E}">
        <p14:creationId xmlns:p14="http://schemas.microsoft.com/office/powerpoint/2010/main" val="359188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4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4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4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5FE392DB-DABD-54E2-B34C-AC2303B70534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결과 | 차원별 공간 패턴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237E0D-DAE0-7284-53B5-9E8F6B6E59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0" t="15000" r="2500" b="18000"/>
          <a:stretch>
            <a:fillRect/>
          </a:stretch>
        </p:blipFill>
        <p:spPr>
          <a:xfrm>
            <a:off x="548640" y="1078992"/>
            <a:ext cx="3632200" cy="1828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E3054B-692B-1DB7-2D48-B4D3B46C03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00" t="15000" r="2500" b="18000"/>
          <a:stretch>
            <a:fillRect/>
          </a:stretch>
        </p:blipFill>
        <p:spPr>
          <a:xfrm>
            <a:off x="4264660" y="1078992"/>
            <a:ext cx="3632200" cy="1828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3AE1B24-F53B-58D7-21CB-0E2F4C34130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00" t="15000" r="2500" b="18000"/>
          <a:stretch>
            <a:fillRect/>
          </a:stretch>
        </p:blipFill>
        <p:spPr>
          <a:xfrm>
            <a:off x="7980680" y="1078992"/>
            <a:ext cx="3632200" cy="1828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3BC7AD-4B43-ED9A-241C-DC1DCF70E30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500" t="15000" r="2500" b="18000"/>
          <a:stretch>
            <a:fillRect/>
          </a:stretch>
        </p:blipFill>
        <p:spPr>
          <a:xfrm>
            <a:off x="548640" y="3009392"/>
            <a:ext cx="3632200" cy="1828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73E25D1-67D8-BE9F-A3A8-F3E002676D1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00" t="15000" r="2500" b="18000"/>
          <a:stretch>
            <a:fillRect/>
          </a:stretch>
        </p:blipFill>
        <p:spPr>
          <a:xfrm>
            <a:off x="4264660" y="3009392"/>
            <a:ext cx="3632200" cy="18288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D2DD2F-0D16-F98E-5B71-DBE2A8EF359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500" t="15000" r="2500" b="18000"/>
          <a:stretch>
            <a:fillRect/>
          </a:stretch>
        </p:blipFill>
        <p:spPr>
          <a:xfrm>
            <a:off x="7980680" y="3009392"/>
            <a:ext cx="3632200" cy="1828800"/>
          </a:xfrm>
          <a:prstGeom prst="rect">
            <a:avLst/>
          </a:prstGeom>
        </p:spPr>
      </p:pic>
      <p:sp>
        <p:nvSpPr>
          <p:cNvPr id="313" name="Rectangle 31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60000" y="5040000"/>
            <a:ext cx="10550000" cy="7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950000" y="5140000"/>
            <a:ext cx="9850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모든 차원에서 동시에 우수한 자치구는 없으며, 같은 자치구도 Connectivity와 Affordability, Devices, Safety가 서로 다르게 나타난다.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LISA는 일부 국지적 클러스터를 보여 주지만, 전 차원에서 균일한 도시 전체 군집을 의미하지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1301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3F4492A9-212F-A5D0-C05F-A935F7247004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1 해석 | Digital Desert는 잠정적 타기팅 라벨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Rectangle 31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920000" y="1450000"/>
            <a:ext cx="4500000" cy="325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20000" y="1450000"/>
            <a:ext cx="76200" cy="325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080000" y="1595000"/>
            <a:ext cx="42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잠정 저점수 자치구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080000" y="1940000"/>
            <a:ext cx="4220000" cy="2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중랑구, 도봉구, 강북구, 구로구, 노원구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공통 약점은 단순 인프라보다 Devices, Safety, Affordability 쪽에 가까움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 전체를 결핍 지역으로 낙인찍는 용도가 아님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6300000" y="1450000"/>
            <a:ext cx="4500000" cy="325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300000" y="1450000"/>
            <a:ext cx="76200" cy="325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460000" y="1595000"/>
            <a:ext cx="42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Part 2로 넘어가는 질문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6460000" y="1940000"/>
            <a:ext cx="4220000" cy="26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 점수가 낮으면 개인 디지털 이용도 낮은가?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같은 자치구 안의 학력, 연령, 가구 구성 차이는 어떻게 분리되는가?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정책은 장소 기반인가, 사람 기반인가, 장소 민감형인가?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80000" y="5300000"/>
            <a:ext cx="93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결론: 자치구 지수는 개인 디지털 이용의 직접 원인이 아니라, 취약 주민에게 도달할 위치와 차원을 정하는 맥락 신호다.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2 | HLM 분석 설계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6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6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6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950000" y="1370000"/>
            <a:ext cx="9900000" cy="4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3A5B"/>
                </a:solidFill>
                <a:latin typeface="Malgun Gothic"/>
              </a:rPr>
              <a:t>개인이 자치구에 중첩된 자료 구조를 반영해 개인 특성과 자치구 조건의 평균적 연관을 분리한다.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900000" y="2200000"/>
            <a:ext cx="3200000" cy="2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00000" y="2200000"/>
            <a:ext cx="76200" cy="22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1060000" y="234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자료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060000" y="2690000"/>
            <a:ext cx="292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Seoul Survey 2023-2024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만 15세 이상 10,000명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25개 자치구별 평균 약 400명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4500000" y="2200000"/>
            <a:ext cx="3200000" cy="2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4500000" y="2200000"/>
            <a:ext cx="76200" cy="22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4660000" y="234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종속변수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4660000" y="2690000"/>
            <a:ext cx="292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8개 디지털 서비스 이용 빈도 합산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0-80 연속 척도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기본 접속이 아니라 실질적 서비스 이용 측정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8100000" y="2200000"/>
            <a:ext cx="3200000" cy="2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8100000" y="2200000"/>
            <a:ext cx="76200" cy="22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8260000" y="234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모형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8260000" y="2690000"/>
            <a:ext cx="2920000" cy="1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Level 1: 개인 특성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Level 2: Connectivity, Available for Use, Affordability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무조건 모형 → M1-M3 → Model 4 민감도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320000" y="5380000"/>
            <a:ext cx="920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목적은 인과 효과 추정이 아니라 디지털 이용 격차가 어느 층위에서 구조화되는지 확인하는 것이다.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2 결과 | 개인 취약성이 지배적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620557" y="1507011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621793" y="1460369"/>
            <a:ext cx="110643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548640" y="2375630"/>
            <a:ext cx="53034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548640" y="2438918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548640" y="275895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3291840" y="275895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845084" y="2758958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548640" y="3088142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3291840" y="3088142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4845084" y="3088142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548640" y="341732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3291840" y="3417325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4845084" y="3417325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48640" y="374651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3291840" y="3746510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845084" y="3746510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548640" y="4075694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3291840" y="4075694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845084" y="4075694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548640" y="440487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3291840" y="440487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4845084" y="4404878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48640" y="5142578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17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7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7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7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6126480" y="4613708"/>
            <a:ext cx="5669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7" descr="07_coefficient_comparison_ci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2160" y="2549971"/>
            <a:ext cx="5868225" cy="19096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Rectangle 375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650000" y="1180000"/>
            <a:ext cx="10900000" cy="4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820000" y="1320000"/>
            <a:ext cx="10300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3A5B"/>
                </a:solidFill>
                <a:latin typeface="Malgun Gothic"/>
              </a:rPr>
              <a:t>디지털 이용의 거의 모든 변이는 자치구 사이가 아니라 개인 사이에 위치한다.</a:t>
            </a:r>
          </a:p>
        </p:txBody>
      </p:sp>
      <p:graphicFrame>
        <p:nvGraphicFramePr>
          <p:cNvPr id="379" name="Table 378"/>
          <p:cNvGraphicFramePr>
            <a:graphicFrameLocks noGrp="1"/>
          </p:cNvGraphicFramePr>
          <p:nvPr/>
        </p:nvGraphicFramePr>
        <p:xfrm>
          <a:off x="850000" y="1900000"/>
          <a:ext cx="105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600000"/>
                <a:gridCol w="5700000"/>
              </a:tblGrid>
              <a:tr h="41666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Model 3 결과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ICC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0.49%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 간 분산은 매우 작고, 대부분은 개인 간 차이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중졸 이하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−18.4점, p&lt;0.001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가장 큰 개인 수준 취약성 신호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연령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−0.34점/년, p&lt;0.001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연령이 높을수록 디지털 이용 점수 하락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666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1인 가구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약 −1.7점, p&lt;0.001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가구 구성도 낮은 이용과 연결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1667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 UMC 차원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작고 불안정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직접 원인보다 맥락적 타기팅 신호로 해석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</a:tbl>
          </a:graphicData>
        </a:graphic>
      </p:graphicFrame>
      <p:sp>
        <p:nvSpPr>
          <p:cNvPr id="380" name="Rounded Rectangle 379"/>
          <p:cNvSpPr/>
          <p:nvPr/>
        </p:nvSpPr>
        <p:spPr>
          <a:xfrm>
            <a:off x="1050000" y="4600000"/>
            <a:ext cx="455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50000" y="4600000"/>
            <a:ext cx="76200" cy="10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1210000" y="4745000"/>
            <a:ext cx="42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핵심 결과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210000" y="5090000"/>
            <a:ext cx="42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개인 취약성이 넓은 자치구 조건보다 디지털 이용 격차와 더 강하게 연결된다.</a:t>
            </a:r>
          </a:p>
        </p:txBody>
      </p:sp>
      <p:sp>
        <p:nvSpPr>
          <p:cNvPr id="384" name="Rounded Rectangle 383"/>
          <p:cNvSpPr/>
          <p:nvPr/>
        </p:nvSpPr>
        <p:spPr>
          <a:xfrm>
            <a:off x="6400000" y="4600000"/>
            <a:ext cx="4550000" cy="10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6400000" y="4600000"/>
            <a:ext cx="76200" cy="10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6560000" y="4745000"/>
            <a:ext cx="42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해석 경계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6560000" y="5090000"/>
            <a:ext cx="427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HLM은 다층 연관성 분석이며 자치구 조건의 인과 효과를 입증하지 않는다.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2 해석 | 모형 단계와 guardrail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8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89" name="Table 388"/>
          <p:cNvGraphicFramePr>
            <a:graphicFrameLocks noGrp="1"/>
          </p:cNvGraphicFramePr>
          <p:nvPr/>
        </p:nvGraphicFramePr>
        <p:xfrm>
          <a:off x="850000" y="1350000"/>
          <a:ext cx="10500000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000"/>
                <a:gridCol w="4100000"/>
                <a:gridCol w="4550000"/>
              </a:tblGrid>
              <a:tr h="47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추정 내용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무조건 모형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ICC와 자치구 간 분산 확인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다층 구조를 점검하되, 자치구 간 분산은 매우 작음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M1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개인 수준 변수 추가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학력·연령·가구·주거 조건의 강한 연관 확인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M2-M3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자치구 UMC 차원과 상호작용 추가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평균적 district association은 작고 견고하지 않음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Model 4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65+ 임계와 저학력 상호작용 민감도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고령·저학력 중첩 취약성을 보조적으로 확인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0" name="Rounded Rectangle 389"/>
          <p:cNvSpPr/>
          <p:nvPr/>
        </p:nvSpPr>
        <p:spPr>
          <a:xfrm>
            <a:off x="1050000" y="4200000"/>
            <a:ext cx="4550000" cy="11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50000" y="4200000"/>
            <a:ext cx="76200" cy="11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1210000" y="4345000"/>
            <a:ext cx="42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읽어야 할 결론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210000" y="4690000"/>
            <a:ext cx="42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디지털 이용 격차는 넓은 자치구 조건보다 개인 취약성의 중첩과 더 강하게 연결된다.</a:t>
            </a:r>
          </a:p>
        </p:txBody>
      </p:sp>
      <p:sp>
        <p:nvSpPr>
          <p:cNvPr id="394" name="Rounded Rectangle 393"/>
          <p:cNvSpPr/>
          <p:nvPr/>
        </p:nvSpPr>
        <p:spPr>
          <a:xfrm>
            <a:off x="6400000" y="4200000"/>
            <a:ext cx="4550000" cy="11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6400000" y="4200000"/>
            <a:ext cx="76200" cy="11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6560000" y="4345000"/>
            <a:ext cx="429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3A5B"/>
                </a:solidFill>
                <a:latin typeface="Malgun Gothic"/>
              </a:rPr>
              <a:t>읽으면 안 되는 결론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6560000" y="4690000"/>
            <a:ext cx="427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조건이 개인 디지털 이용을 인과적으로 만든다고 해석하지 않는다.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플랫폼 가시 신호의 역할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9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9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9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19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1210981"/>
            <a:ext cx="11887201" cy="456058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Rectangle 40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60000" y="4980000"/>
            <a:ext cx="1055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950000" y="5110000"/>
            <a:ext cx="985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행정·서베이 자료는 디지털 문제가 생활 속 어떤 상황에서 발생하는지 충분히 보여 주기 어렵다.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당근 동네생활 글은 대표 표본이 아니라, 플랫폼에 게시된 생활 경험 신호다.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100">
                <a:solidFill>
                  <a:srgbClr val="555F69"/>
                </a:solidFill>
                <a:latin typeface="Malgun Gothic"/>
              </a:rPr>
              <a:t>• 분석 목표는 결핍 유병률 산출이 아니라 자치구·차원별 괴리 후보를 찾고 해석 경로를 보완하는 것이다.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수집·전처리와 분석 단위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0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0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0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0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763" y="1108136"/>
            <a:ext cx="11460475" cy="500751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Rectangle 413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760000" y="5220000"/>
            <a:ext cx="10550000" cy="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950000" y="5310000"/>
            <a:ext cx="985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B3A5B"/>
                </a:solidFill>
                <a:latin typeface="Malgun Gothic"/>
              </a:rPr>
              <a:t>관찰 단위는 개별 게시물, 집계 단위는 자치구·차원 셀, 해석 단위는 큰 괴리 셀의 사례다. 이 세 단위를 혼동하지 않는다.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LLM 분류와 구조화 추론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1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1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1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21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850" y="1191456"/>
            <a:ext cx="11887198" cy="46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Rectangle 42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760000" y="5200000"/>
            <a:ext cx="10550000" cy="5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950000" y="5300000"/>
            <a:ext cx="9850000" cy="3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B3A5B"/>
                </a:solidFill>
                <a:latin typeface="Malgun Gothic"/>
              </a:rPr>
              <a:t>Few-shot 분류는 사전 정의된 관련성·차원 코드에 배치하고, reasoning-guided 해석은 고괴리 셀의 가능한 경로를 분리된 정보 세트로 점검한다.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2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2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2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결과 | LLM 분류 검증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Rectangle 43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41" name="Table 440"/>
          <p:cNvGraphicFramePr>
            <a:graphicFrameLocks noGrp="1"/>
          </p:cNvGraphicFramePr>
          <p:nvPr/>
        </p:nvGraphicFramePr>
        <p:xfrm>
          <a:off x="900000" y="1450000"/>
          <a:ext cx="10350000" cy="2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1600000"/>
                <a:gridCol w="6050000"/>
              </a:tblGrid>
              <a:tr h="41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검증 지표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UMC 관련 정밀도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84.7%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LLM이 Y로 분류한 표본 중 인간 검토로 관련 확인된 비율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차원 완전 일치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66.5%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사람이 관련으로 확인한 글에서 차원 집합이 완전히 같은 비율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차원 부분 일치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78.3%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최소 1개 차원이 겹치는 비율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41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평균 Jaccard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0.723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다중 라벨 차원 분류의 중첩 정도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2" name="TextBox 441"/>
          <p:cNvSpPr txBox="1"/>
          <p:nvPr/>
        </p:nvSpPr>
        <p:spPr>
          <a:xfrm>
            <a:off x="1050000" y="4000000"/>
            <a:ext cx="9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분류는 유용하지만 완전 자동 확증은 아니다.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Devices처럼 경계가 모호한 차원은 추가 검증과 해석상 주의가 필요하다.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검증 결과는 후속 집계의 입력 안정성을 뒷받침하지만, 개별 게시물 해석을 확정하지 않는다.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3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3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3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3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결과 | 자치구별 분류 분포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Rectangle 45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ounded Rectangle 452"/>
          <p:cNvSpPr/>
          <p:nvPr/>
        </p:nvSpPr>
        <p:spPr>
          <a:xfrm>
            <a:off x="900000" y="1450000"/>
            <a:ext cx="3100000" cy="17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900000" y="1450000"/>
            <a:ext cx="76200" cy="17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1060000" y="159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분류 입력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060000" y="1940000"/>
            <a:ext cx="282000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분류 완료 131,792건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UMC 관련 Y 7,136건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무관 N 122,509건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불확정 ? 2,147건</a:t>
            </a:r>
          </a:p>
        </p:txBody>
      </p:sp>
      <p:sp>
        <p:nvSpPr>
          <p:cNvPr id="457" name="Rounded Rectangle 456"/>
          <p:cNvSpPr/>
          <p:nvPr/>
        </p:nvSpPr>
        <p:spPr>
          <a:xfrm>
            <a:off x="4450000" y="1450000"/>
            <a:ext cx="3100000" cy="17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4450000" y="1450000"/>
            <a:ext cx="76200" cy="17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4610000" y="159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자치구별 분포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4610000" y="1940000"/>
            <a:ext cx="282000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관련(Y) 비율은 약 2%-15%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게시 행위와 생활인구 구성의 영향을 받음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결핍 유병률로 직접 읽지 않음</a:t>
            </a:r>
          </a:p>
        </p:txBody>
      </p:sp>
      <p:sp>
        <p:nvSpPr>
          <p:cNvPr id="461" name="Rounded Rectangle 460"/>
          <p:cNvSpPr/>
          <p:nvPr/>
        </p:nvSpPr>
        <p:spPr>
          <a:xfrm>
            <a:off x="8000000" y="1450000"/>
            <a:ext cx="3100000" cy="17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8000000" y="1450000"/>
            <a:ext cx="76200" cy="17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8160000" y="159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후속 집계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8160000" y="1940000"/>
            <a:ext cx="2820000" cy="1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자치구·차원 셀로 전환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작성 시점 생활인구 노출로 표준화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행정 prior와 비교 가능한 rate 구성</a:t>
            </a:r>
          </a:p>
        </p:txBody>
      </p:sp>
      <p:graphicFrame>
        <p:nvGraphicFramePr>
          <p:cNvPr id="465" name="Table 464"/>
          <p:cNvGraphicFramePr>
            <a:graphicFrameLocks noGrp="1"/>
          </p:cNvGraphicFramePr>
          <p:nvPr/>
        </p:nvGraphicFramePr>
        <p:xfrm>
          <a:off x="2300000" y="3850000"/>
          <a:ext cx="74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600000"/>
                <a:gridCol w="4200000"/>
              </a:tblGrid>
              <a:tr h="35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분류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건수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발표용 의미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Y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7,136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UMC 관련 플랫폼 가시 신호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?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2,147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경계가 불명확한 신호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N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122,509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83038"/>
                          </a:solidFill>
                          <a:latin typeface="Malgun Gothic"/>
                        </a:rPr>
                        <a:t>UMC 관련성이 낮은 게시물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24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4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4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4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EB 수축률 모형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Rectangle 462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880000" y="1410000"/>
            <a:ext cx="500000" cy="500000"/>
          </a:xfrm>
          <a:prstGeom prst="ellipse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880000" y="15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1500000" y="140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prior rate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500000" y="170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Part 1 자치구·차원 점수를 플랫폼 신호율 단위로 옮긴 행정자료 기반 기대값</a:t>
            </a:r>
          </a:p>
        </p:txBody>
      </p:sp>
      <p:sp>
        <p:nvSpPr>
          <p:cNvPr id="469" name="Oval 468"/>
          <p:cNvSpPr/>
          <p:nvPr/>
        </p:nvSpPr>
        <p:spPr>
          <a:xfrm>
            <a:off x="880000" y="2160000"/>
            <a:ext cx="500000" cy="500000"/>
          </a:xfrm>
          <a:prstGeom prst="ellipse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880000" y="22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500000" y="215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observed rate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500000" y="245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작성 시점 생활인구 노출로 표준화한 실제 플랫폼 게시 신호율</a:t>
            </a:r>
          </a:p>
        </p:txBody>
      </p:sp>
      <p:sp>
        <p:nvSpPr>
          <p:cNvPr id="473" name="Oval 472"/>
          <p:cNvSpPr/>
          <p:nvPr/>
        </p:nvSpPr>
        <p:spPr>
          <a:xfrm>
            <a:off x="880000" y="2910000"/>
            <a:ext cx="500000" cy="500000"/>
          </a:xfrm>
          <a:prstGeom prst="ellipse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880000" y="30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500000" y="290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posterior estimate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500000" y="320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prior와 observed rate의 정밀도 가중평균</a:t>
            </a:r>
          </a:p>
        </p:txBody>
      </p:sp>
      <p:sp>
        <p:nvSpPr>
          <p:cNvPr id="477" name="Oval 476"/>
          <p:cNvSpPr/>
          <p:nvPr/>
        </p:nvSpPr>
        <p:spPr>
          <a:xfrm>
            <a:off x="880000" y="3660000"/>
            <a:ext cx="500000" cy="500000"/>
          </a:xfrm>
          <a:prstGeom prst="ellipse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880000" y="375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500000" y="365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posterior shift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500000" y="395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posterior estimate - prior rate; 기대보다 강하거나 약한 플랫폼 신호</a:t>
            </a:r>
          </a:p>
        </p:txBody>
      </p:sp>
      <p:sp>
        <p:nvSpPr>
          <p:cNvPr id="481" name="Oval 480"/>
          <p:cNvSpPr/>
          <p:nvPr/>
        </p:nvSpPr>
        <p:spPr>
          <a:xfrm>
            <a:off x="880000" y="4410000"/>
            <a:ext cx="500000" cy="500000"/>
          </a:xfrm>
          <a:prstGeom prst="ellipse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880000" y="4505000"/>
            <a:ext cx="50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1500000" y="4400000"/>
            <a:ext cx="97800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3A5B"/>
                </a:solidFill>
                <a:latin typeface="Malgun Gothic"/>
              </a:rPr>
              <a:t>z_shift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500000" y="4700000"/>
            <a:ext cx="9780000" cy="2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55F69"/>
                </a:solidFill>
                <a:latin typeface="Malgun Gothic"/>
              </a:rPr>
              <a:t>같은 차원 안에서 shift를 표준화한 우선 검토 점수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220000" y="5400000"/>
            <a:ext cx="9700000" cy="3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B3A5B"/>
                </a:solidFill>
                <a:latin typeface="Malgun Gothic"/>
              </a:rPr>
              <a:t>이 모형은 행정 지표가 맞는지 틀리는지를 판정하지 않고, 행정 prior와 플랫폼 observed signal이 어디서 다르게 움직이는지 표시한다.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25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5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5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5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결과 | 플랫폼-prior 괴리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Rectangle 47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ounded Rectangle 476"/>
          <p:cNvSpPr/>
          <p:nvPr/>
        </p:nvSpPr>
        <p:spPr>
          <a:xfrm>
            <a:off x="850000" y="1400000"/>
            <a:ext cx="3300000" cy="2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850000" y="1400000"/>
            <a:ext cx="76200" cy="25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1010000" y="1545000"/>
            <a:ext cx="30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차원 수준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010000" y="1890000"/>
            <a:ext cx="3020000" cy="1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Devices와 Digital Skills에서 shift 폭이 가장 큼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Connection Quality, AFU, Affordability는 prior 근처에 머묾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지역 단위 인프라·요금 지표는 주민 체감을 비교적 잘 대리할 수 있음</a:t>
            </a:r>
          </a:p>
        </p:txBody>
      </p:sp>
      <p:sp>
        <p:nvSpPr>
          <p:cNvPr id="481" name="Rounded Rectangle 480"/>
          <p:cNvSpPr/>
          <p:nvPr/>
        </p:nvSpPr>
        <p:spPr>
          <a:xfrm>
            <a:off x="4430000" y="1400000"/>
            <a:ext cx="3300000" cy="2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4430000" y="1400000"/>
            <a:ext cx="76200" cy="25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4590000" y="1545000"/>
            <a:ext cx="30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숨은 호소 후보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4590000" y="1890000"/>
            <a:ext cx="3020000" cy="1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서초구 Devices: z=+2.46, shift +16.3/100k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관악구 AFU: z=+2.15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점수가 양호해도 플랫폼 신호가 강할 수 있음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8000000" y="1400000"/>
            <a:ext cx="3300000" cy="25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8000000" y="1400000"/>
            <a:ext cx="76200" cy="25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TextBox 486"/>
          <p:cNvSpPr txBox="1"/>
          <p:nvPr/>
        </p:nvSpPr>
        <p:spPr>
          <a:xfrm>
            <a:off x="8160000" y="1545000"/>
            <a:ext cx="30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조용한 결핍 후보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8160000" y="1890000"/>
            <a:ext cx="3020000" cy="19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구로구 Devices: z=-2.06, -56.8/100k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강동구 Devices: z=-1.85, -53.3/100k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게시 신호가 약하다는 뜻이지 수요 부재가 아님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1050000" y="4420000"/>
            <a:ext cx="10000000" cy="69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큰 z_shift는 결핍 크기 자체가 아니라 행정자료 기반 기대와 플랫폼 가시 신호 사이의 거리다. 따라서 Figure 10/11은 추가 질적 검토가 필요한 후보 셀을 찾는 지도다.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6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26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6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6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6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Part 3 | Stage A-E 구조화 추론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Rectangle 48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ounded Rectangle 488"/>
          <p:cNvSpPr/>
          <p:nvPr/>
        </p:nvSpPr>
        <p:spPr>
          <a:xfrm>
            <a:off x="820000" y="140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820000" y="1400000"/>
            <a:ext cx="76200" cy="9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980000" y="154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A | 분류·후보화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980000" y="189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UMC 관련성과 차원 라벨을 고정된 코드북으로 부여</a:t>
            </a:r>
          </a:p>
        </p:txBody>
      </p:sp>
      <p:sp>
        <p:nvSpPr>
          <p:cNvPr id="493" name="Rounded Rectangle 492"/>
          <p:cNvSpPr/>
          <p:nvPr/>
        </p:nvSpPr>
        <p:spPr>
          <a:xfrm>
            <a:off x="6270000" y="140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6270000" y="1400000"/>
            <a:ext cx="76200" cy="9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430000" y="154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B | 가설 생성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6430000" y="189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Abductive, Forward, Sequential 에이전트가 서로 다른 논리로 가능한 경로를 제안</a:t>
            </a:r>
          </a:p>
        </p:txBody>
      </p:sp>
      <p:sp>
        <p:nvSpPr>
          <p:cNvPr id="497" name="Rounded Rectangle 496"/>
          <p:cNvSpPr/>
          <p:nvPr/>
        </p:nvSpPr>
        <p:spPr>
          <a:xfrm>
            <a:off x="820000" y="257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820000" y="2570000"/>
            <a:ext cx="76200" cy="9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TextBox 498"/>
          <p:cNvSpPr txBox="1"/>
          <p:nvPr/>
        </p:nvSpPr>
        <p:spPr>
          <a:xfrm>
            <a:off x="980000" y="271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C | 데이터 명세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980000" y="306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판단에 필요한 지역·시간·차원 자료를 사후 맞춤 없이 지정</a:t>
            </a:r>
          </a:p>
        </p:txBody>
      </p:sp>
      <p:sp>
        <p:nvSpPr>
          <p:cNvPr id="501" name="Rounded Rectangle 500"/>
          <p:cNvSpPr/>
          <p:nvPr/>
        </p:nvSpPr>
        <p:spPr>
          <a:xfrm>
            <a:off x="6270000" y="2570000"/>
            <a:ext cx="5000000" cy="900000"/>
          </a:xfrm>
          <a:prstGeom prst="roundRect">
            <a:avLst/>
          </a:prstGeom>
          <a:solidFill>
            <a:srgbClr val="E8F4F9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6270000" y="2570000"/>
            <a:ext cx="76200" cy="90000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6430000" y="271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D | 규칙 기반 증거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6430000" y="306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증거 파일을 구성하되 raw text와 게시물 ID는 발표 표면에서 제외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820000" y="3740000"/>
            <a:ext cx="5000000" cy="9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820000" y="3740000"/>
            <a:ext cx="76200" cy="900000"/>
          </a:xfrm>
          <a:prstGeom prst="rect">
            <a:avLst/>
          </a:prstGeom>
          <a:solidFill>
            <a:srgbClr val="9AA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980000" y="3885000"/>
            <a:ext cx="47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3A5B"/>
                </a:solidFill>
                <a:latin typeface="Malgun Gothic"/>
              </a:rPr>
              <a:t>Stage E | evidence-grounded judgment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980000" y="4230000"/>
            <a:ext cx="472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000">
                <a:solidFill>
                  <a:srgbClr val="555F69"/>
                </a:solidFill>
                <a:latin typeface="Malgun Gothic"/>
              </a:rPr>
              <a:t>• 사례가 지역 패턴을 확증하지 않도록 제한된 판단만 축적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1350000" y="5480000"/>
            <a:ext cx="925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B3A5B"/>
                </a:solidFill>
                <a:latin typeface="Malgun Gothic"/>
              </a:rPr>
              <a:t>핵심 설계: 정보 세트를 단계별로 분리해 고괴리 셀을 사후적으로 맞추는 해석을 줄인다.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7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27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7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7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종합 | 세 분석을 함께 읽는 법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Rectangle 498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ounded Rectangle 500"/>
          <p:cNvSpPr/>
          <p:nvPr/>
        </p:nvSpPr>
        <p:spPr>
          <a:xfrm>
            <a:off x="850000" y="1450000"/>
            <a:ext cx="3200000" cy="26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850000" y="1450000"/>
            <a:ext cx="76200" cy="26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1010000" y="159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3.1 UMC 지수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1010000" y="1940000"/>
            <a:ext cx="2920000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자치구별·차원별 조건의 상대적 위치를 보여준다.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어떤 지역을 낙인찍기보다 약한 차원을 찾는다.</a:t>
            </a:r>
          </a:p>
        </p:txBody>
      </p:sp>
      <p:sp>
        <p:nvSpPr>
          <p:cNvPr id="505" name="Rounded Rectangle 504"/>
          <p:cNvSpPr/>
          <p:nvPr/>
        </p:nvSpPr>
        <p:spPr>
          <a:xfrm>
            <a:off x="4450000" y="1450000"/>
            <a:ext cx="3200000" cy="26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4450000" y="1450000"/>
            <a:ext cx="76200" cy="26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4610000" y="159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3.2 HLM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4610000" y="1940000"/>
            <a:ext cx="2920000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디지털 이용 격차는 주로 개인 취약성의 중첩과 연결된다.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자치구 조건은 직접 원인이 아니라 맥락 신호다.</a:t>
            </a:r>
          </a:p>
        </p:txBody>
      </p:sp>
      <p:sp>
        <p:nvSpPr>
          <p:cNvPr id="509" name="Rounded Rectangle 508"/>
          <p:cNvSpPr/>
          <p:nvPr/>
        </p:nvSpPr>
        <p:spPr>
          <a:xfrm>
            <a:off x="8050000" y="1450000"/>
            <a:ext cx="3200000" cy="26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8050000" y="1450000"/>
            <a:ext cx="76200" cy="26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8210000" y="1595000"/>
            <a:ext cx="29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3.3 플랫폼·EB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210000" y="1940000"/>
            <a:ext cx="2920000" cy="2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행정·서베이가 놓칠 수 있는 경로 신호를 탐색한다.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Devices·Digital Skills에서 괴리 후보가 두드러진다.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150000" y="4700000"/>
            <a:ext cx="9900000" cy="5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B3A5B"/>
                </a:solidFill>
                <a:latin typeface="Malgun Gothic"/>
              </a:rPr>
              <a:t>통합 결론: 개인 취약성을 우선 지원하되, 자치구 UMC 프로필과 플랫폼-prior 괴리 후보를 사용해 어디에서 어떤 차원의 지원을 설계할지 정한다.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2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8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sz="800" b="0">
                <a:solidFill>
                  <a:srgbClr val="9AA4AC"/>
                </a:solidFill>
                <a:latin typeface="Malgun Gothic"/>
              </a:rPr>
              <a:t>28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증거 해석 원칙 | 과잉 주장을 피하는 문장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Rectangle 51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13" name="Table 512"/>
          <p:cNvGraphicFramePr>
            <a:graphicFrameLocks noGrp="1"/>
          </p:cNvGraphicFramePr>
          <p:nvPr/>
        </p:nvGraphicFramePr>
        <p:xfrm>
          <a:off x="850000" y="1400000"/>
          <a:ext cx="105000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000"/>
                <a:gridCol w="6500000"/>
              </a:tblGrid>
              <a:tr h="50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피해야 할 표현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발표 문구</a:t>
                      </a:r>
                    </a:p>
                  </a:txBody>
                  <a:tcPr marL="60000" marR="60000" marT="35000" marB="35000">
                    <a:solidFill>
                      <a:srgbClr val="0B3A5B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HLM이 자치구 조건의 인과 효과를 입증했다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HLM은 개인 수준 요인과 자치구 수준 조건의 연관성을 분리해 보여준다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게시글 비율이 높은 자치구는 결핍이 더 심하다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게시글 비율은 플랫폼 이용·게시 성향과 생활인구 구성의 영향을 받는 입력 분포다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Bayesian 결과가 유병률을 추정했다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EB 결과는 행정 prior와 플랫폼 observed rate 사이의 탐색적 괴리를 요약한다</a:t>
                      </a:r>
                    </a:p>
                  </a:txBody>
                  <a:tcPr marL="60000" marR="60000" marT="35000" marB="35000">
                    <a:solidFill>
                      <a:srgbClr val="E8F4F9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z_shift가 클수록 결핍이 크다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83038"/>
                          </a:solidFill>
                          <a:latin typeface="Malgun Gothic"/>
                        </a:rPr>
                        <a:t>z_shift가 클수록 같은 차원 안에서 prior 대비 플랫폼 신호의 괴리가 크다</a:t>
                      </a:r>
                    </a:p>
                  </a:txBody>
                  <a:tcPr marL="60000" marR="60000" marT="35000" marB="35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4" name="TextBox 513"/>
          <p:cNvSpPr txBox="1"/>
          <p:nvPr/>
        </p:nvSpPr>
        <p:spPr>
          <a:xfrm>
            <a:off x="1050000" y="4300000"/>
            <a:ext cx="9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집계 결과와 검증된 해석만 사용한다.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게시물 ID, 원문 텍스트, 로컬 경로, 행 단위 LLM 출력은 노출하지 않는다.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Digital Desert는 영구 진단이 아니라 정책 점검과 타기팅을 위한 잠정 라벨이다.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800" b="1">
                <a:solidFill>
                  <a:srgbClr val="0B3A5B"/>
                </a:solidFill>
                <a:latin typeface="Malgun Gothic"/>
              </a:rPr>
              <a:t>정책 권고 | 사람 우선, 장소 민감형 설계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Rectangle 51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ounded Rectangle 518"/>
          <p:cNvSpPr/>
          <p:nvPr/>
        </p:nvSpPr>
        <p:spPr>
          <a:xfrm>
            <a:off x="900000" y="150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900000" y="1500000"/>
            <a:ext cx="76200" cy="31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TextBox 520"/>
          <p:cNvSpPr txBox="1"/>
          <p:nvPr/>
        </p:nvSpPr>
        <p:spPr>
          <a:xfrm>
            <a:off x="1060000" y="164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1. 개인 취약성 중심 지원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1060000" y="199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낮은 학력, 고령, 1인 가구, 주거 조건의 중첩을 우선 식별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단일 인구축보다 복합 취약성 프로파일에 도달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디지털 역량과 문제 해결 지원을 함께 제공</a:t>
            </a:r>
          </a:p>
        </p:txBody>
      </p:sp>
      <p:sp>
        <p:nvSpPr>
          <p:cNvPr id="523" name="Rounded Rectangle 522"/>
          <p:cNvSpPr/>
          <p:nvPr/>
        </p:nvSpPr>
        <p:spPr>
          <a:xfrm>
            <a:off x="4450000" y="150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4450000" y="1500000"/>
            <a:ext cx="76200" cy="3100000"/>
          </a:xfrm>
          <a:prstGeom prst="rect">
            <a:avLst/>
          </a:prstGeom>
          <a:solidFill>
            <a:srgbClr val="008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4610000" y="164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2. 장소 민감형 타기팅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4610000" y="199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UMC 프로필을 아웃리치와 차원별 개입 설계에 사용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Digital Desert는 저점수 자치구 점검 후보로만 활용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인프라 단독 투자 정당화 근거로 쓰지 않음</a:t>
            </a:r>
          </a:p>
        </p:txBody>
      </p:sp>
      <p:sp>
        <p:nvSpPr>
          <p:cNvPr id="527" name="Rounded Rectangle 526"/>
          <p:cNvSpPr/>
          <p:nvPr/>
        </p:nvSpPr>
        <p:spPr>
          <a:xfrm>
            <a:off x="8000000" y="1500000"/>
            <a:ext cx="3100000" cy="31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8000000" y="1500000"/>
            <a:ext cx="76200" cy="31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8160000" y="1645000"/>
            <a:ext cx="28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3. 통합 지원 패키지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8160000" y="1990000"/>
            <a:ext cx="2820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역량(capability), 안전(safety), 비용 부담(affordability), 접근 지원을 결합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플랫폼 괴리 후보는 추가 검토와 현장 확인의 우선순위로 활용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555F69"/>
                </a:solidFill>
                <a:latin typeface="Malgun Gothic"/>
              </a:rPr>
              <a:t>• 자치구 간 협력으로 공간적 군집을 보완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1300000" y="5350000"/>
            <a:ext cx="92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0B3A5B"/>
                </a:solidFill>
                <a:latin typeface="Malgun Gothic"/>
              </a:rPr>
              <a:t>정책은 '어느 자치구가 나쁜가'가 아니라 '어떤 취약 주민에게, 어느 차원의 지원을, 어디서 제공할 것인가'를 묻는다.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C3C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6355080"/>
            <a:ext cx="640080" cy="41148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4" y="6400800"/>
            <a:ext cx="1280160" cy="3200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6032" y="6355080"/>
            <a:ext cx="41148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65750"/>
            <a:ext cx="65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3A5B"/>
                </a:solidFill>
                <a:latin typeface="Malgun Gothic"/>
              </a:rPr>
              <a:t>부록 | 재현성 자료와 공개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0000" y="1180000"/>
            <a:ext cx="10900000" cy="4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000" y="1450000"/>
            <a:ext cx="4600000" cy="3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50000" y="1450000"/>
            <a:ext cx="76200" cy="3200000"/>
          </a:xfrm>
          <a:prstGeom prst="rect">
            <a:avLst/>
          </a:prstGeom>
          <a:solidFill>
            <a:srgbClr val="00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0000" y="1595000"/>
            <a:ext cx="43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부록에 포함되는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000" y="1940000"/>
            <a:ext cx="432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텍스트 전처리 키워드 사전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UMC 관련성·차원 분류 프롬프트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판정 종합기와 세 추론 에이전트 프롬프트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데이터 명세 에이전트 역할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000" y="1450000"/>
            <a:ext cx="4600000" cy="3200000"/>
          </a:xfrm>
          <a:prstGeom prst="roundRect">
            <a:avLst/>
          </a:prstGeom>
          <a:solidFill>
            <a:srgbClr val="F5F9FB"/>
          </a:solidFill>
          <a:ln w="10160">
            <a:solidFill>
              <a:srgbClr val="CA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000" y="1450000"/>
            <a:ext cx="76200" cy="3200000"/>
          </a:xfrm>
          <a:prstGeom prst="rect">
            <a:avLst/>
          </a:prstGeom>
          <a:solidFill>
            <a:srgbClr val="AE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0000" y="1595000"/>
            <a:ext cx="4340000" cy="28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B3A5B"/>
                </a:solidFill>
                <a:latin typeface="Malgun Gothic"/>
              </a:rPr>
              <a:t>발표에서 제외하는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0000" y="1940000"/>
            <a:ext cx="4320000" cy="26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게시물 원문, 게시물 ID, 행 단위 LLM 출력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로컬 경로, 비공개 플랫폼 텍스트, 원자료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00">
                <a:solidFill>
                  <a:srgbClr val="555F69"/>
                </a:solidFill>
                <a:latin typeface="Malgun Gothic"/>
              </a:rPr>
              <a:t>• 모형 결과를 넘어서는 신규 정량 주장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5300000"/>
            <a:ext cx="98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0B3A5B"/>
                </a:solidFill>
                <a:latin typeface="Malgun Gothic"/>
              </a:rPr>
              <a:t>부록은 재현 가능한 절차와 코드북의 공개 범위를 보여 주되, privacy 경계와 증거 수준 경계를 유지한다.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0">
                <a:solidFill>
                  <a:srgbClr val="9AA4AC"/>
                </a:solidFill>
                <a:latin typeface="Malgun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DF96DB4-E915-6141-929A-DC74B842B30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02cb731-3b5a-4498-99c6-384d56a1f7a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1E7B991-C5F3-F542-A0AA-1AEF51B463BF}">
  <we:reference id="wa200010215" version="2.0.0.0" store="ko-KR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1063</Words>
  <Application>Microsoft Macintosh PowerPoint</Application>
  <PresentationFormat>와이드스크린</PresentationFormat>
  <Paragraphs>273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Malgun Gothic</vt:lpstr>
      <vt:lpstr>KoPubWorldDotum Bold</vt:lpstr>
      <vt:lpstr>KoPubWorldDotum Medium</vt:lpstr>
      <vt:lpstr>KoPubWorldDotum Medium</vt:lpstr>
      <vt:lpstr>Aptos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우준빈</cp:lastModifiedBy>
  <cp:revision>115</cp:revision>
  <dcterms:modified xsi:type="dcterms:W3CDTF">2026-06-15T16:45:24Z</dcterms:modified>
</cp:coreProperties>
</file>