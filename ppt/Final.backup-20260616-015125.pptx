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6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7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8.xml" ContentType="application/vnd.openxmlformats-officedocument.presentationml.notesSlide+xml"/>
  <Override PartName="/ppt/comments/comment4.xml" ContentType="application/vnd.openxmlformats-officedocument.presentationml.comment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omments/comment5.xml" ContentType="application/vnd.openxmlformats-officedocument.presentationml.comments+xml"/>
  <Override PartName="/ppt/notesSlides/notesSlide16.xml" ContentType="application/vnd.openxmlformats-officedocument.presentationml.notesSlide+xml"/>
  <Override PartName="/ppt/comments/comment6.xml" ContentType="application/vnd.openxmlformats-officedocument.presentationml.comments+xml"/>
  <Override PartName="/ppt/notesSlides/notesSlide17.xml" ContentType="application/vnd.openxmlformats-officedocument.presentationml.notesSlide+xml"/>
  <Override PartName="/ppt/comments/comment7.xml" ContentType="application/vnd.openxmlformats-officedocument.presentationml.comment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omments/comment8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31"/>
  </p:notesMasterIdLst>
  <p:sldIdLst>
    <p:sldId id="256" r:id="rId2"/>
    <p:sldId id="257" r:id="rId3"/>
    <p:sldId id="258" r:id="rId4"/>
    <p:sldId id="292" r:id="rId5"/>
    <p:sldId id="293" r:id="rId6"/>
    <p:sldId id="261" r:id="rId7"/>
    <p:sldId id="288" r:id="rId8"/>
    <p:sldId id="262" r:id="rId9"/>
    <p:sldId id="263" r:id="rId10"/>
    <p:sldId id="287" r:id="rId11"/>
    <p:sldId id="285" r:id="rId12"/>
    <p:sldId id="286" r:id="rId13"/>
    <p:sldId id="289" r:id="rId14"/>
    <p:sldId id="291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우준빈" initials="" lastIdx="23" clrIdx="0"/>
  <p:cmAuthor id="1" name="Jiyoon Shin" initials="" lastIdx="2" clrIdx="1"/>
  <p:cmAuthor id="2" name="우준빈" initials="우" lastIdx="1" clrIdx="2">
    <p:extLst>
      <p:ext uri="{19B8F6BF-5375-455C-9EA6-DF929625EA0E}">
        <p15:presenceInfo xmlns:p15="http://schemas.microsoft.com/office/powerpoint/2012/main" userId="S::2025321267@o365.yonsei.ac.kr::7d06a040-1a71-4491-85bc-14bc2821466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F07E248-7B14-439D-80B4-0DDB9BA23D15}">
  <a:tblStyle styleId="{DF07E248-7B14-439D-80B4-0DDB9BA23D1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4"/>
    <p:restoredTop sz="94658"/>
  </p:normalViewPr>
  <p:slideViewPr>
    <p:cSldViewPr snapToGrid="0">
      <p:cViewPr>
        <p:scale>
          <a:sx n="85" d="100"/>
          <a:sy n="85" d="100"/>
        </p:scale>
        <p:origin x="1672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6-13T15:38:11.114" idx="23">
    <p:pos x="6000" y="0"/>
    <p:text>준빈 작업 예정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6-13T15:38:11.114" idx="7">
    <p:pos x="6000" y="0"/>
    <p:text>준빈 작업 예정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6-13T15:38:11.114" idx="22">
    <p:pos x="6000" y="0"/>
    <p:text>준빈 작업 예정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6-14T02:53:52.929" idx="8">
    <p:pos x="6000" y="0"/>
    <p:text>준빈 수정 예정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6-14T02:47:35.257" idx="14">
    <p:pos x="345" y="230"/>
    <p:text>공간적 자기상관성 그림 삽입 후 설명 추가</p:text>
  </p:cm>
  <p:cm authorId="0" dt="2026-06-15T04:07:04.331" idx="15">
    <p:pos x="5029" y="2829"/>
    <p:text>이 부분은 따로 설명 안해도 될겁니다. Key Finding 부분에서 어떤 지역x차원이 어떻게 밀집 패턴을 보이는지 서술해주시면 좋을 것 같아요!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6-13T15:23:27.005" idx="16">
    <p:pos x="345" y="230"/>
    <p:text>모델에 사용된 변수 표 넣고 설명 오른쪽에 불렛 표시 설명</p:text>
  </p:cm>
  <p:cm authorId="0" dt="2026-06-13T15:23:27.005" idx="17">
    <p:pos x="345" y="230"/>
    <p:text>보고서에 있음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6-13T15:23:50.443" idx="18">
    <p:pos x="345" y="230"/>
    <p:text>지역보다 개인 특성 효과가 더 크게 나타났다는 것 설명</p:text>
  </p:cm>
  <p:cm authorId="0" dt="2026-06-13T15:24:43.872" idx="19">
    <p:pos x="2073" y="1737"/>
    <p:text>수치에 주안점 두고 설명하지 말 것. 어떤 특성이 주요한 특성인지 설명</p:text>
  </p:cm>
  <p:cm authorId="0" dt="2026-06-13T15:24:43.872" idx="20">
    <p:pos x="2073" y="1737"/>
    <p:text>모델 4개 간 차이 설명도 좋음 -&gt; 이거 어려우면 남겨두시면 제가 작업함</p:tex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6-13T15:29:33.914" idx="21">
    <p:pos x="345" y="230"/>
    <p:text>출처표기하신 분들 여기에 출처 모두 모아서 APA 7th 양식으로 정리할 것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g3eef9681bc1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3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" name="Google Shape;9;g3eef9681bc1_0_143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" name="Google Shape;14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" name="Google Shape;15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eef8d251b6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" name="Google Shape;46;g3eef8d251b6_0_5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" name="Google Shape;47;g3eef8d251b6_0_5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>
          <a:extLst>
            <a:ext uri="{FF2B5EF4-FFF2-40B4-BE49-F238E27FC236}">
              <a16:creationId xmlns:a16="http://schemas.microsoft.com/office/drawing/2014/main" id="{37E1DC13-E43E-E9DF-DA0B-DA265D54A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eef8d251b6_0_50:notes">
            <a:extLst>
              <a:ext uri="{FF2B5EF4-FFF2-40B4-BE49-F238E27FC236}">
                <a16:creationId xmlns:a16="http://schemas.microsoft.com/office/drawing/2014/main" id="{FFE4C814-A716-931C-8F3D-4DA2825DF1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" name="Google Shape;46;g3eef8d251b6_0_50:notes">
            <a:extLst>
              <a:ext uri="{FF2B5EF4-FFF2-40B4-BE49-F238E27FC236}">
                <a16:creationId xmlns:a16="http://schemas.microsoft.com/office/drawing/2014/main" id="{65399CD4-46D8-6AB4-AE37-E33BB0FF7A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" name="Google Shape;47;g3eef8d251b6_0_50:notes">
            <a:extLst>
              <a:ext uri="{FF2B5EF4-FFF2-40B4-BE49-F238E27FC236}">
                <a16:creationId xmlns:a16="http://schemas.microsoft.com/office/drawing/2014/main" id="{FF23C5EE-D968-A7B4-6AE0-D703EF6D9E5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9718144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6B58D343-AECD-6E2F-7B01-71ADB7EB7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ef9681bc1_2_24:notes">
            <a:extLst>
              <a:ext uri="{FF2B5EF4-FFF2-40B4-BE49-F238E27FC236}">
                <a16:creationId xmlns:a16="http://schemas.microsoft.com/office/drawing/2014/main" id="{9D4276E0-59BB-2AA5-539F-E783B32D89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g3eef9681bc1_2_24:notes">
            <a:extLst>
              <a:ext uri="{FF2B5EF4-FFF2-40B4-BE49-F238E27FC236}">
                <a16:creationId xmlns:a16="http://schemas.microsoft.com/office/drawing/2014/main" id="{1D2C0F5D-2D0B-6F11-9211-C78F96567D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8" name="Google Shape;88;g3eef9681bc1_2_24:notes">
            <a:extLst>
              <a:ext uri="{FF2B5EF4-FFF2-40B4-BE49-F238E27FC236}">
                <a16:creationId xmlns:a16="http://schemas.microsoft.com/office/drawing/2014/main" id="{C16058B8-B925-3EB0-949C-31966B1089B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9935961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ef9681bc1_2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g3eef9681bc1_2_2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8" name="Google Shape;88;g3eef9681bc1_2_2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1ED20989-1817-B74E-2DEC-FA77E5743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ef9681bc1_2_24:notes">
            <a:extLst>
              <a:ext uri="{FF2B5EF4-FFF2-40B4-BE49-F238E27FC236}">
                <a16:creationId xmlns:a16="http://schemas.microsoft.com/office/drawing/2014/main" id="{87A8A4F6-F118-573C-7467-AFEA87E238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g3eef9681bc1_2_24:notes">
            <a:extLst>
              <a:ext uri="{FF2B5EF4-FFF2-40B4-BE49-F238E27FC236}">
                <a16:creationId xmlns:a16="http://schemas.microsoft.com/office/drawing/2014/main" id="{8733CBBC-61A7-DB15-CDCD-FDB03ABDD6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8" name="Google Shape;88;g3eef9681bc1_2_24:notes">
            <a:extLst>
              <a:ext uri="{FF2B5EF4-FFF2-40B4-BE49-F238E27FC236}">
                <a16:creationId xmlns:a16="http://schemas.microsoft.com/office/drawing/2014/main" id="{AD00122A-FAAF-9CA6-ABC4-57A0E2AF2AE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6143561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" name="Google Shape;98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9" name="Google Shape;99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2" name="Google Shape;122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>
          <a:extLst>
            <a:ext uri="{FF2B5EF4-FFF2-40B4-BE49-F238E27FC236}">
              <a16:creationId xmlns:a16="http://schemas.microsoft.com/office/drawing/2014/main" id="{AD8C2B31-F37B-228B-B1E5-6961D1163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:notes">
            <a:extLst>
              <a:ext uri="{FF2B5EF4-FFF2-40B4-BE49-F238E27FC236}">
                <a16:creationId xmlns:a16="http://schemas.microsoft.com/office/drawing/2014/main" id="{C1E07FC6-B9E8-2887-ADF9-E484354FD2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" name="Google Shape;121;p2:notes">
            <a:extLst>
              <a:ext uri="{FF2B5EF4-FFF2-40B4-BE49-F238E27FC236}">
                <a16:creationId xmlns:a16="http://schemas.microsoft.com/office/drawing/2014/main" id="{CDF1B32E-7FC2-A1A8-60F5-3DA8E4F8A2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2" name="Google Shape;122;p2:notes">
            <a:extLst>
              <a:ext uri="{FF2B5EF4-FFF2-40B4-BE49-F238E27FC236}">
                <a16:creationId xmlns:a16="http://schemas.microsoft.com/office/drawing/2014/main" id="{BA870BFA-04D1-E143-F148-0FFF5A52F29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2834702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" name="Google Shape;138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11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>
          <a:extLst>
            <a:ext uri="{FF2B5EF4-FFF2-40B4-BE49-F238E27FC236}">
              <a16:creationId xmlns:a16="http://schemas.microsoft.com/office/drawing/2014/main" id="{B04B234C-9DB5-7774-40C9-F4AB784FF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>
            <a:extLst>
              <a:ext uri="{FF2B5EF4-FFF2-40B4-BE49-F238E27FC236}">
                <a16:creationId xmlns:a16="http://schemas.microsoft.com/office/drawing/2014/main" id="{2BEA40C6-2280-B635-8636-7B0A9FC596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3:notes">
            <a:extLst>
              <a:ext uri="{FF2B5EF4-FFF2-40B4-BE49-F238E27FC236}">
                <a16:creationId xmlns:a16="http://schemas.microsoft.com/office/drawing/2014/main" id="{99C9E8F4-45CE-DAA0-F1FB-A825C8BDDB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" name="Google Shape;138;p3:notes">
            <a:extLst>
              <a:ext uri="{FF2B5EF4-FFF2-40B4-BE49-F238E27FC236}">
                <a16:creationId xmlns:a16="http://schemas.microsoft.com/office/drawing/2014/main" id="{EB87590C-A2CC-CBE9-DEA0-99FA6ADD3A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2047767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Google Shape;233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4" name="Google Shape;234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13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7" name="Google Shape;277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14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eef9681bc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eef9681bc1_0_0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eef9681bc1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0" name="Google Shape;330;g3eef9681bc1_0_6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1" name="Google Shape;331;g3eef9681bc1_0_6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16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2" name="Google Shape;342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3" name="Google Shape;343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17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eef9681bc1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8" name="Google Shape;378;g3eef9681bc1_0_3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9" name="Google Shape;379;g3eef9681bc1_0_3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18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0" name="Google Shape;390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1" name="Google Shape;391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19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3" name="Google Shape;403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4" name="Google Shape;404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6" name="Google Shape;416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7" name="Google Shape;417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21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eef9681bc1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9" name="Google Shape;429;g3eef9681bc1_0_10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0" name="Google Shape;430;g3eef9681bc1_0_10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22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eef9681bc1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1" name="Google Shape;441;g3eef9681bc1_0_15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2" name="Google Shape;442;g3eef9681bc1_0_15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23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eef9681bc1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3" name="Google Shape;453;g3eef9681bc1_0_16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4" name="Google Shape;454;g3eef9681bc1_0_16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24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eef9681bc1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5" name="Google Shape;465;g3eef9681bc1_0_17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6" name="Google Shape;466;g3eef9681bc1_0_17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25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eef9681bc1_0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7" name="Google Shape;477;g3eef9681bc1_0_18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8" name="Google Shape;478;g3eef9681bc1_0_18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26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eef9681bc1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9" name="Google Shape;489;g3eef9681bc1_0_19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0" name="Google Shape;490;g3eef9681bc1_0_19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27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eef9681bc1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1" name="Google Shape;501;g3eef9681bc1_0_20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2" name="Google Shape;502;g3eef9681bc1_0_20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28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eef9681bc1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3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eef9681bc1_0_147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comments" Target="../comments/comment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comments" Target="../comments/comment2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comments" Target="../comments/comment3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comments" Target="../comments/comment4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4.png"/><Relationship Id="rId10" Type="http://schemas.openxmlformats.org/officeDocument/2006/relationships/image" Target="../media/image11.png"/><Relationship Id="rId4" Type="http://schemas.openxmlformats.org/officeDocument/2006/relationships/image" Target="../media/image3.jpg"/><Relationship Id="rId9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comments" Target="../comments/comment6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comments" Target="../comments/comment7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8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/>
        </p:nvSpPr>
        <p:spPr>
          <a:xfrm>
            <a:off x="1471050" y="1013200"/>
            <a:ext cx="9193200" cy="46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/>
              <a:t>표지</a:t>
            </a:r>
            <a:endParaRPr sz="5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bp_problem_q_card_3_bar">
            <a:extLst>
              <a:ext uri="{FF2B5EF4-FFF2-40B4-BE49-F238E27FC236}">
                <a16:creationId xmlns:a16="http://schemas.microsoft.com/office/drawing/2014/main" id="{004E4713-EB49-3642-8205-B0E9535FAC08}"/>
              </a:ext>
            </a:extLst>
          </p:cNvPr>
          <p:cNvSpPr/>
          <p:nvPr/>
        </p:nvSpPr>
        <p:spPr>
          <a:xfrm>
            <a:off x="6553200" y="4489450"/>
            <a:ext cx="68580" cy="990600"/>
          </a:xfrm>
          <a:prstGeom prst="rect">
            <a:avLst/>
          </a:prstGeom>
          <a:solidFill>
            <a:srgbClr val="2B8A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9" name="bp_problem_q_card_3">
            <a:extLst>
              <a:ext uri="{FF2B5EF4-FFF2-40B4-BE49-F238E27FC236}">
                <a16:creationId xmlns:a16="http://schemas.microsoft.com/office/drawing/2014/main" id="{0EB1770C-D7CF-3D4F-9A31-9970534D3BAD}"/>
              </a:ext>
            </a:extLst>
          </p:cNvPr>
          <p:cNvSpPr/>
          <p:nvPr/>
        </p:nvSpPr>
        <p:spPr>
          <a:xfrm>
            <a:off x="6553200" y="4489450"/>
            <a:ext cx="5059680" cy="11430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2E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8" name="bp_problem_q_card_2_bar">
            <a:extLst>
              <a:ext uri="{FF2B5EF4-FFF2-40B4-BE49-F238E27FC236}">
                <a16:creationId xmlns:a16="http://schemas.microsoft.com/office/drawing/2014/main" id="{45F60651-2919-F747-8230-797454F7434C}"/>
              </a:ext>
            </a:extLst>
          </p:cNvPr>
          <p:cNvSpPr/>
          <p:nvPr/>
        </p:nvSpPr>
        <p:spPr>
          <a:xfrm>
            <a:off x="6553200" y="3206750"/>
            <a:ext cx="68580" cy="990600"/>
          </a:xfrm>
          <a:prstGeom prst="rect">
            <a:avLst/>
          </a:prstGeom>
          <a:solidFill>
            <a:srgbClr val="2B8A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7" name="bp_problem_q_card_2">
            <a:extLst>
              <a:ext uri="{FF2B5EF4-FFF2-40B4-BE49-F238E27FC236}">
                <a16:creationId xmlns:a16="http://schemas.microsoft.com/office/drawing/2014/main" id="{901037BC-58A8-EE40-A53E-30D044612D91}"/>
              </a:ext>
            </a:extLst>
          </p:cNvPr>
          <p:cNvSpPr/>
          <p:nvPr/>
        </p:nvSpPr>
        <p:spPr>
          <a:xfrm>
            <a:off x="6553200" y="3206750"/>
            <a:ext cx="5059680" cy="990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2E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6" name="bp_problem_q_card_1_bar">
            <a:extLst>
              <a:ext uri="{FF2B5EF4-FFF2-40B4-BE49-F238E27FC236}">
                <a16:creationId xmlns:a16="http://schemas.microsoft.com/office/drawing/2014/main" id="{23885771-FCAA-3841-A9A0-BE7FAD68CA54}"/>
              </a:ext>
            </a:extLst>
          </p:cNvPr>
          <p:cNvSpPr/>
          <p:nvPr/>
        </p:nvSpPr>
        <p:spPr>
          <a:xfrm>
            <a:off x="6553200" y="1924050"/>
            <a:ext cx="68580" cy="990600"/>
          </a:xfrm>
          <a:prstGeom prst="rect">
            <a:avLst/>
          </a:prstGeom>
          <a:solidFill>
            <a:srgbClr val="2B8A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5" name="bp_problem_q_card_1">
            <a:extLst>
              <a:ext uri="{FF2B5EF4-FFF2-40B4-BE49-F238E27FC236}">
                <a16:creationId xmlns:a16="http://schemas.microsoft.com/office/drawing/2014/main" id="{F46D7CC5-2D03-9A44-B91B-B7BBEBF2F3A9}"/>
              </a:ext>
            </a:extLst>
          </p:cNvPr>
          <p:cNvSpPr/>
          <p:nvPr/>
        </p:nvSpPr>
        <p:spPr>
          <a:xfrm>
            <a:off x="6553200" y="1924050"/>
            <a:ext cx="5059680" cy="990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2E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4" name="bp_problem_photo_card">
            <a:extLst>
              <a:ext uri="{FF2B5EF4-FFF2-40B4-BE49-F238E27FC236}">
                <a16:creationId xmlns:a16="http://schemas.microsoft.com/office/drawing/2014/main" id="{4D7434D9-ACCE-EB43-83D1-4B830D2BB730}"/>
              </a:ext>
            </a:extLst>
          </p:cNvPr>
          <p:cNvSpPr/>
          <p:nvPr/>
        </p:nvSpPr>
        <p:spPr>
          <a:xfrm>
            <a:off x="548640" y="1924049"/>
            <a:ext cx="5848350" cy="4030521"/>
          </a:xfrm>
          <a:prstGeom prst="rect">
            <a:avLst/>
          </a:prstGeom>
          <a:solidFill>
            <a:srgbClr val="F7FAFC"/>
          </a:solidFill>
          <a:ln w="9525" cap="flat" cmpd="sng" algn="ctr">
            <a:solidFill>
              <a:srgbClr val="D9E2E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3" name="bp_problem_question_accent">
            <a:extLst>
              <a:ext uri="{FF2B5EF4-FFF2-40B4-BE49-F238E27FC236}">
                <a16:creationId xmlns:a16="http://schemas.microsoft.com/office/drawing/2014/main" id="{CFC1C8FF-46A9-6343-A929-144B6E295617}"/>
              </a:ext>
            </a:extLst>
          </p:cNvPr>
          <p:cNvSpPr/>
          <p:nvPr/>
        </p:nvSpPr>
        <p:spPr>
          <a:xfrm>
            <a:off x="548640" y="1225550"/>
            <a:ext cx="76200" cy="558800"/>
          </a:xfrm>
          <a:prstGeom prst="rect">
            <a:avLst/>
          </a:prstGeom>
          <a:solidFill>
            <a:srgbClr val="2B8A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2" name="bp_problem_question_band">
            <a:extLst>
              <a:ext uri="{FF2B5EF4-FFF2-40B4-BE49-F238E27FC236}">
                <a16:creationId xmlns:a16="http://schemas.microsoft.com/office/drawing/2014/main" id="{A62741F5-7C5A-AA46-816C-E131B66D77FC}"/>
              </a:ext>
            </a:extLst>
          </p:cNvPr>
          <p:cNvSpPr/>
          <p:nvPr/>
        </p:nvSpPr>
        <p:spPr>
          <a:xfrm>
            <a:off x="548640" y="1225550"/>
            <a:ext cx="11064240" cy="558800"/>
          </a:xfrm>
          <a:prstGeom prst="rect">
            <a:avLst/>
          </a:prstGeom>
          <a:solidFill>
            <a:srgbClr val="F3F8FA"/>
          </a:solidFill>
          <a:ln w="9525" cap="flat" cmpd="sng" algn="ctr">
            <a:solidFill>
              <a:srgbClr val="D6E5E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Google Shape;17;p4"/>
          <p:cNvSpPr/>
          <p:nvPr/>
        </p:nvSpPr>
        <p:spPr>
          <a:xfrm>
            <a:off x="548650" y="365750"/>
            <a:ext cx="3449192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3000"/>
              <a:buFont typeface="Calibri"/>
              <a:buNone/>
            </a:pPr>
            <a:r>
              <a:rPr lang="en-US" sz="3000" b="1" i="0" u="none" strike="noStrike" cap="none" dirty="0">
                <a:solidFill>
                  <a:srgbClr val="14263D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/>
          <p:nvPr/>
        </p:nvSpPr>
        <p:spPr>
          <a:xfrm>
            <a:off x="731520" y="1339850"/>
            <a:ext cx="10160000" cy="3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>
              <a:buClr>
                <a:srgbClr val="6B6B6B"/>
              </a:buClr>
              <a:buSzPts val="1400"/>
            </a:pPr>
            <a:r>
              <a:rPr lang="ko-KR" altLang="en-US" sz="2000" b="1" dirty="0">
                <a:solidFill>
                  <a:schemeClr val="dk1"/>
                </a:solidFill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  <a:sym typeface="Calibri"/>
              </a:rPr>
              <a:t>어떻게 </a:t>
            </a:r>
            <a:r>
              <a:rPr lang="ko-KR" altLang="en-US" sz="2000" b="1" dirty="0" err="1">
                <a:solidFill>
                  <a:schemeClr val="dk1"/>
                </a:solidFill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  <a:sym typeface="Calibri"/>
              </a:rPr>
              <a:t>초연결된</a:t>
            </a:r>
            <a:r>
              <a:rPr lang="ko-KR" altLang="en-US" sz="2000" b="1" dirty="0">
                <a:solidFill>
                  <a:schemeClr val="dk1"/>
                </a:solidFill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  <a:sym typeface="Calibri"/>
              </a:rPr>
              <a:t> 도시에서 보편적이고 의미 있는 연결성 개념을 적용할 수 있을까</a:t>
            </a:r>
            <a:r>
              <a:rPr lang="en-US" altLang="ko-KR" sz="2000" b="1" dirty="0">
                <a:solidFill>
                  <a:schemeClr val="dk1"/>
                </a:solidFill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  <a:sym typeface="Calibri"/>
              </a:rPr>
              <a:t>?</a:t>
            </a:r>
            <a:endParaRPr sz="2000" b="1" dirty="0">
              <a:solidFill>
                <a:schemeClr val="dk1"/>
              </a:solidFill>
              <a:latin typeface="KoPubWorldDotum Bold" pitchFamily="2" charset="-127"/>
              <a:ea typeface="KoPubWorldDotum Bold" pitchFamily="2" charset="-127"/>
              <a:cs typeface="KoPubWorldDotum Bold" pitchFamily="2" charset="-127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dk1"/>
              </a:solidFill>
              <a:latin typeface="KoPubWorldDotum Bold" pitchFamily="2" charset="-127"/>
              <a:ea typeface="KoPubWorldDotum Bold" pitchFamily="2" charset="-127"/>
              <a:cs typeface="KoPubWorldDotum Bold" pitchFamily="2" charset="-127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400"/>
              <a:buFont typeface="Calibri"/>
              <a:buNone/>
            </a:pPr>
            <a:endParaRPr b="1" dirty="0">
              <a:solidFill>
                <a:schemeClr val="dk1"/>
              </a:solidFill>
              <a:latin typeface="KoPubWorldDotum Bold" pitchFamily="2" charset="-127"/>
              <a:ea typeface="KoPubWorldDotum Bold" pitchFamily="2" charset="-127"/>
              <a:cs typeface="KoPubWorldDotum Bold" pitchFamily="2" charset="-127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400"/>
              <a:buFont typeface="Calibri"/>
              <a:buNone/>
            </a:pPr>
            <a:endParaRPr b="1" dirty="0">
              <a:solidFill>
                <a:schemeClr val="dk1"/>
              </a:solidFill>
              <a:latin typeface="KoPubWorldDotum Bold" pitchFamily="2" charset="-127"/>
              <a:ea typeface="KoPubWorldDotum Bold" pitchFamily="2" charset="-127"/>
              <a:cs typeface="KoPubWorldDotum Bold" pitchFamily="2" charset="-127"/>
              <a:sym typeface="Calibri"/>
            </a:endParaRPr>
          </a:p>
        </p:txBody>
      </p:sp>
      <p:pic>
        <p:nvPicPr>
          <p:cNvPr id="2050" name="Picture 2" descr="서울 여행, 현대와 전통이 공존하는 도시의 아름다움">
            <a:extLst>
              <a:ext uri="{FF2B5EF4-FFF2-40B4-BE49-F238E27FC236}">
                <a16:creationId xmlns:a16="http://schemas.microsoft.com/office/drawing/2014/main" id="{4B0389EF-5A25-7959-E950-EE42D50788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" y="2057400"/>
            <a:ext cx="5600700" cy="314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Google Shape;19;p4">
            <a:extLst>
              <a:ext uri="{FF2B5EF4-FFF2-40B4-BE49-F238E27FC236}">
                <a16:creationId xmlns:a16="http://schemas.microsoft.com/office/drawing/2014/main" id="{0B778FEE-3602-6851-1320-8344BBA30294}"/>
              </a:ext>
            </a:extLst>
          </p:cNvPr>
          <p:cNvSpPr/>
          <p:nvPr/>
        </p:nvSpPr>
        <p:spPr>
          <a:xfrm>
            <a:off x="782320" y="5348633"/>
            <a:ext cx="5486400" cy="620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400"/>
              <a:buFont typeface="Calibri"/>
              <a:buNone/>
            </a:pPr>
            <a:r>
              <a:rPr lang="ko-KR" altLang="en-US" sz="1600" dirty="0">
                <a:solidFill>
                  <a:schemeClr val="dk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  <a:sym typeface="Calibri"/>
              </a:rPr>
              <a:t>겉으로는 잘 연결되어 있어도</a:t>
            </a:r>
            <a:r>
              <a:rPr lang="en-US" altLang="ko-KR" sz="1600" dirty="0">
                <a:solidFill>
                  <a:schemeClr val="dk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  <a:sym typeface="Calibri"/>
              </a:rPr>
              <a:t>,</a:t>
            </a:r>
            <a:r>
              <a:rPr lang="ko-KR" altLang="en-US" sz="1600" dirty="0">
                <a:solidFill>
                  <a:schemeClr val="dk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  <a:sym typeface="Calibri"/>
              </a:rPr>
              <a:t> 드러나지 않는 디지털 연결성 문제가 있지 않을까</a:t>
            </a:r>
            <a:r>
              <a:rPr lang="en-US" altLang="ko-KR" sz="1600" dirty="0">
                <a:solidFill>
                  <a:schemeClr val="dk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  <a:sym typeface="Calibri"/>
              </a:rPr>
              <a:t>?</a:t>
            </a:r>
            <a:endParaRPr sz="1600" dirty="0">
              <a:solidFill>
                <a:schemeClr val="dk1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  <a:sym typeface="Calibri"/>
            </a:endParaRPr>
          </a:p>
        </p:txBody>
      </p:sp>
      <p:sp>
        <p:nvSpPr>
          <p:cNvPr id="9" name="Google Shape;32;p4">
            <a:extLst>
              <a:ext uri="{FF2B5EF4-FFF2-40B4-BE49-F238E27FC236}">
                <a16:creationId xmlns:a16="http://schemas.microsoft.com/office/drawing/2014/main" id="{42D306AB-BA82-49ED-82B4-19F63CBC75C8}"/>
              </a:ext>
            </a:extLst>
          </p:cNvPr>
          <p:cNvSpPr/>
          <p:nvPr/>
        </p:nvSpPr>
        <p:spPr>
          <a:xfrm>
            <a:off x="6772909" y="2127250"/>
            <a:ext cx="68580" cy="6096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33;p4">
            <a:extLst>
              <a:ext uri="{FF2B5EF4-FFF2-40B4-BE49-F238E27FC236}">
                <a16:creationId xmlns:a16="http://schemas.microsoft.com/office/drawing/2014/main" id="{B018AC8B-BF28-09BA-04DB-7910731F8416}"/>
              </a:ext>
            </a:extLst>
          </p:cNvPr>
          <p:cNvSpPr/>
          <p:nvPr/>
        </p:nvSpPr>
        <p:spPr>
          <a:xfrm>
            <a:off x="7010400" y="2089150"/>
            <a:ext cx="4292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869B"/>
              </a:buClr>
              <a:buSzPts val="1600"/>
              <a:buFont typeface="Calibri"/>
              <a:buNone/>
            </a:pPr>
            <a:r>
              <a:rPr lang="en-US" sz="1600" b="1" dirty="0">
                <a:solidFill>
                  <a:srgbClr val="2E869B"/>
                </a:solidFill>
                <a:latin typeface="Calibri"/>
                <a:ea typeface="Calibri"/>
                <a:cs typeface="Calibri"/>
                <a:sym typeface="Calibri"/>
              </a:rPr>
              <a:t>Q1 — </a:t>
            </a:r>
            <a:r>
              <a:rPr lang="ko-KR" altLang="en-US" sz="1600" b="1" dirty="0">
                <a:solidFill>
                  <a:srgbClr val="2E869B"/>
                </a:solidFill>
                <a:latin typeface="Calibri"/>
                <a:ea typeface="Calibri"/>
                <a:cs typeface="Calibri"/>
                <a:sym typeface="Calibri"/>
              </a:rPr>
              <a:t>지역 단위 측정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34;p4">
            <a:extLst>
              <a:ext uri="{FF2B5EF4-FFF2-40B4-BE49-F238E27FC236}">
                <a16:creationId xmlns:a16="http://schemas.microsoft.com/office/drawing/2014/main" id="{0F0DFA65-F1EC-D8D6-3408-8E4017C188DD}"/>
              </a:ext>
            </a:extLst>
          </p:cNvPr>
          <p:cNvSpPr/>
          <p:nvPr/>
        </p:nvSpPr>
        <p:spPr>
          <a:xfrm>
            <a:off x="7010400" y="2419350"/>
            <a:ext cx="4318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rgbClr val="14263D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  <a:sym typeface="Calibri"/>
              </a:rPr>
              <a:t>어떻게 지역 단위의 측정 지표를 구성할 수 있을까</a:t>
            </a:r>
            <a:r>
              <a:rPr lang="en-US" altLang="ko-KR" sz="1600" dirty="0">
                <a:solidFill>
                  <a:srgbClr val="14263D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  <a:sym typeface="Calibri"/>
              </a:rPr>
              <a:t>?</a:t>
            </a:r>
            <a:endParaRPr sz="1600" dirty="0">
              <a:solidFill>
                <a:schemeClr val="dk1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  <a:sym typeface="Calibri"/>
            </a:endParaRPr>
          </a:p>
        </p:txBody>
      </p:sp>
      <p:sp>
        <p:nvSpPr>
          <p:cNvPr id="44" name="Google Shape;32;p4">
            <a:extLst>
              <a:ext uri="{FF2B5EF4-FFF2-40B4-BE49-F238E27FC236}">
                <a16:creationId xmlns:a16="http://schemas.microsoft.com/office/drawing/2014/main" id="{5C0231CD-5A58-596C-E389-A60CCC2DAF0C}"/>
              </a:ext>
            </a:extLst>
          </p:cNvPr>
          <p:cNvSpPr/>
          <p:nvPr/>
        </p:nvSpPr>
        <p:spPr>
          <a:xfrm>
            <a:off x="6772909" y="3409950"/>
            <a:ext cx="68580" cy="6096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33;p4">
            <a:extLst>
              <a:ext uri="{FF2B5EF4-FFF2-40B4-BE49-F238E27FC236}">
                <a16:creationId xmlns:a16="http://schemas.microsoft.com/office/drawing/2014/main" id="{D81A3160-642B-9A63-3C1C-FB0AC5380B33}"/>
              </a:ext>
            </a:extLst>
          </p:cNvPr>
          <p:cNvSpPr/>
          <p:nvPr/>
        </p:nvSpPr>
        <p:spPr>
          <a:xfrm>
            <a:off x="7010400" y="3371850"/>
            <a:ext cx="4292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869B"/>
              </a:buClr>
              <a:buSzPts val="1600"/>
              <a:buFont typeface="Calibri"/>
              <a:buNone/>
            </a:pPr>
            <a:r>
              <a:rPr lang="en-US" sz="1600" b="1" dirty="0">
                <a:solidFill>
                  <a:srgbClr val="2E869B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altLang="ko-KR" sz="1600" b="1" dirty="0">
                <a:solidFill>
                  <a:srgbClr val="2E869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600" b="1" dirty="0">
                <a:solidFill>
                  <a:srgbClr val="2E869B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lang="ko-KR" altLang="en-US" sz="1600" b="1" dirty="0">
                <a:solidFill>
                  <a:srgbClr val="2E869B"/>
                </a:solidFill>
                <a:latin typeface="Calibri"/>
                <a:ea typeface="Calibri"/>
                <a:cs typeface="Calibri"/>
                <a:sym typeface="Calibri"/>
              </a:rPr>
              <a:t>회귀 기반 분석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34;p4">
            <a:extLst>
              <a:ext uri="{FF2B5EF4-FFF2-40B4-BE49-F238E27FC236}">
                <a16:creationId xmlns:a16="http://schemas.microsoft.com/office/drawing/2014/main" id="{1C4BBC8C-0DEA-F80E-B662-8A6778A8E369}"/>
              </a:ext>
            </a:extLst>
          </p:cNvPr>
          <p:cNvSpPr/>
          <p:nvPr/>
        </p:nvSpPr>
        <p:spPr>
          <a:xfrm>
            <a:off x="7010400" y="3702050"/>
            <a:ext cx="4318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ko-KR" altLang="en-US" sz="1600" dirty="0">
                <a:solidFill>
                  <a:srgbClr val="14263D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  <a:sym typeface="Calibri"/>
              </a:rPr>
              <a:t>지역과 집단 중 어떤 차원의 문제인가</a:t>
            </a:r>
            <a:r>
              <a:rPr lang="en-US" altLang="ko-KR" sz="1600" dirty="0">
                <a:solidFill>
                  <a:srgbClr val="14263D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  <a:sym typeface="Calibri"/>
              </a:rPr>
              <a:t>?</a:t>
            </a:r>
            <a:endParaRPr sz="1600" dirty="0">
              <a:solidFill>
                <a:schemeClr val="dk1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  <a:sym typeface="Calibri"/>
            </a:endParaRPr>
          </a:p>
        </p:txBody>
      </p:sp>
      <p:sp>
        <p:nvSpPr>
          <p:cNvPr id="47" name="Google Shape;32;p4">
            <a:extLst>
              <a:ext uri="{FF2B5EF4-FFF2-40B4-BE49-F238E27FC236}">
                <a16:creationId xmlns:a16="http://schemas.microsoft.com/office/drawing/2014/main" id="{97C7F6C8-4CE2-B225-CA55-02432C049672}"/>
              </a:ext>
            </a:extLst>
          </p:cNvPr>
          <p:cNvSpPr/>
          <p:nvPr/>
        </p:nvSpPr>
        <p:spPr>
          <a:xfrm>
            <a:off x="6772909" y="4692650"/>
            <a:ext cx="68580" cy="6096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33;p4">
            <a:extLst>
              <a:ext uri="{FF2B5EF4-FFF2-40B4-BE49-F238E27FC236}">
                <a16:creationId xmlns:a16="http://schemas.microsoft.com/office/drawing/2014/main" id="{7FE59C51-090C-61BC-BBBA-BA1E8C5DCD92}"/>
              </a:ext>
            </a:extLst>
          </p:cNvPr>
          <p:cNvSpPr/>
          <p:nvPr/>
        </p:nvSpPr>
        <p:spPr>
          <a:xfrm>
            <a:off x="7010400" y="4654550"/>
            <a:ext cx="4292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869B"/>
              </a:buClr>
              <a:buSzPts val="1600"/>
              <a:buFont typeface="Calibri"/>
              <a:buNone/>
            </a:pPr>
            <a:r>
              <a:rPr lang="en-US" sz="1600" b="1" dirty="0">
                <a:solidFill>
                  <a:srgbClr val="2E869B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altLang="ko-KR" sz="1600" b="1" dirty="0">
                <a:solidFill>
                  <a:srgbClr val="2E869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600" b="1" dirty="0">
                <a:solidFill>
                  <a:srgbClr val="2E869B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lang="ko-KR" altLang="en-US" sz="1600" b="1" dirty="0">
                <a:solidFill>
                  <a:srgbClr val="2E869B"/>
                </a:solidFill>
                <a:latin typeface="Calibri"/>
                <a:ea typeface="Calibri"/>
                <a:cs typeface="Calibri"/>
                <a:sym typeface="Calibri"/>
              </a:rPr>
              <a:t>미정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34;p4">
            <a:extLst>
              <a:ext uri="{FF2B5EF4-FFF2-40B4-BE49-F238E27FC236}">
                <a16:creationId xmlns:a16="http://schemas.microsoft.com/office/drawing/2014/main" id="{1F411CB8-59F4-6DED-931D-67CE16D4ACF4}"/>
              </a:ext>
            </a:extLst>
          </p:cNvPr>
          <p:cNvSpPr/>
          <p:nvPr/>
        </p:nvSpPr>
        <p:spPr>
          <a:xfrm>
            <a:off x="7010400" y="4984750"/>
            <a:ext cx="4318000" cy="4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rgbClr val="14263D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  <a:sym typeface="Calibri"/>
              </a:rPr>
              <a:t>현상 수준에서 드러나지 않는 지역 차원의 문제점은 없는가</a:t>
            </a:r>
            <a:r>
              <a:rPr lang="en-US" altLang="ko-KR" sz="1600" dirty="0">
                <a:solidFill>
                  <a:srgbClr val="14263D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  <a:sym typeface="Calibri"/>
              </a:rPr>
              <a:t>?</a:t>
            </a:r>
            <a:r>
              <a:rPr lang="ko-KR" altLang="en-US" sz="1600" dirty="0">
                <a:solidFill>
                  <a:srgbClr val="14263D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  <a:sym typeface="Calibri"/>
              </a:rPr>
              <a:t> </a:t>
            </a:r>
            <a:endParaRPr sz="1600" dirty="0">
              <a:solidFill>
                <a:schemeClr val="dk1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" name="Google Shape;39;p4" descr="/home/claude/work/logo_gateway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4" descr="/home/claude/work/logo_eu.jpe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4" descr="/home/claude/work/logo_itu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0B0B0"/>
                </a:solidFill>
                <a:latin typeface="Calibri"/>
                <a:ea typeface="Calibri"/>
                <a:cs typeface="Calibri"/>
                <a:sym typeface="Calibri"/>
              </a:rPr>
              <a:t>1 / 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/>
        </p:nvSpPr>
        <p:spPr>
          <a:xfrm>
            <a:off x="548651" y="365750"/>
            <a:ext cx="2479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14263D"/>
                </a:solidFill>
                <a:latin typeface="Calibri"/>
                <a:ea typeface="Calibri"/>
                <a:cs typeface="Calibri"/>
                <a:sym typeface="Calibri"/>
              </a:rPr>
              <a:t>Goal of Project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548640" y="978408"/>
            <a:ext cx="594300" cy="411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548640" y="6263640"/>
            <a:ext cx="11064300" cy="72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" name="Google Shape;52;p5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5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5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5"/>
          <p:cNvSpPr/>
          <p:nvPr/>
        </p:nvSpPr>
        <p:spPr>
          <a:xfrm>
            <a:off x="548640" y="6565392"/>
            <a:ext cx="13716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0B0B0"/>
                </a:solidFill>
                <a:latin typeface="Calibri"/>
                <a:ea typeface="Calibri"/>
                <a:cs typeface="Calibri"/>
                <a:sym typeface="Calibri"/>
              </a:rPr>
              <a:t>1 / 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 txBox="1"/>
          <p:nvPr/>
        </p:nvSpPr>
        <p:spPr>
          <a:xfrm>
            <a:off x="2971875" y="532000"/>
            <a:ext cx="3939288" cy="48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 err="1">
                <a:solidFill>
                  <a:schemeClr val="dk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다른</a:t>
            </a:r>
            <a:r>
              <a:rPr lang="en-US" sz="1700" dirty="0">
                <a:solidFill>
                  <a:schemeClr val="dk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 </a:t>
            </a:r>
            <a:r>
              <a:rPr lang="en-US" sz="1700" dirty="0" err="1">
                <a:solidFill>
                  <a:schemeClr val="dk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국가에</a:t>
            </a:r>
            <a:r>
              <a:rPr lang="en-US" sz="1700" dirty="0">
                <a:solidFill>
                  <a:schemeClr val="dk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 </a:t>
            </a:r>
            <a:r>
              <a:rPr lang="en-US" sz="1700" dirty="0" err="1">
                <a:solidFill>
                  <a:schemeClr val="dk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적용가능한</a:t>
            </a:r>
            <a:r>
              <a:rPr lang="en-US" sz="1700" dirty="0">
                <a:solidFill>
                  <a:schemeClr val="dk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 </a:t>
            </a:r>
            <a:r>
              <a:rPr lang="en-US" sz="1700" dirty="0" err="1">
                <a:solidFill>
                  <a:schemeClr val="dk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프레임워크</a:t>
            </a:r>
            <a:r>
              <a:rPr lang="en-US" sz="1700" dirty="0">
                <a:solidFill>
                  <a:schemeClr val="dk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 </a:t>
            </a:r>
            <a:r>
              <a:rPr lang="en-US" sz="1700" dirty="0" err="1">
                <a:solidFill>
                  <a:schemeClr val="dk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개발</a:t>
            </a:r>
            <a:endParaRPr sz="1700" dirty="0">
              <a:solidFill>
                <a:schemeClr val="dk1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57" name="Google Shape;57;p5"/>
          <p:cNvSpPr txBox="1"/>
          <p:nvPr/>
        </p:nvSpPr>
        <p:spPr>
          <a:xfrm>
            <a:off x="352180" y="3578996"/>
            <a:ext cx="1054805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000" b="1" dirty="0">
                <a:solidFill>
                  <a:schemeClr val="dk1"/>
                </a:solidFill>
                <a:latin typeface="KoPubWorldDotum Bold" pitchFamily="2" charset="-127"/>
                <a:ea typeface="KoPubWorldDotum Bold" pitchFamily="2" charset="-127"/>
                <a:cs typeface="KoPubWorldDotum Bold" pitchFamily="2" charset="-127"/>
              </a:rPr>
              <a:t>How?</a:t>
            </a:r>
            <a:endParaRPr sz="2000" b="1" dirty="0">
              <a:solidFill>
                <a:schemeClr val="dk1"/>
              </a:solidFill>
              <a:latin typeface="KoPubWorldDotum Bold" pitchFamily="2" charset="-127"/>
              <a:ea typeface="KoPubWorldDotum Bold" pitchFamily="2" charset="-127"/>
              <a:cs typeface="KoPubWorldDotum Bold" pitchFamily="2" charset="-127"/>
            </a:endParaRPr>
          </a:p>
        </p:txBody>
      </p:sp>
      <p:sp>
        <p:nvSpPr>
          <p:cNvPr id="2" name="Google Shape;57;p5">
            <a:extLst>
              <a:ext uri="{FF2B5EF4-FFF2-40B4-BE49-F238E27FC236}">
                <a16:creationId xmlns:a16="http://schemas.microsoft.com/office/drawing/2014/main" id="{FC418B3F-F04A-AD41-E33E-01053E742567}"/>
              </a:ext>
            </a:extLst>
          </p:cNvPr>
          <p:cNvSpPr txBox="1"/>
          <p:nvPr/>
        </p:nvSpPr>
        <p:spPr>
          <a:xfrm>
            <a:off x="2183162" y="1818616"/>
            <a:ext cx="190308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chemeClr val="dk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메타이론 설정</a:t>
            </a:r>
            <a:endParaRPr sz="1600" dirty="0">
              <a:solidFill>
                <a:schemeClr val="dk1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3" name="Google Shape;57;p5">
            <a:extLst>
              <a:ext uri="{FF2B5EF4-FFF2-40B4-BE49-F238E27FC236}">
                <a16:creationId xmlns:a16="http://schemas.microsoft.com/office/drawing/2014/main" id="{D4EA9817-F2C8-1466-9303-DE3E7B5F345B}"/>
              </a:ext>
            </a:extLst>
          </p:cNvPr>
          <p:cNvSpPr txBox="1"/>
          <p:nvPr/>
        </p:nvSpPr>
        <p:spPr>
          <a:xfrm>
            <a:off x="2261550" y="5417864"/>
            <a:ext cx="190308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chemeClr val="dk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개별 방법론적 고려</a:t>
            </a:r>
            <a:endParaRPr sz="1600" dirty="0">
              <a:solidFill>
                <a:schemeClr val="dk1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4" name="왼쪽 중괄호[L] 3">
            <a:extLst>
              <a:ext uri="{FF2B5EF4-FFF2-40B4-BE49-F238E27FC236}">
                <a16:creationId xmlns:a16="http://schemas.microsoft.com/office/drawing/2014/main" id="{57E2AC2E-EA47-32D5-29CE-322C17046EFB}"/>
              </a:ext>
            </a:extLst>
          </p:cNvPr>
          <p:cNvSpPr/>
          <p:nvPr/>
        </p:nvSpPr>
        <p:spPr>
          <a:xfrm>
            <a:off x="1406985" y="2052511"/>
            <a:ext cx="776177" cy="3593804"/>
          </a:xfrm>
          <a:prstGeom prst="leftBrace">
            <a:avLst>
              <a:gd name="adj1" fmla="val 8333"/>
              <a:gd name="adj2" fmla="val 5029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Google Shape;57;p5">
            <a:extLst>
              <a:ext uri="{FF2B5EF4-FFF2-40B4-BE49-F238E27FC236}">
                <a16:creationId xmlns:a16="http://schemas.microsoft.com/office/drawing/2014/main" id="{56755C74-F5C2-1A75-90EF-AE6DF9759DF6}"/>
              </a:ext>
            </a:extLst>
          </p:cNvPr>
          <p:cNvSpPr txBox="1"/>
          <p:nvPr/>
        </p:nvSpPr>
        <p:spPr>
          <a:xfrm>
            <a:off x="4941519" y="5417864"/>
            <a:ext cx="168201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chemeClr val="dk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메타이론 설정</a:t>
            </a:r>
            <a:endParaRPr sz="1600" dirty="0">
              <a:solidFill>
                <a:schemeClr val="dk1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7" name="Google Shape;57;p5">
            <a:extLst>
              <a:ext uri="{FF2B5EF4-FFF2-40B4-BE49-F238E27FC236}">
                <a16:creationId xmlns:a16="http://schemas.microsoft.com/office/drawing/2014/main" id="{204C6B49-9275-1519-E606-B2063026ADCB}"/>
              </a:ext>
            </a:extLst>
          </p:cNvPr>
          <p:cNvSpPr txBox="1"/>
          <p:nvPr/>
        </p:nvSpPr>
        <p:spPr>
          <a:xfrm>
            <a:off x="7355110" y="5417864"/>
            <a:ext cx="168201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chemeClr val="dk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메타이론 설정</a:t>
            </a:r>
            <a:endParaRPr sz="1600" dirty="0">
              <a:solidFill>
                <a:schemeClr val="dk1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8" name="Google Shape;57;p5">
            <a:extLst>
              <a:ext uri="{FF2B5EF4-FFF2-40B4-BE49-F238E27FC236}">
                <a16:creationId xmlns:a16="http://schemas.microsoft.com/office/drawing/2014/main" id="{10B77A28-5FAD-38A1-0456-AF045EA29D0F}"/>
              </a:ext>
            </a:extLst>
          </p:cNvPr>
          <p:cNvSpPr txBox="1"/>
          <p:nvPr/>
        </p:nvSpPr>
        <p:spPr>
          <a:xfrm>
            <a:off x="9747436" y="5417864"/>
            <a:ext cx="168201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chemeClr val="dk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메타이론 설정</a:t>
            </a:r>
            <a:endParaRPr sz="1600" dirty="0">
              <a:solidFill>
                <a:schemeClr val="dk1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9" name="Google Shape;57;p5">
            <a:extLst>
              <a:ext uri="{FF2B5EF4-FFF2-40B4-BE49-F238E27FC236}">
                <a16:creationId xmlns:a16="http://schemas.microsoft.com/office/drawing/2014/main" id="{A2C5A472-4167-AF47-FEC3-9F7A2ED14142}"/>
              </a:ext>
            </a:extLst>
          </p:cNvPr>
          <p:cNvSpPr txBox="1"/>
          <p:nvPr/>
        </p:nvSpPr>
        <p:spPr>
          <a:xfrm>
            <a:off x="5782524" y="1492419"/>
            <a:ext cx="190308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chemeClr val="dk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메타이론 설정</a:t>
            </a:r>
            <a:endParaRPr sz="1600" dirty="0">
              <a:solidFill>
                <a:schemeClr val="dk1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10" name="오른쪽 화살표[R] 9">
            <a:extLst>
              <a:ext uri="{FF2B5EF4-FFF2-40B4-BE49-F238E27FC236}">
                <a16:creationId xmlns:a16="http://schemas.microsoft.com/office/drawing/2014/main" id="{187045E2-2E85-9B75-00E1-B32A0E5AEB93}"/>
              </a:ext>
            </a:extLst>
          </p:cNvPr>
          <p:cNvSpPr/>
          <p:nvPr/>
        </p:nvSpPr>
        <p:spPr>
          <a:xfrm>
            <a:off x="4436459" y="1888297"/>
            <a:ext cx="665354" cy="3284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" name="Google Shape;57;p5">
            <a:extLst>
              <a:ext uri="{FF2B5EF4-FFF2-40B4-BE49-F238E27FC236}">
                <a16:creationId xmlns:a16="http://schemas.microsoft.com/office/drawing/2014/main" id="{26B389BA-8533-F4B9-CC88-D00397278B1A}"/>
              </a:ext>
            </a:extLst>
          </p:cNvPr>
          <p:cNvSpPr txBox="1"/>
          <p:nvPr/>
        </p:nvSpPr>
        <p:spPr>
          <a:xfrm>
            <a:off x="5782524" y="2553499"/>
            <a:ext cx="190308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dirty="0">
                <a:solidFill>
                  <a:schemeClr val="dk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메타이론 설정</a:t>
            </a:r>
            <a:endParaRPr sz="1600" dirty="0">
              <a:solidFill>
                <a:schemeClr val="dk1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>
          <a:extLst>
            <a:ext uri="{FF2B5EF4-FFF2-40B4-BE49-F238E27FC236}">
              <a16:creationId xmlns:a16="http://schemas.microsoft.com/office/drawing/2014/main" id="{4C0663C8-9EE8-63F2-CE80-D49415394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bp_goal_meta_takeaway">
            <a:extLst>
              <a:ext uri="{FF2B5EF4-FFF2-40B4-BE49-F238E27FC236}">
                <a16:creationId xmlns:a16="http://schemas.microsoft.com/office/drawing/2014/main" id="{FC6C91A0-9E96-C149-8EE6-C3D5AED0DE42}"/>
              </a:ext>
            </a:extLst>
          </p:cNvPr>
          <p:cNvSpPr/>
          <p:nvPr/>
        </p:nvSpPr>
        <p:spPr>
          <a:xfrm>
            <a:off x="548640" y="5486400"/>
            <a:ext cx="11064240" cy="558800"/>
          </a:xfrm>
          <a:prstGeom prst="rect">
            <a:avLst/>
          </a:prstGeom>
          <a:solidFill>
            <a:srgbClr val="14263D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bp_goal_meta_process_bg">
            <a:extLst>
              <a:ext uri="{FF2B5EF4-FFF2-40B4-BE49-F238E27FC236}">
                <a16:creationId xmlns:a16="http://schemas.microsoft.com/office/drawing/2014/main" id="{61246AF2-4B5A-1542-B658-3CB9C123D6C6}"/>
              </a:ext>
            </a:extLst>
          </p:cNvPr>
          <p:cNvSpPr/>
          <p:nvPr/>
        </p:nvSpPr>
        <p:spPr>
          <a:xfrm>
            <a:off x="548640" y="4191000"/>
            <a:ext cx="11064240" cy="1054100"/>
          </a:xfrm>
          <a:prstGeom prst="rect">
            <a:avLst/>
          </a:prstGeom>
          <a:solidFill>
            <a:srgbClr val="F7FAFC"/>
          </a:solidFill>
          <a:ln w="9525" cap="flat" cmpd="sng" algn="ctr">
            <a:solidFill>
              <a:srgbClr val="D9E2E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4" name="bp_goal_meta_card_3_top">
            <a:extLst>
              <a:ext uri="{FF2B5EF4-FFF2-40B4-BE49-F238E27FC236}">
                <a16:creationId xmlns:a16="http://schemas.microsoft.com/office/drawing/2014/main" id="{86663449-52B5-DF46-A4AB-1E0C2B2FB230}"/>
              </a:ext>
            </a:extLst>
          </p:cNvPr>
          <p:cNvSpPr/>
          <p:nvPr/>
        </p:nvSpPr>
        <p:spPr>
          <a:xfrm>
            <a:off x="8183880" y="2235200"/>
            <a:ext cx="3429000" cy="76200"/>
          </a:xfrm>
          <a:prstGeom prst="rect">
            <a:avLst/>
          </a:prstGeom>
          <a:solidFill>
            <a:srgbClr val="2B8A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bp_goal_meta_card_3">
            <a:extLst>
              <a:ext uri="{FF2B5EF4-FFF2-40B4-BE49-F238E27FC236}">
                <a16:creationId xmlns:a16="http://schemas.microsoft.com/office/drawing/2014/main" id="{5C7DD8BA-44BB-354B-A625-02DDF0866D33}"/>
              </a:ext>
            </a:extLst>
          </p:cNvPr>
          <p:cNvSpPr/>
          <p:nvPr/>
        </p:nvSpPr>
        <p:spPr>
          <a:xfrm>
            <a:off x="8183880" y="2235200"/>
            <a:ext cx="3429000" cy="1625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2E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bp_goal_meta_card_2_top">
            <a:extLst>
              <a:ext uri="{FF2B5EF4-FFF2-40B4-BE49-F238E27FC236}">
                <a16:creationId xmlns:a16="http://schemas.microsoft.com/office/drawing/2014/main" id="{55F0DE7D-B7CF-4947-9BA9-AFF6A59C6EDF}"/>
              </a:ext>
            </a:extLst>
          </p:cNvPr>
          <p:cNvSpPr/>
          <p:nvPr/>
        </p:nvSpPr>
        <p:spPr>
          <a:xfrm>
            <a:off x="4366260" y="2235200"/>
            <a:ext cx="3429000" cy="76200"/>
          </a:xfrm>
          <a:prstGeom prst="rect">
            <a:avLst/>
          </a:prstGeom>
          <a:solidFill>
            <a:srgbClr val="2B8A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bp_goal_meta_card_2">
            <a:extLst>
              <a:ext uri="{FF2B5EF4-FFF2-40B4-BE49-F238E27FC236}">
                <a16:creationId xmlns:a16="http://schemas.microsoft.com/office/drawing/2014/main" id="{8C8762AD-3FC1-5D48-9FF8-2E44BE2BDA9B}"/>
              </a:ext>
            </a:extLst>
          </p:cNvPr>
          <p:cNvSpPr/>
          <p:nvPr/>
        </p:nvSpPr>
        <p:spPr>
          <a:xfrm>
            <a:off x="4366260" y="2235200"/>
            <a:ext cx="3429000" cy="1625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2E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6" name="bp_goal_meta_card_1_top">
            <a:extLst>
              <a:ext uri="{FF2B5EF4-FFF2-40B4-BE49-F238E27FC236}">
                <a16:creationId xmlns:a16="http://schemas.microsoft.com/office/drawing/2014/main" id="{C16645F5-8704-C64A-9EC8-20795C69606A}"/>
              </a:ext>
            </a:extLst>
          </p:cNvPr>
          <p:cNvSpPr/>
          <p:nvPr/>
        </p:nvSpPr>
        <p:spPr>
          <a:xfrm>
            <a:off x="548640" y="2235200"/>
            <a:ext cx="3429000" cy="76200"/>
          </a:xfrm>
          <a:prstGeom prst="rect">
            <a:avLst/>
          </a:prstGeom>
          <a:solidFill>
            <a:srgbClr val="2B8A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5" name="bp_goal_meta_card_1">
            <a:extLst>
              <a:ext uri="{FF2B5EF4-FFF2-40B4-BE49-F238E27FC236}">
                <a16:creationId xmlns:a16="http://schemas.microsoft.com/office/drawing/2014/main" id="{B3A8671E-717B-6E47-B57F-97C816F92F6E}"/>
              </a:ext>
            </a:extLst>
          </p:cNvPr>
          <p:cNvSpPr/>
          <p:nvPr/>
        </p:nvSpPr>
        <p:spPr>
          <a:xfrm>
            <a:off x="548640" y="2235200"/>
            <a:ext cx="3429000" cy="1625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E2E7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bp_goal_meta_band_accent">
            <a:extLst>
              <a:ext uri="{FF2B5EF4-FFF2-40B4-BE49-F238E27FC236}">
                <a16:creationId xmlns:a16="http://schemas.microsoft.com/office/drawing/2014/main" id="{E2590B86-C392-B146-9926-59E0BADD4CD7}"/>
              </a:ext>
            </a:extLst>
          </p:cNvPr>
          <p:cNvSpPr/>
          <p:nvPr/>
        </p:nvSpPr>
        <p:spPr>
          <a:xfrm>
            <a:off x="548640" y="1206500"/>
            <a:ext cx="76200" cy="736600"/>
          </a:xfrm>
          <a:prstGeom prst="rect">
            <a:avLst/>
          </a:prstGeom>
          <a:solidFill>
            <a:srgbClr val="2B8A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2" name="bp_goal_meta_band">
            <a:extLst>
              <a:ext uri="{FF2B5EF4-FFF2-40B4-BE49-F238E27FC236}">
                <a16:creationId xmlns:a16="http://schemas.microsoft.com/office/drawing/2014/main" id="{2EF0821C-9B35-5841-8098-22D6DB755211}"/>
              </a:ext>
            </a:extLst>
          </p:cNvPr>
          <p:cNvSpPr/>
          <p:nvPr/>
        </p:nvSpPr>
        <p:spPr>
          <a:xfrm>
            <a:off x="548640" y="1206500"/>
            <a:ext cx="11064240" cy="736600"/>
          </a:xfrm>
          <a:prstGeom prst="rect">
            <a:avLst/>
          </a:prstGeom>
          <a:solidFill>
            <a:srgbClr val="F3F8FA"/>
          </a:solidFill>
          <a:ln w="9525" cap="flat" cmpd="sng" algn="ctr">
            <a:solidFill>
              <a:srgbClr val="D6E5E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bp_goal_meta_summary">
            <a:extLst>
              <a:ext uri="{FF2B5EF4-FFF2-40B4-BE49-F238E27FC236}">
                <a16:creationId xmlns:a16="http://schemas.microsoft.com/office/drawing/2014/main" id="{66137970-0E51-4F4E-8157-C8B18DF74C3E}"/>
              </a:ext>
            </a:extLst>
          </p:cNvPr>
          <p:cNvSpPr txBox="1"/>
          <p:nvPr/>
        </p:nvSpPr>
        <p:spPr>
          <a:xfrm>
            <a:off x="3632200" y="1320800"/>
            <a:ext cx="76200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77500" lnSpcReduction="20000"/>
          </a:bodyPr>
          <a:lstStyle/>
          <a:p>
            <a:pPr algn="l"/>
            <a:r>
              <a:rPr lang="ko-KR" altLang="en-US" sz="1600" b="1">
                <a:solidFill>
                  <a:srgbClr val="14263D"/>
                </a:solidFill>
              </a:rPr>
              <a:t>국가가 달라도 같은 논리로 비교</a:t>
            </a:r>
            <a:r>
              <a:rPr lang="en-US" altLang="ko-KR" sz="1600" b="1">
                <a:solidFill>
                  <a:srgbClr val="14263D"/>
                </a:solidFill>
              </a:rPr>
              <a:t>·</a:t>
            </a:r>
            <a:r>
              <a:rPr lang="ko-KR" altLang="en-US" sz="1600" b="1">
                <a:solidFill>
                  <a:srgbClr val="14263D"/>
                </a:solidFill>
              </a:rPr>
              <a:t>측정할 수 있도록</a:t>
            </a:r>
            <a:r>
              <a:rPr lang="en-US" altLang="ko-KR" sz="1600" b="1">
                <a:solidFill>
                  <a:srgbClr val="14263D"/>
                </a:solidFill>
              </a:rPr>
              <a:t>, </a:t>
            </a:r>
            <a:r>
              <a:rPr lang="ko-KR" altLang="en-US" sz="1600" b="1">
                <a:solidFill>
                  <a:srgbClr val="14263D"/>
                </a:solidFill>
              </a:rPr>
              <a:t>분석의 공통 언어와 적용 순서를 먼저 정의한다</a:t>
            </a:r>
            <a:r>
              <a:rPr lang="en-US" altLang="ko-KR" sz="1600" b="1">
                <a:solidFill>
                  <a:srgbClr val="14263D"/>
                </a:solidFill>
              </a:rPr>
              <a:t>.</a:t>
            </a:r>
            <a:endParaRPr lang="ko-KR" altLang="en-US" sz="1600" b="1">
              <a:solidFill>
                <a:srgbClr val="14263D"/>
              </a:solidFill>
            </a:endParaRPr>
          </a:p>
        </p:txBody>
      </p:sp>
      <p:sp>
        <p:nvSpPr>
          <p:cNvPr id="17" name="bp_goal_meta_card_1_head">
            <a:extLst>
              <a:ext uri="{FF2B5EF4-FFF2-40B4-BE49-F238E27FC236}">
                <a16:creationId xmlns:a16="http://schemas.microsoft.com/office/drawing/2014/main" id="{17FF7A76-CDBB-D344-B18A-5B769DB03DC4}"/>
              </a:ext>
            </a:extLst>
          </p:cNvPr>
          <p:cNvSpPr txBox="1"/>
          <p:nvPr/>
        </p:nvSpPr>
        <p:spPr>
          <a:xfrm>
            <a:off x="777240" y="2514600"/>
            <a:ext cx="29718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lnSpcReduction="10000"/>
          </a:bodyPr>
          <a:lstStyle/>
          <a:p>
            <a:pPr algn="l"/>
            <a:r>
              <a:rPr lang="en-US" altLang="ko-KR" sz="1500" b="1">
                <a:solidFill>
                  <a:srgbClr val="2B8A9C"/>
                </a:solidFill>
              </a:rPr>
              <a:t>1. </a:t>
            </a:r>
            <a:r>
              <a:rPr lang="ko-KR" altLang="en-US" sz="1500" b="1">
                <a:solidFill>
                  <a:srgbClr val="2B8A9C"/>
                </a:solidFill>
              </a:rPr>
              <a:t>보편 개념 정의</a:t>
            </a:r>
          </a:p>
        </p:txBody>
      </p:sp>
      <p:sp>
        <p:nvSpPr>
          <p:cNvPr id="18" name="bp_goal_meta_card_1_body">
            <a:extLst>
              <a:ext uri="{FF2B5EF4-FFF2-40B4-BE49-F238E27FC236}">
                <a16:creationId xmlns:a16="http://schemas.microsoft.com/office/drawing/2014/main" id="{73EC13BF-ACC6-0B49-B83F-75565A7B6CB5}"/>
              </a:ext>
            </a:extLst>
          </p:cNvPr>
          <p:cNvSpPr txBox="1"/>
          <p:nvPr/>
        </p:nvSpPr>
        <p:spPr>
          <a:xfrm>
            <a:off x="777240" y="2946400"/>
            <a:ext cx="297180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350" dirty="0">
                <a:solidFill>
                  <a:srgbClr val="14263D"/>
                </a:solidFill>
              </a:rPr>
              <a:t>연결성 문제를 기술</a:t>
            </a:r>
            <a:r>
              <a:rPr lang="en-US" altLang="ko-KR" sz="1350" dirty="0">
                <a:solidFill>
                  <a:srgbClr val="14263D"/>
                </a:solidFill>
              </a:rPr>
              <a:t>·</a:t>
            </a:r>
            <a:r>
              <a:rPr lang="ko-KR" altLang="en-US" sz="1350" dirty="0">
                <a:solidFill>
                  <a:srgbClr val="14263D"/>
                </a:solidFill>
              </a:rPr>
              <a:t>공간</a:t>
            </a:r>
            <a:r>
              <a:rPr lang="en-US" altLang="ko-KR" sz="1350" dirty="0">
                <a:solidFill>
                  <a:srgbClr val="14263D"/>
                </a:solidFill>
              </a:rPr>
              <a:t>·</a:t>
            </a:r>
            <a:r>
              <a:rPr lang="ko-KR" altLang="en-US" sz="1350" dirty="0">
                <a:solidFill>
                  <a:srgbClr val="14263D"/>
                </a:solidFill>
              </a:rPr>
              <a:t>사회적 차원의 공통 개념으로 정리한다</a:t>
            </a:r>
            <a:r>
              <a:rPr lang="en-US" altLang="ko-KR" sz="1350" dirty="0">
                <a:solidFill>
                  <a:srgbClr val="14263D"/>
                </a:solidFill>
              </a:rPr>
              <a:t>.</a:t>
            </a:r>
            <a:endParaRPr lang="ko-KR" altLang="en-US" sz="1350" dirty="0">
              <a:solidFill>
                <a:srgbClr val="14263D"/>
              </a:solidFill>
            </a:endParaRPr>
          </a:p>
        </p:txBody>
      </p:sp>
      <p:sp>
        <p:nvSpPr>
          <p:cNvPr id="21" name="bp_goal_meta_card_2_head">
            <a:extLst>
              <a:ext uri="{FF2B5EF4-FFF2-40B4-BE49-F238E27FC236}">
                <a16:creationId xmlns:a16="http://schemas.microsoft.com/office/drawing/2014/main" id="{63F25280-DCD5-9040-B068-B9159ECCEC15}"/>
              </a:ext>
            </a:extLst>
          </p:cNvPr>
          <p:cNvSpPr txBox="1"/>
          <p:nvPr/>
        </p:nvSpPr>
        <p:spPr>
          <a:xfrm>
            <a:off x="4594860" y="2514600"/>
            <a:ext cx="29718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lnSpcReduction="10000"/>
          </a:bodyPr>
          <a:lstStyle/>
          <a:p>
            <a:pPr algn="l"/>
            <a:r>
              <a:rPr lang="en-US" altLang="ko-KR" sz="1500" b="1">
                <a:solidFill>
                  <a:srgbClr val="2B8A9C"/>
                </a:solidFill>
              </a:rPr>
              <a:t>2. </a:t>
            </a:r>
            <a:r>
              <a:rPr lang="ko-KR" altLang="en-US" sz="1500" b="1">
                <a:solidFill>
                  <a:srgbClr val="2B8A9C"/>
                </a:solidFill>
              </a:rPr>
              <a:t>측정 원칙 설정</a:t>
            </a:r>
          </a:p>
        </p:txBody>
      </p:sp>
      <p:sp>
        <p:nvSpPr>
          <p:cNvPr id="22" name="bp_goal_meta_card_2_body">
            <a:extLst>
              <a:ext uri="{FF2B5EF4-FFF2-40B4-BE49-F238E27FC236}">
                <a16:creationId xmlns:a16="http://schemas.microsoft.com/office/drawing/2014/main" id="{3CE15BB2-33A7-3A46-A1F2-25E75475FE59}"/>
              </a:ext>
            </a:extLst>
          </p:cNvPr>
          <p:cNvSpPr txBox="1"/>
          <p:nvPr/>
        </p:nvSpPr>
        <p:spPr>
          <a:xfrm>
            <a:off x="4594860" y="2946400"/>
            <a:ext cx="297180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350" dirty="0">
                <a:solidFill>
                  <a:srgbClr val="14263D"/>
                </a:solidFill>
              </a:rPr>
              <a:t>지역 단위 지표</a:t>
            </a:r>
            <a:r>
              <a:rPr lang="en-US" altLang="ko-KR" sz="1350" dirty="0">
                <a:solidFill>
                  <a:srgbClr val="14263D"/>
                </a:solidFill>
              </a:rPr>
              <a:t>, </a:t>
            </a:r>
            <a:r>
              <a:rPr lang="ko-KR" altLang="en-US" sz="1350" dirty="0">
                <a:solidFill>
                  <a:srgbClr val="14263D"/>
                </a:solidFill>
              </a:rPr>
              <a:t>회귀 기반 설명</a:t>
            </a:r>
            <a:r>
              <a:rPr lang="en-US" altLang="ko-KR" sz="1350" dirty="0">
                <a:solidFill>
                  <a:srgbClr val="14263D"/>
                </a:solidFill>
              </a:rPr>
              <a:t>, </a:t>
            </a:r>
            <a:r>
              <a:rPr lang="ko-KR" altLang="en-US" sz="1350" dirty="0">
                <a:solidFill>
                  <a:srgbClr val="14263D"/>
                </a:solidFill>
              </a:rPr>
              <a:t>미정 요인 탐색을 하나의 분석 순서로 묶는다</a:t>
            </a:r>
            <a:r>
              <a:rPr lang="en-US" altLang="ko-KR" sz="1350" dirty="0">
                <a:solidFill>
                  <a:srgbClr val="14263D"/>
                </a:solidFill>
              </a:rPr>
              <a:t>.</a:t>
            </a:r>
            <a:endParaRPr lang="ko-KR" altLang="en-US" sz="1350" dirty="0">
              <a:solidFill>
                <a:srgbClr val="14263D"/>
              </a:solidFill>
            </a:endParaRPr>
          </a:p>
        </p:txBody>
      </p:sp>
      <p:sp>
        <p:nvSpPr>
          <p:cNvPr id="25" name="bp_goal_meta_card_3_head">
            <a:extLst>
              <a:ext uri="{FF2B5EF4-FFF2-40B4-BE49-F238E27FC236}">
                <a16:creationId xmlns:a16="http://schemas.microsoft.com/office/drawing/2014/main" id="{C78FA6BD-3DC1-B443-9CEB-1730F73B2F08}"/>
              </a:ext>
            </a:extLst>
          </p:cNvPr>
          <p:cNvSpPr txBox="1"/>
          <p:nvPr/>
        </p:nvSpPr>
        <p:spPr>
          <a:xfrm>
            <a:off x="8412480" y="2514600"/>
            <a:ext cx="29718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lnSpcReduction="10000"/>
          </a:bodyPr>
          <a:lstStyle/>
          <a:p>
            <a:pPr algn="l"/>
            <a:r>
              <a:rPr lang="en-US" altLang="ko-KR" sz="1500" b="1">
                <a:solidFill>
                  <a:srgbClr val="2B8A9C"/>
                </a:solidFill>
              </a:rPr>
              <a:t>3. </a:t>
            </a:r>
            <a:r>
              <a:rPr lang="ko-KR" altLang="en-US" sz="1500" b="1">
                <a:solidFill>
                  <a:srgbClr val="2B8A9C"/>
                </a:solidFill>
              </a:rPr>
              <a:t>적용 가능성 확보</a:t>
            </a:r>
          </a:p>
        </p:txBody>
      </p:sp>
      <p:sp>
        <p:nvSpPr>
          <p:cNvPr id="26" name="bp_goal_meta_card_3_body">
            <a:extLst>
              <a:ext uri="{FF2B5EF4-FFF2-40B4-BE49-F238E27FC236}">
                <a16:creationId xmlns:a16="http://schemas.microsoft.com/office/drawing/2014/main" id="{2FAE4D85-5910-6549-96B3-430E8A402756}"/>
              </a:ext>
            </a:extLst>
          </p:cNvPr>
          <p:cNvSpPr txBox="1"/>
          <p:nvPr/>
        </p:nvSpPr>
        <p:spPr>
          <a:xfrm>
            <a:off x="8412480" y="2946400"/>
            <a:ext cx="297180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350">
                <a:solidFill>
                  <a:srgbClr val="14263D"/>
                </a:solidFill>
              </a:rPr>
              <a:t>데이터</a:t>
            </a:r>
            <a:r>
              <a:rPr lang="en-US" altLang="ko-KR" sz="1350">
                <a:solidFill>
                  <a:srgbClr val="14263D"/>
                </a:solidFill>
              </a:rPr>
              <a:t>·</a:t>
            </a:r>
            <a:r>
              <a:rPr lang="ko-KR" altLang="en-US" sz="1350">
                <a:solidFill>
                  <a:srgbClr val="14263D"/>
                </a:solidFill>
              </a:rPr>
              <a:t>행정구역</a:t>
            </a:r>
            <a:r>
              <a:rPr lang="en-US" altLang="ko-KR" sz="1350">
                <a:solidFill>
                  <a:srgbClr val="14263D"/>
                </a:solidFill>
              </a:rPr>
              <a:t>·</a:t>
            </a:r>
            <a:r>
              <a:rPr lang="ko-KR" altLang="en-US" sz="1350">
                <a:solidFill>
                  <a:srgbClr val="14263D"/>
                </a:solidFill>
              </a:rPr>
              <a:t>정책 맥락이 달라도 현지화 가능한 기준을 남긴다</a:t>
            </a:r>
            <a:r>
              <a:rPr lang="en-US" altLang="ko-KR" sz="1350">
                <a:solidFill>
                  <a:srgbClr val="14263D"/>
                </a:solidFill>
              </a:rPr>
              <a:t>.</a:t>
            </a:r>
            <a:endParaRPr lang="ko-KR" altLang="en-US" sz="1350">
              <a:solidFill>
                <a:srgbClr val="14263D"/>
              </a:solidFill>
            </a:endParaRPr>
          </a:p>
        </p:txBody>
      </p:sp>
      <p:sp>
        <p:nvSpPr>
          <p:cNvPr id="28" name="bp_goal_meta_process_title">
            <a:extLst>
              <a:ext uri="{FF2B5EF4-FFF2-40B4-BE49-F238E27FC236}">
                <a16:creationId xmlns:a16="http://schemas.microsoft.com/office/drawing/2014/main" id="{EEC070CD-B953-FA40-96E0-4942F28D1BC9}"/>
              </a:ext>
            </a:extLst>
          </p:cNvPr>
          <p:cNvSpPr txBox="1"/>
          <p:nvPr/>
        </p:nvSpPr>
        <p:spPr>
          <a:xfrm>
            <a:off x="736600" y="4343400"/>
            <a:ext cx="127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lnSpcReduction="10000"/>
          </a:bodyPr>
          <a:lstStyle/>
          <a:p>
            <a:pPr algn="l"/>
            <a:r>
              <a:rPr lang="ko-KR" altLang="en-US" sz="1350" b="1">
                <a:solidFill>
                  <a:srgbClr val="2B8A9C"/>
                </a:solidFill>
              </a:rPr>
              <a:t>적용 흐름</a:t>
            </a:r>
          </a:p>
        </p:txBody>
      </p:sp>
      <p:sp>
        <p:nvSpPr>
          <p:cNvPr id="29" name="bp_goal_meta_step_1_circle">
            <a:extLst>
              <a:ext uri="{FF2B5EF4-FFF2-40B4-BE49-F238E27FC236}">
                <a16:creationId xmlns:a16="http://schemas.microsoft.com/office/drawing/2014/main" id="{4D525E9C-316B-BB45-BDE4-FD1FE1DD1C86}"/>
              </a:ext>
            </a:extLst>
          </p:cNvPr>
          <p:cNvSpPr/>
          <p:nvPr/>
        </p:nvSpPr>
        <p:spPr>
          <a:xfrm>
            <a:off x="2260600" y="4521200"/>
            <a:ext cx="533400" cy="533400"/>
          </a:xfrm>
          <a:prstGeom prst="ellipse">
            <a:avLst/>
          </a:prstGeom>
          <a:solidFill>
            <a:srgbClr val="2B8A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1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30" name="bp_goal_meta_step_1_label">
            <a:extLst>
              <a:ext uri="{FF2B5EF4-FFF2-40B4-BE49-F238E27FC236}">
                <a16:creationId xmlns:a16="http://schemas.microsoft.com/office/drawing/2014/main" id="{FC38F444-236C-0A44-98C8-0F1423BF034E}"/>
              </a:ext>
            </a:extLst>
          </p:cNvPr>
          <p:cNvSpPr txBox="1"/>
          <p:nvPr/>
        </p:nvSpPr>
        <p:spPr>
          <a:xfrm>
            <a:off x="2921000" y="4521200"/>
            <a:ext cx="1143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250" b="1">
                <a:solidFill>
                  <a:srgbClr val="14263D"/>
                </a:solidFill>
              </a:rPr>
              <a:t>지역 단위
측정</a:t>
            </a:r>
          </a:p>
        </p:txBody>
      </p:sp>
      <p:sp>
        <p:nvSpPr>
          <p:cNvPr id="31" name="bp_goal_meta_step_2_circle">
            <a:extLst>
              <a:ext uri="{FF2B5EF4-FFF2-40B4-BE49-F238E27FC236}">
                <a16:creationId xmlns:a16="http://schemas.microsoft.com/office/drawing/2014/main" id="{9FBD0DEA-6DF1-524B-A5A5-F852512456F4}"/>
              </a:ext>
            </a:extLst>
          </p:cNvPr>
          <p:cNvSpPr/>
          <p:nvPr/>
        </p:nvSpPr>
        <p:spPr>
          <a:xfrm>
            <a:off x="4635500" y="4521200"/>
            <a:ext cx="533400" cy="533400"/>
          </a:xfrm>
          <a:prstGeom prst="ellipse">
            <a:avLst/>
          </a:prstGeom>
          <a:solidFill>
            <a:srgbClr val="2B8A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2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32" name="bp_goal_meta_step_2_label">
            <a:extLst>
              <a:ext uri="{FF2B5EF4-FFF2-40B4-BE49-F238E27FC236}">
                <a16:creationId xmlns:a16="http://schemas.microsoft.com/office/drawing/2014/main" id="{78B927A8-EA90-EB42-8633-8588DE02E14B}"/>
              </a:ext>
            </a:extLst>
          </p:cNvPr>
          <p:cNvSpPr txBox="1"/>
          <p:nvPr/>
        </p:nvSpPr>
        <p:spPr>
          <a:xfrm>
            <a:off x="5295900" y="4521200"/>
            <a:ext cx="1143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250" b="1">
                <a:solidFill>
                  <a:srgbClr val="14263D"/>
                </a:solidFill>
              </a:rPr>
              <a:t>회귀 기반
분석</a:t>
            </a:r>
          </a:p>
        </p:txBody>
      </p:sp>
      <p:sp>
        <p:nvSpPr>
          <p:cNvPr id="33" name="bp_goal_meta_step_3_circle">
            <a:extLst>
              <a:ext uri="{FF2B5EF4-FFF2-40B4-BE49-F238E27FC236}">
                <a16:creationId xmlns:a16="http://schemas.microsoft.com/office/drawing/2014/main" id="{26FBE9CC-1C28-D643-9806-FF24D8AEC93A}"/>
              </a:ext>
            </a:extLst>
          </p:cNvPr>
          <p:cNvSpPr/>
          <p:nvPr/>
        </p:nvSpPr>
        <p:spPr>
          <a:xfrm>
            <a:off x="7010400" y="4521200"/>
            <a:ext cx="533400" cy="533400"/>
          </a:xfrm>
          <a:prstGeom prst="ellipse">
            <a:avLst/>
          </a:prstGeom>
          <a:solidFill>
            <a:srgbClr val="2B8A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3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34" name="bp_goal_meta_step_3_label">
            <a:extLst>
              <a:ext uri="{FF2B5EF4-FFF2-40B4-BE49-F238E27FC236}">
                <a16:creationId xmlns:a16="http://schemas.microsoft.com/office/drawing/2014/main" id="{4C96FC6F-43A1-F849-92F3-CBB8AEFF6EB4}"/>
              </a:ext>
            </a:extLst>
          </p:cNvPr>
          <p:cNvSpPr txBox="1"/>
          <p:nvPr/>
        </p:nvSpPr>
        <p:spPr>
          <a:xfrm>
            <a:off x="7670800" y="4521200"/>
            <a:ext cx="1143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250" b="1" dirty="0">
                <a:solidFill>
                  <a:srgbClr val="14263D"/>
                </a:solidFill>
              </a:rPr>
              <a:t>미정 영역
확인</a:t>
            </a:r>
          </a:p>
        </p:txBody>
      </p:sp>
      <p:sp>
        <p:nvSpPr>
          <p:cNvPr id="35" name="bp_goal_meta_step_4_circle">
            <a:extLst>
              <a:ext uri="{FF2B5EF4-FFF2-40B4-BE49-F238E27FC236}">
                <a16:creationId xmlns:a16="http://schemas.microsoft.com/office/drawing/2014/main" id="{614609F3-E8FB-B443-8BD9-93AEBCB0B1EA}"/>
              </a:ext>
            </a:extLst>
          </p:cNvPr>
          <p:cNvSpPr/>
          <p:nvPr/>
        </p:nvSpPr>
        <p:spPr>
          <a:xfrm>
            <a:off x="9385300" y="4521200"/>
            <a:ext cx="533400" cy="533400"/>
          </a:xfrm>
          <a:prstGeom prst="ellipse">
            <a:avLst/>
          </a:prstGeom>
          <a:solidFill>
            <a:srgbClr val="2B8A9C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r>
              <a:rPr lang="en-US" altLang="ko-KR" sz="1600" b="1">
                <a:solidFill>
                  <a:srgbClr val="FFFFFF"/>
                </a:solidFill>
              </a:rPr>
              <a:t>4</a:t>
            </a:r>
            <a:endParaRPr lang="ko-KR" altLang="en-US" sz="1600" b="1">
              <a:solidFill>
                <a:srgbClr val="FFFFFF"/>
              </a:solidFill>
            </a:endParaRPr>
          </a:p>
        </p:txBody>
      </p:sp>
      <p:sp>
        <p:nvSpPr>
          <p:cNvPr id="36" name="bp_goal_meta_step_4_label">
            <a:extLst>
              <a:ext uri="{FF2B5EF4-FFF2-40B4-BE49-F238E27FC236}">
                <a16:creationId xmlns:a16="http://schemas.microsoft.com/office/drawing/2014/main" id="{75B0415E-03BD-AC4A-ABDB-763147F6DD59}"/>
              </a:ext>
            </a:extLst>
          </p:cNvPr>
          <p:cNvSpPr txBox="1"/>
          <p:nvPr/>
        </p:nvSpPr>
        <p:spPr>
          <a:xfrm>
            <a:off x="10045700" y="4521200"/>
            <a:ext cx="1143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250" b="1">
                <a:solidFill>
                  <a:srgbClr val="14263D"/>
                </a:solidFill>
              </a:rPr>
              <a:t>국가별
확장</a:t>
            </a:r>
          </a:p>
        </p:txBody>
      </p:sp>
      <p:sp>
        <p:nvSpPr>
          <p:cNvPr id="37" name="bp_goal_meta_arrow_1">
            <a:extLst>
              <a:ext uri="{FF2B5EF4-FFF2-40B4-BE49-F238E27FC236}">
                <a16:creationId xmlns:a16="http://schemas.microsoft.com/office/drawing/2014/main" id="{6100A61E-7E89-C049-A565-A12AF5E91322}"/>
              </a:ext>
            </a:extLst>
          </p:cNvPr>
          <p:cNvSpPr/>
          <p:nvPr/>
        </p:nvSpPr>
        <p:spPr>
          <a:xfrm>
            <a:off x="4102100" y="4686300"/>
            <a:ext cx="381000" cy="203200"/>
          </a:xfrm>
          <a:prstGeom prst="rightArrow">
            <a:avLst/>
          </a:prstGeom>
          <a:solidFill>
            <a:srgbClr val="B8C7C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8" name="bp_goal_meta_arrow_2">
            <a:extLst>
              <a:ext uri="{FF2B5EF4-FFF2-40B4-BE49-F238E27FC236}">
                <a16:creationId xmlns:a16="http://schemas.microsoft.com/office/drawing/2014/main" id="{A847F219-E0FD-B445-B128-3C052311AC74}"/>
              </a:ext>
            </a:extLst>
          </p:cNvPr>
          <p:cNvSpPr/>
          <p:nvPr/>
        </p:nvSpPr>
        <p:spPr>
          <a:xfrm>
            <a:off x="6477000" y="4686300"/>
            <a:ext cx="381000" cy="203200"/>
          </a:xfrm>
          <a:prstGeom prst="rightArrow">
            <a:avLst/>
          </a:prstGeom>
          <a:solidFill>
            <a:srgbClr val="B8C7C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9" name="bp_goal_meta_arrow_3">
            <a:extLst>
              <a:ext uri="{FF2B5EF4-FFF2-40B4-BE49-F238E27FC236}">
                <a16:creationId xmlns:a16="http://schemas.microsoft.com/office/drawing/2014/main" id="{035DBB64-40C4-B640-86F2-F9CF6C68B1F1}"/>
              </a:ext>
            </a:extLst>
          </p:cNvPr>
          <p:cNvSpPr/>
          <p:nvPr/>
        </p:nvSpPr>
        <p:spPr>
          <a:xfrm>
            <a:off x="8851900" y="4686300"/>
            <a:ext cx="381000" cy="203200"/>
          </a:xfrm>
          <a:prstGeom prst="rightArrow">
            <a:avLst/>
          </a:prstGeom>
          <a:solidFill>
            <a:srgbClr val="B8C7C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bp_goal_meta_takeaway_text">
            <a:extLst>
              <a:ext uri="{FF2B5EF4-FFF2-40B4-BE49-F238E27FC236}">
                <a16:creationId xmlns:a16="http://schemas.microsoft.com/office/drawing/2014/main" id="{7CED39F7-431C-C047-B7FC-E4E62F0CD227}"/>
              </a:ext>
            </a:extLst>
          </p:cNvPr>
          <p:cNvSpPr txBox="1"/>
          <p:nvPr/>
        </p:nvSpPr>
        <p:spPr>
          <a:xfrm>
            <a:off x="736600" y="5638800"/>
            <a:ext cx="10604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10000"/>
          </a:bodyPr>
          <a:lstStyle/>
          <a:p>
            <a:pPr algn="l"/>
            <a:r>
              <a:rPr lang="ko-KR" altLang="en-US" sz="1380" b="1">
                <a:solidFill>
                  <a:srgbClr val="FFFFFF"/>
                </a:solidFill>
              </a:rPr>
              <a:t>핵심</a:t>
            </a:r>
            <a:r>
              <a:rPr lang="en-US" altLang="ko-KR" sz="1380" b="1">
                <a:solidFill>
                  <a:srgbClr val="FFFFFF"/>
                </a:solidFill>
              </a:rPr>
              <a:t>: </a:t>
            </a:r>
            <a:r>
              <a:rPr lang="ko-KR" altLang="en-US" sz="1380" b="1">
                <a:solidFill>
                  <a:srgbClr val="FFFFFF"/>
                </a:solidFill>
              </a:rPr>
              <a:t>특정 국가의 사례에 묶이지 않고</a:t>
            </a:r>
            <a:r>
              <a:rPr lang="en-US" altLang="ko-KR" sz="1380" b="1">
                <a:solidFill>
                  <a:srgbClr val="FFFFFF"/>
                </a:solidFill>
              </a:rPr>
              <a:t>, </a:t>
            </a:r>
            <a:r>
              <a:rPr lang="ko-KR" altLang="en-US" sz="1380" b="1">
                <a:solidFill>
                  <a:srgbClr val="FFFFFF"/>
                </a:solidFill>
              </a:rPr>
              <a:t>초연결 도시의 문제를 다른 국가에서도 반복 적용 가능한 프레임워크로 전환한다</a:t>
            </a:r>
            <a:r>
              <a:rPr lang="en-US" altLang="ko-KR" sz="1380" b="1">
                <a:solidFill>
                  <a:srgbClr val="FFFFFF"/>
                </a:solidFill>
              </a:rPr>
              <a:t>.</a:t>
            </a:r>
            <a:endParaRPr lang="ko-KR" altLang="en-US" sz="1380" b="1">
              <a:solidFill>
                <a:srgbClr val="FFFFFF"/>
              </a:solidFill>
            </a:endParaRPr>
          </a:p>
        </p:txBody>
      </p:sp>
      <p:sp>
        <p:nvSpPr>
          <p:cNvPr id="49" name="Google Shape;49;p5">
            <a:extLst>
              <a:ext uri="{FF2B5EF4-FFF2-40B4-BE49-F238E27FC236}">
                <a16:creationId xmlns:a16="http://schemas.microsoft.com/office/drawing/2014/main" id="{D8D8E48B-008A-58B6-6D09-CB58132BFB96}"/>
              </a:ext>
            </a:extLst>
          </p:cNvPr>
          <p:cNvSpPr/>
          <p:nvPr/>
        </p:nvSpPr>
        <p:spPr>
          <a:xfrm>
            <a:off x="548651" y="365750"/>
            <a:ext cx="2479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3000"/>
              <a:buFont typeface="Calibri"/>
              <a:buNone/>
            </a:pPr>
            <a:r>
              <a:rPr lang="en-US" sz="3000" b="1" dirty="0">
                <a:solidFill>
                  <a:srgbClr val="14263D"/>
                </a:solidFill>
                <a:latin typeface="Calibri"/>
                <a:ea typeface="Calibri"/>
                <a:cs typeface="Calibri"/>
                <a:sym typeface="Calibri"/>
              </a:rPr>
              <a:t>Goal of Project</a:t>
            </a: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>
            <a:extLst>
              <a:ext uri="{FF2B5EF4-FFF2-40B4-BE49-F238E27FC236}">
                <a16:creationId xmlns:a16="http://schemas.microsoft.com/office/drawing/2014/main" id="{24E167F8-92D4-AB4D-98A0-47479B3A77EB}"/>
              </a:ext>
            </a:extLst>
          </p:cNvPr>
          <p:cNvSpPr/>
          <p:nvPr/>
        </p:nvSpPr>
        <p:spPr>
          <a:xfrm>
            <a:off x="548640" y="978408"/>
            <a:ext cx="594300" cy="411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>
            <a:extLst>
              <a:ext uri="{FF2B5EF4-FFF2-40B4-BE49-F238E27FC236}">
                <a16:creationId xmlns:a16="http://schemas.microsoft.com/office/drawing/2014/main" id="{5DA41181-C225-77DC-388A-BE111800F4B1}"/>
              </a:ext>
            </a:extLst>
          </p:cNvPr>
          <p:cNvSpPr txBox="1"/>
          <p:nvPr/>
        </p:nvSpPr>
        <p:spPr>
          <a:xfrm>
            <a:off x="2971875" y="532000"/>
            <a:ext cx="3939288" cy="48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 err="1">
                <a:solidFill>
                  <a:schemeClr val="dk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다른</a:t>
            </a:r>
            <a:r>
              <a:rPr lang="en-US" sz="1700" dirty="0">
                <a:solidFill>
                  <a:schemeClr val="dk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 </a:t>
            </a:r>
            <a:r>
              <a:rPr lang="en-US" sz="1700" dirty="0" err="1">
                <a:solidFill>
                  <a:schemeClr val="dk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국가에</a:t>
            </a:r>
            <a:r>
              <a:rPr lang="en-US" sz="1700" dirty="0">
                <a:solidFill>
                  <a:schemeClr val="dk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 </a:t>
            </a:r>
            <a:r>
              <a:rPr lang="en-US" sz="1700" dirty="0" err="1">
                <a:solidFill>
                  <a:schemeClr val="dk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적용가능한</a:t>
            </a:r>
            <a:r>
              <a:rPr lang="en-US" sz="1700" dirty="0">
                <a:solidFill>
                  <a:schemeClr val="dk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 </a:t>
            </a:r>
            <a:r>
              <a:rPr lang="en-US" sz="1700" dirty="0" err="1">
                <a:solidFill>
                  <a:schemeClr val="dk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프레임워크</a:t>
            </a:r>
            <a:r>
              <a:rPr lang="en-US" sz="1700" dirty="0">
                <a:solidFill>
                  <a:schemeClr val="dk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 </a:t>
            </a:r>
            <a:r>
              <a:rPr lang="en-US" sz="1700" dirty="0" err="1">
                <a:solidFill>
                  <a:schemeClr val="dk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개발</a:t>
            </a:r>
            <a:endParaRPr sz="1700" dirty="0">
              <a:solidFill>
                <a:schemeClr val="dk1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sp>
        <p:nvSpPr>
          <p:cNvPr id="5" name="Google Shape;57;p5">
            <a:extLst>
              <a:ext uri="{FF2B5EF4-FFF2-40B4-BE49-F238E27FC236}">
                <a16:creationId xmlns:a16="http://schemas.microsoft.com/office/drawing/2014/main" id="{E6454DDA-6517-5E07-C75C-E97025483956}"/>
              </a:ext>
            </a:extLst>
          </p:cNvPr>
          <p:cNvSpPr txBox="1"/>
          <p:nvPr/>
        </p:nvSpPr>
        <p:spPr>
          <a:xfrm>
            <a:off x="736600" y="1295400"/>
            <a:ext cx="2794000" cy="33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b="1">
                <a:solidFill>
                  <a:srgbClr val="2B8A9C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메타이론 설정</a:t>
            </a:r>
            <a:endParaRPr sz="1800" b="1" dirty="0">
              <a:solidFill>
                <a:srgbClr val="2B8A9C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pic>
        <p:nvPicPr>
          <p:cNvPr id="52" name="Google Shape;52;p5" descr="/home/claude/work/logo_gateway.jpeg">
            <a:extLst>
              <a:ext uri="{FF2B5EF4-FFF2-40B4-BE49-F238E27FC236}">
                <a16:creationId xmlns:a16="http://schemas.microsoft.com/office/drawing/2014/main" id="{64CE2CA9-5742-4562-6716-1474CACE9AC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5" descr="/home/claude/work/logo_eu.jpeg">
            <a:extLst>
              <a:ext uri="{FF2B5EF4-FFF2-40B4-BE49-F238E27FC236}">
                <a16:creationId xmlns:a16="http://schemas.microsoft.com/office/drawing/2014/main" id="{90BAE8B5-E617-925D-5FBD-A27670BD53B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5" descr="/home/claude/work/logo_itu.png">
            <a:extLst>
              <a:ext uri="{FF2B5EF4-FFF2-40B4-BE49-F238E27FC236}">
                <a16:creationId xmlns:a16="http://schemas.microsoft.com/office/drawing/2014/main" id="{5CA69AEA-A382-758D-FC49-4552F26B54E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5">
            <a:extLst>
              <a:ext uri="{FF2B5EF4-FFF2-40B4-BE49-F238E27FC236}">
                <a16:creationId xmlns:a16="http://schemas.microsoft.com/office/drawing/2014/main" id="{01356691-B61F-2754-AFC8-051D6BF0A02B}"/>
              </a:ext>
            </a:extLst>
          </p:cNvPr>
          <p:cNvSpPr/>
          <p:nvPr/>
        </p:nvSpPr>
        <p:spPr>
          <a:xfrm>
            <a:off x="548640" y="6565392"/>
            <a:ext cx="13716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0B0B0"/>
                </a:solidFill>
                <a:latin typeface="Calibri"/>
                <a:ea typeface="Calibri"/>
                <a:cs typeface="Calibri"/>
                <a:sym typeface="Calibri"/>
              </a:rPr>
              <a:t>1 / 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5292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9998C3B3-83D0-D652-D1E9-C8841FF96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">
            <a:extLst>
              <a:ext uri="{FF2B5EF4-FFF2-40B4-BE49-F238E27FC236}">
                <a16:creationId xmlns:a16="http://schemas.microsoft.com/office/drawing/2014/main" id="{6B1AC57F-1464-C9B0-F866-3B7F8A131DFA}"/>
              </a:ext>
            </a:extLst>
          </p:cNvPr>
          <p:cNvSpPr/>
          <p:nvPr/>
        </p:nvSpPr>
        <p:spPr>
          <a:xfrm>
            <a:off x="548640" y="6263640"/>
            <a:ext cx="11064300" cy="72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8" descr="/home/claude/work/logo_gateway.jpeg">
            <a:extLst>
              <a:ext uri="{FF2B5EF4-FFF2-40B4-BE49-F238E27FC236}">
                <a16:creationId xmlns:a16="http://schemas.microsoft.com/office/drawing/2014/main" id="{14A0FFA5-D4A3-9BFA-0DD4-F450E954216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8" descr="/home/claude/work/logo_eu.jpeg">
            <a:extLst>
              <a:ext uri="{FF2B5EF4-FFF2-40B4-BE49-F238E27FC236}">
                <a16:creationId xmlns:a16="http://schemas.microsoft.com/office/drawing/2014/main" id="{AC24717E-5F2D-4244-FE72-ECFCC221CB5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8" descr="/home/claude/work/logo_itu.png">
            <a:extLst>
              <a:ext uri="{FF2B5EF4-FFF2-40B4-BE49-F238E27FC236}">
                <a16:creationId xmlns:a16="http://schemas.microsoft.com/office/drawing/2014/main" id="{04FB4601-12AA-80FF-2787-5F52BF6CE5E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8">
            <a:extLst>
              <a:ext uri="{FF2B5EF4-FFF2-40B4-BE49-F238E27FC236}">
                <a16:creationId xmlns:a16="http://schemas.microsoft.com/office/drawing/2014/main" id="{E762C9A3-0927-B5D5-D0F5-02CE8EE2E6B4}"/>
              </a:ext>
            </a:extLst>
          </p:cNvPr>
          <p:cNvSpPr/>
          <p:nvPr/>
        </p:nvSpPr>
        <p:spPr>
          <a:xfrm>
            <a:off x="548640" y="978408"/>
            <a:ext cx="594300" cy="411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49;p5">
            <a:extLst>
              <a:ext uri="{FF2B5EF4-FFF2-40B4-BE49-F238E27FC236}">
                <a16:creationId xmlns:a16="http://schemas.microsoft.com/office/drawing/2014/main" id="{17623782-6122-E961-5E49-5FEB77003A0F}"/>
              </a:ext>
            </a:extLst>
          </p:cNvPr>
          <p:cNvSpPr/>
          <p:nvPr/>
        </p:nvSpPr>
        <p:spPr>
          <a:xfrm>
            <a:off x="548651" y="365750"/>
            <a:ext cx="24798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3000"/>
              <a:buFont typeface="Calibri"/>
              <a:buNone/>
            </a:pPr>
            <a:r>
              <a:rPr lang="en-US" sz="3000" b="1" dirty="0">
                <a:solidFill>
                  <a:srgbClr val="14263D"/>
                </a:solidFill>
                <a:latin typeface="Calibri"/>
                <a:ea typeface="Calibri"/>
                <a:cs typeface="Calibri"/>
                <a:sym typeface="Calibri"/>
              </a:rPr>
              <a:t>Goal of Project</a:t>
            </a: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56;p5">
            <a:extLst>
              <a:ext uri="{FF2B5EF4-FFF2-40B4-BE49-F238E27FC236}">
                <a16:creationId xmlns:a16="http://schemas.microsoft.com/office/drawing/2014/main" id="{F40D440E-7A56-F95A-B003-1506E32FE8A7}"/>
              </a:ext>
            </a:extLst>
          </p:cNvPr>
          <p:cNvSpPr txBox="1"/>
          <p:nvPr/>
        </p:nvSpPr>
        <p:spPr>
          <a:xfrm>
            <a:off x="2971875" y="532000"/>
            <a:ext cx="3939288" cy="48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 err="1">
                <a:solidFill>
                  <a:schemeClr val="dk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다른</a:t>
            </a:r>
            <a:r>
              <a:rPr lang="en-US" sz="1700" dirty="0">
                <a:solidFill>
                  <a:schemeClr val="dk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 </a:t>
            </a:r>
            <a:r>
              <a:rPr lang="en-US" sz="1700" dirty="0" err="1">
                <a:solidFill>
                  <a:schemeClr val="dk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국가에</a:t>
            </a:r>
            <a:r>
              <a:rPr lang="en-US" sz="1700" dirty="0">
                <a:solidFill>
                  <a:schemeClr val="dk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 </a:t>
            </a:r>
            <a:r>
              <a:rPr lang="en-US" sz="1700" dirty="0" err="1">
                <a:solidFill>
                  <a:schemeClr val="dk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적용가능한</a:t>
            </a:r>
            <a:r>
              <a:rPr lang="en-US" sz="1700" dirty="0">
                <a:solidFill>
                  <a:schemeClr val="dk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 </a:t>
            </a:r>
            <a:r>
              <a:rPr lang="en-US" sz="1700" dirty="0" err="1">
                <a:solidFill>
                  <a:schemeClr val="dk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프레임워크</a:t>
            </a:r>
            <a:r>
              <a:rPr lang="en-US" sz="1700" dirty="0">
                <a:solidFill>
                  <a:schemeClr val="dk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 </a:t>
            </a:r>
            <a:r>
              <a:rPr lang="en-US" sz="1700" dirty="0" err="1">
                <a:solidFill>
                  <a:schemeClr val="dk1"/>
                </a:solidFill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개발</a:t>
            </a:r>
            <a:endParaRPr sz="1700" dirty="0">
              <a:solidFill>
                <a:schemeClr val="dk1"/>
              </a:solidFill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0699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"/>
          <p:cNvSpPr/>
          <p:nvPr/>
        </p:nvSpPr>
        <p:spPr>
          <a:xfrm>
            <a:off x="548640" y="6263640"/>
            <a:ext cx="11064300" cy="72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8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8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8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8"/>
          <p:cNvSpPr/>
          <p:nvPr/>
        </p:nvSpPr>
        <p:spPr>
          <a:xfrm>
            <a:off x="548651" y="365750"/>
            <a:ext cx="4817828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3000"/>
              <a:buFont typeface="Calibri"/>
              <a:buNone/>
            </a:pPr>
            <a:r>
              <a:rPr lang="en-US" sz="3000" b="1" i="0" u="none" strike="noStrike" cap="none" dirty="0">
                <a:solidFill>
                  <a:srgbClr val="14263D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548640" y="978408"/>
            <a:ext cx="594300" cy="411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84A1A465-8FA4-7968-D7E5-01887B653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">
            <a:extLst>
              <a:ext uri="{FF2B5EF4-FFF2-40B4-BE49-F238E27FC236}">
                <a16:creationId xmlns:a16="http://schemas.microsoft.com/office/drawing/2014/main" id="{BC38D1CB-8BA0-8FEA-9FD2-F034686D886B}"/>
              </a:ext>
            </a:extLst>
          </p:cNvPr>
          <p:cNvSpPr/>
          <p:nvPr/>
        </p:nvSpPr>
        <p:spPr>
          <a:xfrm>
            <a:off x="548640" y="6263640"/>
            <a:ext cx="11064300" cy="72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8" descr="/home/claude/work/logo_gateway.jpeg">
            <a:extLst>
              <a:ext uri="{FF2B5EF4-FFF2-40B4-BE49-F238E27FC236}">
                <a16:creationId xmlns:a16="http://schemas.microsoft.com/office/drawing/2014/main" id="{819DF796-C32F-9E5D-187B-FBBED7AF311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8" descr="/home/claude/work/logo_eu.jpeg">
            <a:extLst>
              <a:ext uri="{FF2B5EF4-FFF2-40B4-BE49-F238E27FC236}">
                <a16:creationId xmlns:a16="http://schemas.microsoft.com/office/drawing/2014/main" id="{4A153A5D-19A5-3812-D813-D98FE179027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8" descr="/home/claude/work/logo_itu.png">
            <a:extLst>
              <a:ext uri="{FF2B5EF4-FFF2-40B4-BE49-F238E27FC236}">
                <a16:creationId xmlns:a16="http://schemas.microsoft.com/office/drawing/2014/main" id="{57E89226-BFBE-77AA-8C43-251C7A9C534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8">
            <a:extLst>
              <a:ext uri="{FF2B5EF4-FFF2-40B4-BE49-F238E27FC236}">
                <a16:creationId xmlns:a16="http://schemas.microsoft.com/office/drawing/2014/main" id="{4FCDF65B-E3D6-A9DB-A2DA-0559A5340D93}"/>
              </a:ext>
            </a:extLst>
          </p:cNvPr>
          <p:cNvSpPr/>
          <p:nvPr/>
        </p:nvSpPr>
        <p:spPr>
          <a:xfrm>
            <a:off x="548640" y="978408"/>
            <a:ext cx="594300" cy="411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94;p8">
            <a:extLst>
              <a:ext uri="{FF2B5EF4-FFF2-40B4-BE49-F238E27FC236}">
                <a16:creationId xmlns:a16="http://schemas.microsoft.com/office/drawing/2014/main" id="{DA1D6C0C-6B0E-4A60-0CC4-6470245D35E0}"/>
              </a:ext>
            </a:extLst>
          </p:cNvPr>
          <p:cNvSpPr/>
          <p:nvPr/>
        </p:nvSpPr>
        <p:spPr>
          <a:xfrm>
            <a:off x="548651" y="365750"/>
            <a:ext cx="4817828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3000"/>
              <a:buFont typeface="Calibri"/>
              <a:buNone/>
            </a:pPr>
            <a:r>
              <a:rPr lang="en-US" sz="3000" b="1" i="0" u="none" strike="noStrike" cap="none" dirty="0">
                <a:solidFill>
                  <a:srgbClr val="14263D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 sz="3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8232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"/>
          <p:cNvSpPr/>
          <p:nvPr/>
        </p:nvSpPr>
        <p:spPr>
          <a:xfrm>
            <a:off x="548649" y="365750"/>
            <a:ext cx="46905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3000"/>
              <a:buFont typeface="Calibri"/>
              <a:buNone/>
            </a:pPr>
            <a:r>
              <a:rPr lang="en-US" sz="3000" b="1" dirty="0">
                <a:solidFill>
                  <a:srgbClr val="14263D"/>
                </a:solidFill>
                <a:latin typeface="Calibri"/>
                <a:ea typeface="Calibri"/>
                <a:cs typeface="Calibri"/>
                <a:sym typeface="Calibri"/>
              </a:rPr>
              <a:t>Analysis Method</a:t>
            </a:r>
            <a:endParaRPr sz="3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9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9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9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9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0B0B0"/>
                </a:solidFill>
                <a:latin typeface="Calibri"/>
                <a:ea typeface="Calibri"/>
                <a:cs typeface="Calibri"/>
                <a:sym typeface="Calibri"/>
              </a:rPr>
              <a:t>5 / 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0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14263D"/>
                </a:solidFill>
                <a:latin typeface="Calibri"/>
                <a:ea typeface="Calibri"/>
                <a:cs typeface="Calibri"/>
                <a:sym typeface="Calibri"/>
              </a:rPr>
              <a:t>Data sources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0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0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10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0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0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0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0B0B0"/>
                </a:solidFill>
                <a:latin typeface="Calibri"/>
                <a:ea typeface="Calibri"/>
                <a:cs typeface="Calibri"/>
                <a:sym typeface="Calibri"/>
              </a:rPr>
              <a:t>2 / 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1" name="Google Shape;131;p10"/>
          <p:cNvGraphicFramePr/>
          <p:nvPr>
            <p:extLst>
              <p:ext uri="{D42A27DB-BD31-4B8C-83A1-F6EECF244321}">
                <p14:modId xmlns:p14="http://schemas.microsoft.com/office/powerpoint/2010/main" val="2486934030"/>
              </p:ext>
            </p:extLst>
          </p:nvPr>
        </p:nvGraphicFramePr>
        <p:xfrm>
          <a:off x="635581" y="1341827"/>
          <a:ext cx="10840350" cy="4837688"/>
        </p:xfrm>
        <a:graphic>
          <a:graphicData uri="http://schemas.openxmlformats.org/drawingml/2006/table">
            <a:tbl>
              <a:tblPr>
                <a:noFill/>
                <a:tableStyleId>{DF07E248-7B14-439D-80B4-0DDB9BA23D15}</a:tableStyleId>
              </a:tblPr>
              <a:tblGrid>
                <a:gridCol w="143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2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8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54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47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994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762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Dataset name</a:t>
                      </a:r>
                      <a:endParaRPr sz="1200" b="1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</a:t>
                      </a:r>
                      <a:endParaRPr sz="1200" b="1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Link</a:t>
                      </a:r>
                      <a:endParaRPr sz="1200" b="1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Coverage</a:t>
                      </a:r>
                      <a:endParaRPr sz="1200" b="1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variables</a:t>
                      </a:r>
                      <a:endParaRPr sz="1200" b="1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Format </a:t>
                      </a:r>
                      <a:endParaRPr sz="1200" b="1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Access method</a:t>
                      </a:r>
                      <a:endParaRPr sz="1200" b="1" u="none" strike="noStrike" cap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33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 dirty="0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Seoul Digital Competency Survey</a:t>
                      </a:r>
                      <a:endParaRPr sz="1000" b="1" u="none" strike="noStrike" cap="none" dirty="0">
                        <a:solidFill>
                          <a:srgbClr val="1F386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u="none" strike="noStrike" cap="none" dirty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Seoul AI Foundation</a:t>
                      </a:r>
                      <a:endParaRPr dirty="0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 u="none" strike="noStrike" cap="none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https://saif.or.kr/dataroom/2564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 u="none" strike="noStrike" cap="none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Geographic: Seoul</a:t>
                      </a:r>
                      <a:endParaRPr sz="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Time: 2023 used</a:t>
                      </a:r>
                      <a:endParaRPr sz="800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devices, skills, safety;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survey weights</a:t>
                      </a:r>
                      <a:endParaRPr dirty="0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 rowSpan="7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CSV/XLSX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provision upon official request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33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Cellular Base Station Data</a:t>
                      </a:r>
                      <a:endParaRPr sz="1000" b="1" dirty="0">
                        <a:solidFill>
                          <a:srgbClr val="1F386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Spectrum Resource Mgmt System</a:t>
                      </a:r>
                      <a:endParaRPr sz="10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dirty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https://</a:t>
                      </a:r>
                      <a:r>
                        <a:rPr lang="en-US" sz="800" b="0" dirty="0" err="1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spectrummap.kr</a:t>
                      </a:r>
                      <a:r>
                        <a:rPr lang="en-US" sz="800" b="0" dirty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</a:t>
                      </a:r>
                      <a:r>
                        <a:rPr lang="en-US" sz="800" b="0" dirty="0" err="1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gis</a:t>
                      </a:r>
                      <a:r>
                        <a:rPr lang="en-US" sz="800" b="0" dirty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</a:t>
                      </a:r>
                      <a:r>
                        <a:rPr lang="en-US" sz="800" b="0" dirty="0" err="1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mobile_service.do?menuNo</a:t>
                      </a:r>
                      <a:r>
                        <a:rPr lang="en-US" sz="800" b="0" dirty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=300480</a:t>
                      </a:r>
                      <a:endParaRPr sz="800" b="0" dirty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Geographic: Seoul</a:t>
                      </a:r>
                      <a:endParaRPr sz="8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Time: 2023, 2024</a:t>
                      </a:r>
                      <a:endParaRPr sz="8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4G/5G cell-site locations</a:t>
                      </a:r>
                      <a:endParaRPr dirty="0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dirty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Open Data</a:t>
                      </a:r>
                      <a:endParaRPr dirty="0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33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NIA Communication Quality (CQ)</a:t>
                      </a:r>
                      <a:endParaRPr sz="1000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dirty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Korean Public Data Portal</a:t>
                      </a:r>
                      <a:endParaRPr sz="1000" b="0" dirty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https://www.data.go.kr/data/15120591/fileData.do</a:t>
                      </a:r>
                      <a:endParaRPr sz="8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Geographic: Seoul</a:t>
                      </a:r>
                      <a:endParaRPr sz="8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Time: 2023, 2024</a:t>
                      </a:r>
                      <a:endParaRPr sz="8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district-level download speed</a:t>
                      </a:r>
                      <a:endParaRPr dirty="0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69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Free Wi-Fi Installation Data</a:t>
                      </a:r>
                      <a:endParaRPr sz="1000" b="1">
                        <a:solidFill>
                          <a:srgbClr val="1F386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dirty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Local Admin </a:t>
                      </a:r>
                      <a:r>
                        <a:rPr lang="en-US" sz="1000" b="0" dirty="0" err="1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WiFi</a:t>
                      </a:r>
                      <a:r>
                        <a:rPr lang="en-US" sz="1000" b="0" dirty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License Data</a:t>
                      </a:r>
                      <a:endParaRPr sz="1000" b="0" dirty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 dirty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https://</a:t>
                      </a:r>
                      <a:r>
                        <a:rPr lang="en-US" sz="800" b="0" dirty="0" err="1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www.localdata.go.kr</a:t>
                      </a:r>
                      <a:r>
                        <a:rPr lang="en-US" sz="800" b="0" dirty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</a:t>
                      </a:r>
                      <a:r>
                        <a:rPr lang="en-US" sz="800" b="0" dirty="0" err="1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lif</a:t>
                      </a:r>
                      <a:r>
                        <a:rPr lang="en-US" sz="800" b="0" dirty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</a:t>
                      </a:r>
                      <a:r>
                        <a:rPr lang="en-US" sz="800" b="0" dirty="0" err="1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lifeCtacDataView.do</a:t>
                      </a:r>
                      <a:endParaRPr sz="800" b="0" dirty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Geographic: Seoul</a:t>
                      </a:r>
                      <a:endParaRPr sz="8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Time: </a:t>
                      </a:r>
                      <a:endParaRPr sz="8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2023, 2024</a:t>
                      </a:r>
                      <a:endParaRPr sz="8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public Wi-Fi installation locations</a:t>
                      </a:r>
                      <a:endParaRPr dirty="0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896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Telecommunication Indicators</a:t>
                      </a:r>
                      <a:endParaRPr sz="1000" b="1">
                        <a:solidFill>
                          <a:srgbClr val="1F386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dirty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SKT Telecom Data</a:t>
                      </a:r>
                      <a:endParaRPr sz="1000" b="0" dirty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https://www.data.go.kr/data/15127168/fileData.do#</a:t>
                      </a:r>
                      <a:endParaRPr sz="8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Geographic: Seoul</a:t>
                      </a:r>
                      <a:endParaRPr sz="8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Time: </a:t>
                      </a:r>
                      <a:endParaRPr sz="8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2023, 2024</a:t>
                      </a:r>
                      <a:endParaRPr sz="8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mobile data use;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online service days;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fee delinquency rate</a:t>
                      </a:r>
                      <a:endParaRPr dirty="0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523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Average Monthly Household Income by District</a:t>
                      </a:r>
                      <a:endParaRPr sz="1000" b="1">
                        <a:solidFill>
                          <a:srgbClr val="1F386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 dirty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Seoul Commercial Analysis Service</a:t>
                      </a:r>
                      <a:endParaRPr sz="1000" b="0" dirty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https://data.seoul.go.kr/dataList/OA-22167/S/1/datasetView.do</a:t>
                      </a:r>
                      <a:endParaRPr sz="8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Geographic: Seoul</a:t>
                      </a:r>
                      <a:endParaRPr sz="8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Time: </a:t>
                      </a:r>
                      <a:endParaRPr sz="8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2023, 2024</a:t>
                      </a:r>
                      <a:endParaRPr sz="8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average monthly household income</a:t>
                      </a:r>
                      <a:endParaRPr dirty="0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15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Seoul Survey</a:t>
                      </a:r>
                      <a:endParaRPr dirty="0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dirty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Seoul Open Data</a:t>
                      </a:r>
                      <a:endParaRPr dirty="0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https://data.seoul.go.kr/dataList/OA-15564/F/1/datasetView.do</a:t>
                      </a:r>
                      <a:endParaRPr sz="8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Geographic: Seoul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Time: 2023, 2024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digital service use;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827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dirty="0">
                          <a:solidFill>
                            <a:srgbClr val="111827"/>
                          </a:solidFill>
                        </a:rPr>
                        <a:t>demographics, income, housing, district/year</a:t>
                      </a:r>
                      <a:endParaRPr dirty="0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Google Shape;134;p10">
            <a:extLst>
              <a:ext uri="{FF2B5EF4-FFF2-40B4-BE49-F238E27FC236}">
                <a16:creationId xmlns:a16="http://schemas.microsoft.com/office/drawing/2014/main" id="{F551C4F6-24D2-F651-97D4-A8366E1768D3}"/>
              </a:ext>
            </a:extLst>
          </p:cNvPr>
          <p:cNvSpPr txBox="1"/>
          <p:nvPr/>
        </p:nvSpPr>
        <p:spPr>
          <a:xfrm>
            <a:off x="377388" y="1050374"/>
            <a:ext cx="2100431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28600" indent="-50800">
              <a:buClr>
                <a:schemeClr val="dk1"/>
              </a:buClr>
              <a:buSzPts val="1400"/>
            </a:pPr>
            <a:r>
              <a:rPr lang="en-US"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Analysis </a:t>
            </a:r>
            <a:r>
              <a:rPr lang="en-US" altLang="ko-KR"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ko-KR" altLang="en-US"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&amp;</a:t>
            </a:r>
            <a:r>
              <a:rPr lang="ko-KR" altLang="en-US"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altLang="ko-KR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Analysis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076DFD41-0B4F-658D-0E78-C93538E88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0">
            <a:extLst>
              <a:ext uri="{FF2B5EF4-FFF2-40B4-BE49-F238E27FC236}">
                <a16:creationId xmlns:a16="http://schemas.microsoft.com/office/drawing/2014/main" id="{91A61B0B-91CA-954E-E773-E7C3A7233FF1}"/>
              </a:ext>
            </a:extLst>
          </p:cNvPr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14263D"/>
                </a:solidFill>
                <a:latin typeface="Calibri"/>
                <a:ea typeface="Calibri"/>
                <a:cs typeface="Calibri"/>
                <a:sym typeface="Calibri"/>
              </a:rPr>
              <a:t>Data sources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0">
            <a:extLst>
              <a:ext uri="{FF2B5EF4-FFF2-40B4-BE49-F238E27FC236}">
                <a16:creationId xmlns:a16="http://schemas.microsoft.com/office/drawing/2014/main" id="{EE0E8EC0-406A-E347-E541-7D281A5EC6C8}"/>
              </a:ext>
            </a:extLst>
          </p:cNvPr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0">
            <a:extLst>
              <a:ext uri="{FF2B5EF4-FFF2-40B4-BE49-F238E27FC236}">
                <a16:creationId xmlns:a16="http://schemas.microsoft.com/office/drawing/2014/main" id="{B5AD3B37-25E0-6468-DB2F-AEEB85481B74}"/>
              </a:ext>
            </a:extLst>
          </p:cNvPr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10" descr="/home/claude/work/logo_gateway.jpeg">
            <a:extLst>
              <a:ext uri="{FF2B5EF4-FFF2-40B4-BE49-F238E27FC236}">
                <a16:creationId xmlns:a16="http://schemas.microsoft.com/office/drawing/2014/main" id="{F69DE749-576E-BB22-CE6C-132A67C84DC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0" descr="/home/claude/work/logo_eu.jpeg">
            <a:extLst>
              <a:ext uri="{FF2B5EF4-FFF2-40B4-BE49-F238E27FC236}">
                <a16:creationId xmlns:a16="http://schemas.microsoft.com/office/drawing/2014/main" id="{D5CDF6E8-2DDA-2BC8-A804-91C8E4220C8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0" descr="/home/claude/work/logo_itu.png">
            <a:extLst>
              <a:ext uri="{FF2B5EF4-FFF2-40B4-BE49-F238E27FC236}">
                <a16:creationId xmlns:a16="http://schemas.microsoft.com/office/drawing/2014/main" id="{30C7BB3E-51E5-EF4A-2782-DDE68D14B23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0">
            <a:extLst>
              <a:ext uri="{FF2B5EF4-FFF2-40B4-BE49-F238E27FC236}">
                <a16:creationId xmlns:a16="http://schemas.microsoft.com/office/drawing/2014/main" id="{3E56D4D0-193D-E2D7-E4BD-3F8E537ACFAF}"/>
              </a:ext>
            </a:extLst>
          </p:cNvPr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0B0B0"/>
                </a:solidFill>
                <a:latin typeface="Calibri"/>
                <a:ea typeface="Calibri"/>
                <a:cs typeface="Calibri"/>
                <a:sym typeface="Calibri"/>
              </a:rPr>
              <a:t>2 / 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3" name="Google Shape;133;p10">
            <a:extLst>
              <a:ext uri="{FF2B5EF4-FFF2-40B4-BE49-F238E27FC236}">
                <a16:creationId xmlns:a16="http://schemas.microsoft.com/office/drawing/2014/main" id="{BB7953AB-9FC6-ADBD-928B-D1F12A53D5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7631807"/>
              </p:ext>
            </p:extLst>
          </p:nvPr>
        </p:nvGraphicFramePr>
        <p:xfrm>
          <a:off x="635583" y="1466439"/>
          <a:ext cx="10840300" cy="1143030"/>
        </p:xfrm>
        <a:graphic>
          <a:graphicData uri="http://schemas.openxmlformats.org/drawingml/2006/table">
            <a:tbl>
              <a:tblPr>
                <a:noFill/>
                <a:tableStyleId>{DF07E248-7B14-439D-80B4-0DDB9BA23D15}</a:tableStyleId>
              </a:tblPr>
              <a:tblGrid>
                <a:gridCol w="174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2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1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85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6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63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93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 u="none" strike="noStrike" cap="none" dirty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Dataset name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Link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Coverage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variables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Format 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Access method</a:t>
                      </a:r>
                      <a:endParaRPr sz="1200" b="1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3864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Daangn Community Post</a:t>
                      </a:r>
                      <a:endParaRPr sz="1000" b="1">
                        <a:solidFill>
                          <a:srgbClr val="1F386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Daangn Market</a:t>
                      </a:r>
                      <a:endParaRPr sz="10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daangn.com/kr/community/s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Geographic: Seoul dong fields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Time: 2024-2026 crawl period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 text; gu/location;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900"/>
                        <a:buFont typeface="Calibri"/>
                        <a:buNone/>
                      </a:pPr>
                      <a:r>
                        <a:rPr lang="en-US" sz="9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createdAt; subject/category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CSV/XLSX</a:t>
                      </a:r>
                      <a:endParaRPr sz="11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Web Scraping</a:t>
                      </a:r>
                      <a:endParaRPr sz="11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1F386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Seoul Living/Floating Population</a:t>
                      </a:r>
                      <a:endParaRPr sz="1000"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Seoul Open Data</a:t>
                      </a:r>
                      <a:endParaRPr sz="1000" b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data.seoul.go.kr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1F2E"/>
                        </a:buClr>
                        <a:buSzPts val="800"/>
                        <a:buFont typeface="Calibri"/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OA-14991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Geographic: Seoul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Time: 2023-2026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8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used as available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hourly/dong population;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daytime population;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 shares; dong/district code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0" dirty="0">
                          <a:solidFill>
                            <a:srgbClr val="1F1F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Public Open Data</a:t>
                      </a:r>
                      <a:endParaRPr sz="1100" b="0" dirty="0">
                        <a:solidFill>
                          <a:srgbClr val="1F1F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4" name="Google Shape;134;p10">
            <a:extLst>
              <a:ext uri="{FF2B5EF4-FFF2-40B4-BE49-F238E27FC236}">
                <a16:creationId xmlns:a16="http://schemas.microsoft.com/office/drawing/2014/main" id="{909E8E43-CEB4-A2F2-DA09-468D922F2DD8}"/>
              </a:ext>
            </a:extLst>
          </p:cNvPr>
          <p:cNvSpPr txBox="1"/>
          <p:nvPr/>
        </p:nvSpPr>
        <p:spPr>
          <a:xfrm>
            <a:off x="377388" y="1149401"/>
            <a:ext cx="3400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28600" marR="0" lvl="0" indent="-50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Analysis 3</a:t>
            </a:r>
            <a:endParaRPr sz="14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38374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/>
          <p:nvPr/>
        </p:nvSpPr>
        <p:spPr>
          <a:xfrm>
            <a:off x="548649" y="365750"/>
            <a:ext cx="3364131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3000"/>
              <a:buFont typeface="Calibri"/>
              <a:buNone/>
            </a:pPr>
            <a:r>
              <a:rPr lang="en-US" sz="3000" b="1" dirty="0">
                <a:solidFill>
                  <a:srgbClr val="14263D"/>
                </a:solidFill>
                <a:latin typeface="Calibri"/>
                <a:ea typeface="Calibri"/>
                <a:cs typeface="Calibri"/>
                <a:sym typeface="Calibri"/>
              </a:rPr>
              <a:t>Analysis 1</a:t>
            </a:r>
            <a:endParaRPr sz="3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1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1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11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1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1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1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0B0B0"/>
                </a:solidFill>
                <a:latin typeface="Calibri"/>
                <a:ea typeface="Calibri"/>
                <a:cs typeface="Calibri"/>
                <a:sym typeface="Calibri"/>
              </a:rPr>
              <a:t>3 / 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1"/>
          <p:cNvSpPr txBox="1"/>
          <p:nvPr/>
        </p:nvSpPr>
        <p:spPr>
          <a:xfrm>
            <a:off x="548640" y="1212343"/>
            <a:ext cx="264223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28600" marR="0" lvl="0" indent="-50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ko-KR" altLang="en-US" sz="1800" b="1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서울 </a:t>
            </a:r>
            <a:r>
              <a:rPr lang="en-US" altLang="ko-KR" sz="1800" b="1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25</a:t>
            </a:r>
            <a:r>
              <a:rPr lang="ko-KR" altLang="en-US" sz="1800" b="1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개 지역 지표 </a:t>
            </a:r>
            <a:endParaRPr sz="1800" b="1" dirty="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BB27BA0-F575-643C-5D08-C531200B04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0906626"/>
              </p:ext>
            </p:extLst>
          </p:nvPr>
        </p:nvGraphicFramePr>
        <p:xfrm>
          <a:off x="548640" y="1594288"/>
          <a:ext cx="7264101" cy="4567943"/>
        </p:xfrm>
        <a:graphic>
          <a:graphicData uri="http://schemas.openxmlformats.org/drawingml/2006/table">
            <a:tbl>
              <a:tblPr firstRow="1">
                <a:tableStyleId>{DF07E248-7B14-439D-80B4-0DDB9BA23D15}</a:tableStyleId>
              </a:tblPr>
              <a:tblGrid>
                <a:gridCol w="1405955">
                  <a:extLst>
                    <a:ext uri="{9D8B030D-6E8A-4147-A177-3AD203B41FA5}">
                      <a16:colId xmlns:a16="http://schemas.microsoft.com/office/drawing/2014/main" val="1267026568"/>
                    </a:ext>
                  </a:extLst>
                </a:gridCol>
                <a:gridCol w="1597676">
                  <a:extLst>
                    <a:ext uri="{9D8B030D-6E8A-4147-A177-3AD203B41FA5}">
                      <a16:colId xmlns:a16="http://schemas.microsoft.com/office/drawing/2014/main" val="2263909554"/>
                    </a:ext>
                  </a:extLst>
                </a:gridCol>
                <a:gridCol w="4260470">
                  <a:extLst>
                    <a:ext uri="{9D8B030D-6E8A-4147-A177-3AD203B41FA5}">
                      <a16:colId xmlns:a16="http://schemas.microsoft.com/office/drawing/2014/main" val="3390482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400" b="1" dirty="0" err="1">
                          <a:effectLst/>
                        </a:rPr>
                        <a:t>Dimension</a:t>
                      </a:r>
                      <a:endParaRPr lang="ko-KR" sz="1400" b="1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400" b="1" dirty="0" err="1">
                          <a:effectLst/>
                        </a:rPr>
                        <a:t>Indicator</a:t>
                      </a:r>
                      <a:endParaRPr lang="ko-KR" sz="1400" b="1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altLang="en-US" sz="1400" b="1" dirty="0">
                          <a:effectLst/>
                        </a:rPr>
                        <a:t>지표 정의</a:t>
                      </a:r>
                      <a:endParaRPr lang="ko-KR" sz="1400" b="1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extLst>
                  <a:ext uri="{0D108BD9-81ED-4DB2-BD59-A6C34878D82A}">
                    <a16:rowId xmlns:a16="http://schemas.microsoft.com/office/drawing/2014/main" val="3227698572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400" b="1" dirty="0" err="1">
                          <a:effectLst/>
                        </a:rPr>
                        <a:t>Connectivity</a:t>
                      </a:r>
                      <a:endParaRPr lang="ko-KR" sz="1800" b="1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200" dirty="0">
                          <a:effectLst/>
                        </a:rPr>
                        <a:t>station_density_4g</a:t>
                      </a:r>
                      <a:endParaRPr lang="ko-KR" sz="12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 rowSpan="2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b="0" u="none" dirty="0">
                          <a:effectLst/>
                        </a:rPr>
                        <a:t>4G</a:t>
                      </a:r>
                      <a:r>
                        <a:rPr lang="en-US" altLang="ko-KR" sz="1200" b="0" u="none" dirty="0">
                          <a:effectLst/>
                        </a:rPr>
                        <a:t>/5G</a:t>
                      </a:r>
                      <a:r>
                        <a:rPr lang="en-US" sz="1200" b="0" u="none" dirty="0">
                          <a:effectLst/>
                        </a:rPr>
                        <a:t> base-station density per 1,000 daytime residents</a:t>
                      </a:r>
                      <a:endParaRPr lang="en-US" sz="1200" b="0" u="none" dirty="0"/>
                    </a:p>
                  </a:txBody>
                  <a:tcPr marL="41275" marR="41275" marT="28575" marB="28575" anchor="ctr"/>
                </a:tc>
                <a:extLst>
                  <a:ext uri="{0D108BD9-81ED-4DB2-BD59-A6C34878D82A}">
                    <a16:rowId xmlns:a16="http://schemas.microsoft.com/office/drawing/2014/main" val="39568332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200" dirty="0">
                          <a:effectLst/>
                        </a:rPr>
                        <a:t>station_density_5g</a:t>
                      </a:r>
                      <a:endParaRPr lang="ko-KR" sz="12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b="1" u="sng" dirty="0">
                          <a:effectLst/>
                        </a:rPr>
                        <a:t>5G base-station density</a:t>
                      </a:r>
                      <a:r>
                        <a:rPr lang="en-US" sz="1200" dirty="0">
                          <a:effectLst/>
                        </a:rPr>
                        <a:t> per 1,000 daytime residents</a:t>
                      </a:r>
                      <a:endParaRPr lang="en-US" sz="1200" dirty="0"/>
                    </a:p>
                  </a:txBody>
                  <a:tcPr marL="41275" marR="41275" marT="28575" marB="28575" anchor="ctr"/>
                </a:tc>
                <a:extLst>
                  <a:ext uri="{0D108BD9-81ED-4DB2-BD59-A6C34878D82A}">
                    <a16:rowId xmlns:a16="http://schemas.microsoft.com/office/drawing/2014/main" val="394443923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200" dirty="0" err="1">
                          <a:effectLst/>
                        </a:rPr>
                        <a:t>download_speed</a:t>
                      </a:r>
                      <a:endParaRPr lang="ko-KR" sz="12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b="0" u="none" dirty="0">
                          <a:effectLst/>
                        </a:rPr>
                        <a:t>District average download speed</a:t>
                      </a:r>
                      <a:endParaRPr lang="en-US" sz="1200" b="0" u="none" dirty="0"/>
                    </a:p>
                  </a:txBody>
                  <a:tcPr marL="41275" marR="41275" marT="28575" marB="28575" anchor="ctr"/>
                </a:tc>
                <a:extLst>
                  <a:ext uri="{0D108BD9-81ED-4DB2-BD59-A6C34878D82A}">
                    <a16:rowId xmlns:a16="http://schemas.microsoft.com/office/drawing/2014/main" val="3311223238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400" b="1" dirty="0" err="1">
                          <a:effectLst/>
                        </a:rPr>
                        <a:t>Available</a:t>
                      </a:r>
                      <a:r>
                        <a:rPr lang="ko-KR" sz="1400" b="1" dirty="0">
                          <a:effectLst/>
                        </a:rPr>
                        <a:t> </a:t>
                      </a:r>
                      <a:r>
                        <a:rPr lang="ko-KR" sz="1400" b="1" dirty="0" err="1">
                          <a:effectLst/>
                        </a:rPr>
                        <a:t>for</a:t>
                      </a:r>
                      <a:r>
                        <a:rPr lang="ko-KR" sz="1400" b="1" dirty="0">
                          <a:effectLst/>
                        </a:rPr>
                        <a:t> </a:t>
                      </a:r>
                      <a:r>
                        <a:rPr lang="ko-KR" sz="1400" b="1" dirty="0" err="1">
                          <a:effectLst/>
                        </a:rPr>
                        <a:t>Use</a:t>
                      </a:r>
                      <a:endParaRPr lang="ko-KR" sz="1800" b="1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200" dirty="0" err="1">
                          <a:effectLst/>
                        </a:rPr>
                        <a:t>mobile_data_usage</a:t>
                      </a:r>
                      <a:endParaRPr lang="ko-KR" sz="12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b="0" u="none" dirty="0">
                          <a:effectLst/>
                        </a:rPr>
                        <a:t>Monthly mobile data usage, weighted by daytime floating population</a:t>
                      </a:r>
                      <a:endParaRPr lang="en-US" sz="1200" b="0" u="none" dirty="0"/>
                    </a:p>
                  </a:txBody>
                  <a:tcPr marL="41275" marR="41275" marT="28575" marB="28575" anchor="ctr"/>
                </a:tc>
                <a:extLst>
                  <a:ext uri="{0D108BD9-81ED-4DB2-BD59-A6C34878D82A}">
                    <a16:rowId xmlns:a16="http://schemas.microsoft.com/office/drawing/2014/main" val="267749901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200" dirty="0" err="1">
                          <a:effectLst/>
                        </a:rPr>
                        <a:t>online_service_days</a:t>
                      </a:r>
                      <a:endParaRPr lang="ko-KR" sz="12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b="0" u="none" dirty="0">
                          <a:effectLst/>
                        </a:rPr>
                        <a:t>Online service-use days across finance, shopping, video, delivery</a:t>
                      </a:r>
                      <a:endParaRPr lang="en-US" sz="1200" b="0" u="none" dirty="0"/>
                    </a:p>
                  </a:txBody>
                  <a:tcPr marL="41275" marR="41275" marT="28575" marB="28575" anchor="ctr"/>
                </a:tc>
                <a:extLst>
                  <a:ext uri="{0D108BD9-81ED-4DB2-BD59-A6C34878D82A}">
                    <a16:rowId xmlns:a16="http://schemas.microsoft.com/office/drawing/2014/main" val="27031501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200" dirty="0" err="1">
                          <a:effectLst/>
                        </a:rPr>
                        <a:t>wifi_density</a:t>
                      </a:r>
                      <a:endParaRPr lang="ko-KR" sz="12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b="0" u="none" dirty="0">
                          <a:effectLst/>
                        </a:rPr>
                        <a:t>Registered public Wi-Fi access points</a:t>
                      </a:r>
                      <a:endParaRPr lang="en-US" sz="1200" b="0" u="none" dirty="0"/>
                    </a:p>
                  </a:txBody>
                  <a:tcPr marL="41275" marR="41275" marT="28575" marB="28575" anchor="ctr"/>
                </a:tc>
                <a:extLst>
                  <a:ext uri="{0D108BD9-81ED-4DB2-BD59-A6C34878D82A}">
                    <a16:rowId xmlns:a16="http://schemas.microsoft.com/office/drawing/2014/main" val="1853269933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400" b="1" dirty="0" err="1">
                          <a:effectLst/>
                        </a:rPr>
                        <a:t>Affordability</a:t>
                      </a:r>
                      <a:endParaRPr lang="ko-KR" sz="1800" b="1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200" dirty="0" err="1">
                          <a:effectLst/>
                        </a:rPr>
                        <a:t>avg_income</a:t>
                      </a:r>
                      <a:endParaRPr lang="ko-KR" sz="12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b="0" u="none" dirty="0">
                          <a:effectLst/>
                        </a:rPr>
                        <a:t>Average monthly household income by distric</a:t>
                      </a:r>
                      <a:r>
                        <a:rPr lang="en-US" altLang="ko-KR" sz="1200" b="0" u="none" dirty="0">
                          <a:effectLst/>
                        </a:rPr>
                        <a:t>t</a:t>
                      </a:r>
                      <a:endParaRPr lang="en-US" sz="1200" b="0" u="none" dirty="0"/>
                    </a:p>
                  </a:txBody>
                  <a:tcPr marL="41275" marR="41275" marT="28575" marB="28575" anchor="ctr"/>
                </a:tc>
                <a:extLst>
                  <a:ext uri="{0D108BD9-81ED-4DB2-BD59-A6C34878D82A}">
                    <a16:rowId xmlns:a16="http://schemas.microsoft.com/office/drawing/2014/main" val="386972409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200">
                          <a:effectLst/>
                        </a:rPr>
                        <a:t>delinq_rate</a:t>
                      </a:r>
                      <a:endParaRPr lang="ko-KR" sz="120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b="0" u="none" dirty="0">
                          <a:effectLst/>
                        </a:rPr>
                        <a:t>Telecom fee delinquency rate, reverse-coded</a:t>
                      </a:r>
                      <a:endParaRPr lang="en-US" sz="1200" b="0" u="none" dirty="0"/>
                    </a:p>
                  </a:txBody>
                  <a:tcPr marL="41275" marR="41275" marT="28575" marB="28575" anchor="ctr"/>
                </a:tc>
                <a:extLst>
                  <a:ext uri="{0D108BD9-81ED-4DB2-BD59-A6C34878D82A}">
                    <a16:rowId xmlns:a16="http://schemas.microsoft.com/office/drawing/2014/main" val="171225378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400" b="1" dirty="0">
                          <a:effectLst/>
                        </a:rPr>
                        <a:t>Devices</a:t>
                      </a:r>
                      <a:endParaRPr lang="ko-KR" sz="1800" b="1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200" dirty="0" err="1">
                          <a:effectLst/>
                        </a:rPr>
                        <a:t>device_home_core</a:t>
                      </a:r>
                      <a:endParaRPr lang="ko-KR" sz="12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Core device types owned in the household</a:t>
                      </a:r>
                      <a:endParaRPr lang="en-US" sz="1200" dirty="0"/>
                    </a:p>
                  </a:txBody>
                  <a:tcPr marL="41275" marR="41275" marT="28575" marB="28575" anchor="ctr"/>
                </a:tc>
                <a:extLst>
                  <a:ext uri="{0D108BD9-81ED-4DB2-BD59-A6C34878D82A}">
                    <a16:rowId xmlns:a16="http://schemas.microsoft.com/office/drawing/2014/main" val="29609173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200" dirty="0" err="1">
                          <a:effectLst/>
                        </a:rPr>
                        <a:t>device_use_core</a:t>
                      </a:r>
                      <a:endParaRPr lang="ko-KR" sz="12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Core device types actually used by individuals</a:t>
                      </a:r>
                      <a:endParaRPr lang="en-US" sz="1200" dirty="0"/>
                    </a:p>
                  </a:txBody>
                  <a:tcPr marL="41275" marR="41275" marT="28575" marB="28575" anchor="ctr"/>
                </a:tc>
                <a:extLst>
                  <a:ext uri="{0D108BD9-81ED-4DB2-BD59-A6C34878D82A}">
                    <a16:rowId xmlns:a16="http://schemas.microsoft.com/office/drawing/2014/main" val="3412909509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400" b="1" dirty="0">
                          <a:effectLst/>
                        </a:rPr>
                        <a:t>Digital </a:t>
                      </a:r>
                      <a:r>
                        <a:rPr lang="ko-KR" sz="1400" b="1" dirty="0" err="1">
                          <a:effectLst/>
                        </a:rPr>
                        <a:t>Skills</a:t>
                      </a:r>
                      <a:endParaRPr lang="ko-KR" sz="1800" b="1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200" dirty="0" err="1">
                          <a:effectLst/>
                        </a:rPr>
                        <a:t>Basic</a:t>
                      </a:r>
                      <a:endParaRPr lang="ko-KR" sz="12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Basic skills </a:t>
                      </a:r>
                      <a:endParaRPr lang="en-US" sz="1200" dirty="0"/>
                    </a:p>
                  </a:txBody>
                  <a:tcPr marL="41275" marR="41275" marT="28575" marB="28575" anchor="ctr"/>
                </a:tc>
                <a:extLst>
                  <a:ext uri="{0D108BD9-81ED-4DB2-BD59-A6C34878D82A}">
                    <a16:rowId xmlns:a16="http://schemas.microsoft.com/office/drawing/2014/main" val="350802996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200" dirty="0">
                          <a:effectLst/>
                        </a:rPr>
                        <a:t>Applied</a:t>
                      </a:r>
                      <a:endParaRPr lang="ko-KR" sz="12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Applied skills</a:t>
                      </a:r>
                      <a:endParaRPr lang="en-US" sz="1200" dirty="0"/>
                    </a:p>
                  </a:txBody>
                  <a:tcPr marL="41275" marR="41275" marT="28575" marB="28575" anchor="ctr"/>
                </a:tc>
                <a:extLst>
                  <a:ext uri="{0D108BD9-81ED-4DB2-BD59-A6C34878D82A}">
                    <a16:rowId xmlns:a16="http://schemas.microsoft.com/office/drawing/2014/main" val="192903985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200" dirty="0">
                          <a:effectLst/>
                        </a:rPr>
                        <a:t>Advanced</a:t>
                      </a:r>
                      <a:endParaRPr lang="ko-KR" sz="12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Advanced skills</a:t>
                      </a:r>
                      <a:endParaRPr lang="en-US" sz="1200" dirty="0"/>
                    </a:p>
                  </a:txBody>
                  <a:tcPr marL="41275" marR="41275" marT="28575" marB="28575" anchor="ctr"/>
                </a:tc>
                <a:extLst>
                  <a:ext uri="{0D108BD9-81ED-4DB2-BD59-A6C34878D82A}">
                    <a16:rowId xmlns:a16="http://schemas.microsoft.com/office/drawing/2014/main" val="77614358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200" dirty="0" err="1">
                          <a:effectLst/>
                        </a:rPr>
                        <a:t>Cyber</a:t>
                      </a:r>
                      <a:r>
                        <a:rPr lang="ko-KR" sz="1200" dirty="0">
                          <a:effectLst/>
                        </a:rPr>
                        <a:t> </a:t>
                      </a:r>
                      <a:r>
                        <a:rPr lang="ko-KR" sz="1200" dirty="0" err="1">
                          <a:effectLst/>
                        </a:rPr>
                        <a:t>activity</a:t>
                      </a:r>
                      <a:endParaRPr lang="ko-KR" sz="12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Cyber activity</a:t>
                      </a:r>
                      <a:endParaRPr lang="en-US" sz="1200" dirty="0"/>
                    </a:p>
                  </a:txBody>
                  <a:tcPr marL="41275" marR="41275" marT="28575" marB="28575" anchor="ctr"/>
                </a:tc>
                <a:extLst>
                  <a:ext uri="{0D108BD9-81ED-4DB2-BD59-A6C34878D82A}">
                    <a16:rowId xmlns:a16="http://schemas.microsoft.com/office/drawing/2014/main" val="919641307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400" b="1" dirty="0" err="1">
                          <a:effectLst/>
                        </a:rPr>
                        <a:t>Safety</a:t>
                      </a:r>
                      <a:endParaRPr lang="ko-KR" sz="1800" b="1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200" dirty="0" err="1">
                          <a:effectLst/>
                        </a:rPr>
                        <a:t>safety_behavior</a:t>
                      </a:r>
                      <a:endParaRPr lang="ko-KR" sz="12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Security behavior</a:t>
                      </a:r>
                      <a:endParaRPr lang="en-US" sz="1200" dirty="0"/>
                    </a:p>
                  </a:txBody>
                  <a:tcPr marL="41275" marR="41275" marT="28575" marB="28575" anchor="ctr"/>
                </a:tc>
                <a:extLst>
                  <a:ext uri="{0D108BD9-81ED-4DB2-BD59-A6C34878D82A}">
                    <a16:rowId xmlns:a16="http://schemas.microsoft.com/office/drawing/2014/main" val="344380839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ko-KR" sz="1200" dirty="0" err="1">
                          <a:effectLst/>
                        </a:rPr>
                        <a:t>safety_awareness</a:t>
                      </a:r>
                      <a:endParaRPr lang="ko-KR" sz="1200" dirty="0">
                        <a:solidFill>
                          <a:srgbClr val="222222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41275" marR="41275" marT="28575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Security awareness </a:t>
                      </a:r>
                      <a:endParaRPr lang="en-US" sz="1200" dirty="0"/>
                    </a:p>
                  </a:txBody>
                  <a:tcPr marL="41275" marR="41275" marT="28575" marB="28575" anchor="ctr"/>
                </a:tc>
                <a:extLst>
                  <a:ext uri="{0D108BD9-81ED-4DB2-BD59-A6C34878D82A}">
                    <a16:rowId xmlns:a16="http://schemas.microsoft.com/office/drawing/2014/main" val="2245315349"/>
                  </a:ext>
                </a:extLst>
              </a:tr>
            </a:tbl>
          </a:graphicData>
        </a:graphic>
      </p:graphicFrame>
      <p:sp>
        <p:nvSpPr>
          <p:cNvPr id="12" name="Rectangle 4">
            <a:extLst>
              <a:ext uri="{FF2B5EF4-FFF2-40B4-BE49-F238E27FC236}">
                <a16:creationId xmlns:a16="http://schemas.microsoft.com/office/drawing/2014/main" id="{E5AFCFA5-A114-850F-4F49-26D964A70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670" y="239152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99EBB9-282D-D4D8-8029-239289E506F5}"/>
              </a:ext>
            </a:extLst>
          </p:cNvPr>
          <p:cNvSpPr txBox="1"/>
          <p:nvPr/>
        </p:nvSpPr>
        <p:spPr>
          <a:xfrm>
            <a:off x="8018373" y="1782395"/>
            <a:ext cx="4051195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ü"/>
            </a:pPr>
            <a:r>
              <a:rPr kumimoji="1" lang="ko-KR" altLang="en-US" sz="1600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기지국 수는 일반적으로 주거지 기반 연결성을 측정하는 지표로 활용되지만</a:t>
            </a:r>
            <a:r>
              <a:rPr kumimoji="1" lang="en-US" altLang="ko-KR" sz="1600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(ITU, 2024), </a:t>
            </a:r>
            <a:r>
              <a:rPr kumimoji="1" lang="ko-KR" altLang="en-US" sz="1600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한국의 </a:t>
            </a:r>
            <a:r>
              <a:rPr kumimoji="1" lang="ko-KR" altLang="en-US" sz="1600" dirty="0" err="1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직주분리</a:t>
            </a:r>
            <a:r>
              <a:rPr kumimoji="1" lang="ko-KR" altLang="en-US" sz="1600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 특성을 고려하여 주간 상주인구를 대체 지표로 활용함</a:t>
            </a:r>
            <a:endParaRPr kumimoji="1" lang="en-US" altLang="ko-KR" sz="1600" dirty="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kumimoji="1" lang="en-US" altLang="ko-KR" sz="1600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Download Speed</a:t>
            </a:r>
            <a:r>
              <a:rPr kumimoji="1" lang="ko-KR" altLang="en-US" sz="1600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는 각 연도별 행정동 내 다양한 장소에서 측정된 데이터를 자치구 단위로 집계한 연도별 평균값을 활용함</a:t>
            </a:r>
            <a:endParaRPr kumimoji="1" lang="en-US" altLang="ko-KR" sz="1600" dirty="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kumimoji="1" lang="ko-KR" altLang="en-US" sz="1600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한국은 지역 간 통신요금 차이가 거의 존재하지 않으므로</a:t>
            </a:r>
            <a:r>
              <a:rPr kumimoji="1" lang="en-US" altLang="ko-KR" sz="1600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, Affordability </a:t>
            </a:r>
            <a:r>
              <a:rPr kumimoji="1" lang="ko-KR" altLang="en-US" sz="1600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차원은 통신요금 연체율을 대리지표로 활용함</a:t>
            </a:r>
            <a:endParaRPr kumimoji="1" lang="en-US" altLang="ko-KR" sz="1600" dirty="0">
              <a:latin typeface="KoPubWorldDotum Medium" pitchFamily="2" charset="-127"/>
              <a:ea typeface="KoPubWorldDotum Medium" pitchFamily="2" charset="-127"/>
              <a:cs typeface="KoPubWorldDotum Medium" pitchFamily="2" charset="-127"/>
            </a:endParaRPr>
          </a:p>
          <a:p>
            <a:pPr marL="285750" indent="-285750">
              <a:buFont typeface="Wingdings" pitchFamily="2" charset="2"/>
              <a:buChar char="ü"/>
            </a:pPr>
            <a:r>
              <a:rPr kumimoji="1" lang="en" altLang="ko-KR" sz="1600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Devices, Digital Skills, Safety </a:t>
            </a:r>
            <a:r>
              <a:rPr kumimoji="1" lang="ko-KR" altLang="en-US" sz="1600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차원은 자료 가용성의 한계로 인해 </a:t>
            </a:r>
            <a:r>
              <a:rPr kumimoji="1" lang="en-US" altLang="ko-KR" sz="1600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2023</a:t>
            </a:r>
            <a:r>
              <a:rPr kumimoji="1" lang="ko-KR" altLang="en-US" sz="1600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년 단일 연도 </a:t>
            </a:r>
            <a:r>
              <a:rPr kumimoji="1" lang="ko-KR" altLang="en-US" sz="1600" dirty="0" err="1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서베이</a:t>
            </a:r>
            <a:r>
              <a:rPr kumimoji="1" lang="ko-KR" altLang="en-US" sz="1600" dirty="0">
                <a:latin typeface="KoPubWorldDotum Medium" pitchFamily="2" charset="-127"/>
                <a:ea typeface="KoPubWorldDotum Medium" pitchFamily="2" charset="-127"/>
                <a:cs typeface="KoPubWorldDotum Medium" pitchFamily="2" charset="-127"/>
              </a:rPr>
              <a:t> 자료를 활용함</a:t>
            </a:r>
          </a:p>
        </p:txBody>
      </p:sp>
    </p:spTree>
    <p:extLst>
      <p:ext uri="{BB962C8B-B14F-4D97-AF65-F5344CB8AC3E}">
        <p14:creationId xmlns:p14="http://schemas.microsoft.com/office/powerpoint/2010/main" val="3770512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4FA55D71-F45B-E549-F2A7-0BEB48150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>
            <a:extLst>
              <a:ext uri="{FF2B5EF4-FFF2-40B4-BE49-F238E27FC236}">
                <a16:creationId xmlns:a16="http://schemas.microsoft.com/office/drawing/2014/main" id="{02F65081-2D3B-7F5F-DD15-303CA8991CB2}"/>
              </a:ext>
            </a:extLst>
          </p:cNvPr>
          <p:cNvSpPr/>
          <p:nvPr/>
        </p:nvSpPr>
        <p:spPr>
          <a:xfrm>
            <a:off x="548649" y="365750"/>
            <a:ext cx="3364131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3000"/>
              <a:buFont typeface="Calibri"/>
              <a:buNone/>
            </a:pPr>
            <a:r>
              <a:rPr lang="en-US" sz="3000" b="1" dirty="0">
                <a:solidFill>
                  <a:srgbClr val="14263D"/>
                </a:solidFill>
                <a:latin typeface="Calibri"/>
                <a:ea typeface="Calibri"/>
                <a:cs typeface="Calibri"/>
                <a:sym typeface="Calibri"/>
              </a:rPr>
              <a:t>Analysis 1</a:t>
            </a:r>
            <a:endParaRPr sz="3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1">
            <a:extLst>
              <a:ext uri="{FF2B5EF4-FFF2-40B4-BE49-F238E27FC236}">
                <a16:creationId xmlns:a16="http://schemas.microsoft.com/office/drawing/2014/main" id="{1CA67D06-A944-FFF7-8477-C9972C772EA6}"/>
              </a:ext>
            </a:extLst>
          </p:cNvPr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1">
            <a:extLst>
              <a:ext uri="{FF2B5EF4-FFF2-40B4-BE49-F238E27FC236}">
                <a16:creationId xmlns:a16="http://schemas.microsoft.com/office/drawing/2014/main" id="{89FAB872-C967-9A82-270E-F7682B5546EF}"/>
              </a:ext>
            </a:extLst>
          </p:cNvPr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11" descr="/home/claude/work/logo_gateway.jpeg">
            <a:extLst>
              <a:ext uri="{FF2B5EF4-FFF2-40B4-BE49-F238E27FC236}">
                <a16:creationId xmlns:a16="http://schemas.microsoft.com/office/drawing/2014/main" id="{EB001932-1377-CA7D-C7C6-DA36D0BE2E5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1" descr="/home/claude/work/logo_eu.jpeg">
            <a:extLst>
              <a:ext uri="{FF2B5EF4-FFF2-40B4-BE49-F238E27FC236}">
                <a16:creationId xmlns:a16="http://schemas.microsoft.com/office/drawing/2014/main" id="{0CAF922F-2060-EA53-F7CE-36DC1C1311A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1" descr="/home/claude/work/logo_itu.png">
            <a:extLst>
              <a:ext uri="{FF2B5EF4-FFF2-40B4-BE49-F238E27FC236}">
                <a16:creationId xmlns:a16="http://schemas.microsoft.com/office/drawing/2014/main" id="{BFE60806-0AD7-2E61-C7FC-345C160C99E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1">
            <a:extLst>
              <a:ext uri="{FF2B5EF4-FFF2-40B4-BE49-F238E27FC236}">
                <a16:creationId xmlns:a16="http://schemas.microsoft.com/office/drawing/2014/main" id="{1E79D56F-2FD5-50D1-4785-052184A4D8A3}"/>
              </a:ext>
            </a:extLst>
          </p:cNvPr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0B0B0"/>
                </a:solidFill>
                <a:latin typeface="Calibri"/>
                <a:ea typeface="Calibri"/>
                <a:cs typeface="Calibri"/>
                <a:sym typeface="Calibri"/>
              </a:rPr>
              <a:t>3 / 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7ADA5812-FA95-8802-4B62-0A45484D62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670" y="239152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4887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9" name="Google Shape;269;p13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3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13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3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0B0B0"/>
                </a:solidFill>
                <a:latin typeface="Calibri"/>
                <a:ea typeface="Calibri"/>
                <a:cs typeface="Calibri"/>
                <a:sym typeface="Calibri"/>
              </a:rPr>
              <a:t>6 / 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40;p11">
            <a:extLst>
              <a:ext uri="{FF2B5EF4-FFF2-40B4-BE49-F238E27FC236}">
                <a16:creationId xmlns:a16="http://schemas.microsoft.com/office/drawing/2014/main" id="{5BF6F110-7B90-2D28-CB8D-A85EE049EAC1}"/>
              </a:ext>
            </a:extLst>
          </p:cNvPr>
          <p:cNvSpPr/>
          <p:nvPr/>
        </p:nvSpPr>
        <p:spPr>
          <a:xfrm>
            <a:off x="548649" y="365750"/>
            <a:ext cx="3364131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3000"/>
              <a:buFont typeface="Calibri"/>
              <a:buNone/>
            </a:pPr>
            <a:r>
              <a:rPr lang="en-US" sz="3000" b="1" dirty="0">
                <a:solidFill>
                  <a:srgbClr val="14263D"/>
                </a:solidFill>
                <a:latin typeface="Calibri"/>
                <a:ea typeface="Calibri"/>
                <a:cs typeface="Calibri"/>
                <a:sym typeface="Calibri"/>
              </a:rPr>
              <a:t>Analysis 1</a:t>
            </a:r>
            <a:endParaRPr sz="3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76F3236-852F-22BA-145E-8E349C68EE3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500" t="9500" r="2500" b="26000"/>
          <a:stretch>
            <a:fillRect/>
          </a:stretch>
        </p:blipFill>
        <p:spPr>
          <a:xfrm>
            <a:off x="548640" y="1313993"/>
            <a:ext cx="5394960" cy="252069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3D0B62D-454D-E8E2-7C65-01A03259C59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500" t="9500" r="2500" b="26000"/>
          <a:stretch>
            <a:fillRect/>
          </a:stretch>
        </p:blipFill>
        <p:spPr>
          <a:xfrm>
            <a:off x="6248400" y="1313993"/>
            <a:ext cx="5394960" cy="252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880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4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9" name="Google Shape;309;p14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14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14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4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0B0B0"/>
                </a:solidFill>
                <a:latin typeface="Calibri"/>
                <a:ea typeface="Calibri"/>
                <a:cs typeface="Calibri"/>
                <a:sym typeface="Calibri"/>
              </a:rPr>
              <a:t>7 / 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40;p11">
            <a:extLst>
              <a:ext uri="{FF2B5EF4-FFF2-40B4-BE49-F238E27FC236}">
                <a16:creationId xmlns:a16="http://schemas.microsoft.com/office/drawing/2014/main" id="{5FE392DB-DABD-54E2-B34C-AC2303B70534}"/>
              </a:ext>
            </a:extLst>
          </p:cNvPr>
          <p:cNvSpPr/>
          <p:nvPr/>
        </p:nvSpPr>
        <p:spPr>
          <a:xfrm>
            <a:off x="548649" y="365750"/>
            <a:ext cx="3364131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3000"/>
              <a:buFont typeface="Calibri"/>
              <a:buNone/>
            </a:pPr>
            <a:r>
              <a:rPr lang="en-US" sz="3000" b="1" dirty="0">
                <a:solidFill>
                  <a:srgbClr val="14263D"/>
                </a:solidFill>
                <a:latin typeface="Calibri"/>
                <a:ea typeface="Calibri"/>
                <a:cs typeface="Calibri"/>
                <a:sym typeface="Calibri"/>
              </a:rPr>
              <a:t>Analysis 1</a:t>
            </a:r>
            <a:endParaRPr sz="3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E237E0D-DAE0-7284-53B5-9E8F6B6E594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500" t="15000" r="2500" b="18000"/>
          <a:stretch>
            <a:fillRect/>
          </a:stretch>
        </p:blipFill>
        <p:spPr>
          <a:xfrm>
            <a:off x="548640" y="1078992"/>
            <a:ext cx="3632200" cy="18288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BE3054B-692B-1DB7-2D48-B4D3B46C033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500" t="15000" r="2500" b="18000"/>
          <a:stretch>
            <a:fillRect/>
          </a:stretch>
        </p:blipFill>
        <p:spPr>
          <a:xfrm>
            <a:off x="4264660" y="1078992"/>
            <a:ext cx="3632200" cy="18288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3AE1B24-F53B-58D7-21CB-0E2F4C34130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500" t="15000" r="2500" b="18000"/>
          <a:stretch>
            <a:fillRect/>
          </a:stretch>
        </p:blipFill>
        <p:spPr>
          <a:xfrm>
            <a:off x="7980680" y="1078992"/>
            <a:ext cx="3632200" cy="18288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53BC7AD-4B43-ED9A-241C-DC1DCF70E30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3500" t="15000" r="2500" b="18000"/>
          <a:stretch>
            <a:fillRect/>
          </a:stretch>
        </p:blipFill>
        <p:spPr>
          <a:xfrm>
            <a:off x="548640" y="3009392"/>
            <a:ext cx="3632200" cy="18288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73E25D1-67D8-BE9F-A3A8-F3E002676D1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3500" t="15000" r="2500" b="18000"/>
          <a:stretch>
            <a:fillRect/>
          </a:stretch>
        </p:blipFill>
        <p:spPr>
          <a:xfrm>
            <a:off x="4264660" y="3009392"/>
            <a:ext cx="3632200" cy="18288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DD2DD2F-0D16-F98E-5B71-DBE2A8EF3598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3500" t="15000" r="2500" b="18000"/>
          <a:stretch>
            <a:fillRect/>
          </a:stretch>
        </p:blipFill>
        <p:spPr>
          <a:xfrm>
            <a:off x="7980680" y="3009392"/>
            <a:ext cx="36322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0179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5"/>
          <p:cNvSpPr/>
          <p:nvPr/>
        </p:nvSpPr>
        <p:spPr>
          <a:xfrm>
            <a:off x="548640" y="978408"/>
            <a:ext cx="594300" cy="411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40;p11">
            <a:extLst>
              <a:ext uri="{FF2B5EF4-FFF2-40B4-BE49-F238E27FC236}">
                <a16:creationId xmlns:a16="http://schemas.microsoft.com/office/drawing/2014/main" id="{3F4492A9-212F-A5D0-C05F-A935F7247004}"/>
              </a:ext>
            </a:extLst>
          </p:cNvPr>
          <p:cNvSpPr/>
          <p:nvPr/>
        </p:nvSpPr>
        <p:spPr>
          <a:xfrm>
            <a:off x="548649" y="365750"/>
            <a:ext cx="3364131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3000"/>
              <a:buFont typeface="Calibri"/>
              <a:buNone/>
            </a:pPr>
            <a:r>
              <a:rPr lang="en-US" sz="3000" b="1" dirty="0">
                <a:solidFill>
                  <a:srgbClr val="14263D"/>
                </a:solidFill>
                <a:latin typeface="Calibri"/>
                <a:ea typeface="Calibri"/>
                <a:cs typeface="Calibri"/>
                <a:sym typeface="Calibri"/>
              </a:rPr>
              <a:t>Analysis 1</a:t>
            </a:r>
            <a:endParaRPr sz="3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6"/>
          <p:cNvSpPr/>
          <p:nvPr/>
        </p:nvSpPr>
        <p:spPr>
          <a:xfrm>
            <a:off x="548640" y="365760"/>
            <a:ext cx="100584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14263D"/>
                </a:solidFill>
                <a:latin typeface="Calibri"/>
                <a:ea typeface="Calibri"/>
                <a:cs typeface="Calibri"/>
                <a:sym typeface="Calibri"/>
              </a:rPr>
              <a:t>Part 3-2</a:t>
            </a:r>
            <a:endParaRPr sz="3000" b="1">
              <a:solidFill>
                <a:srgbClr val="1426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6"/>
          <p:cNvSpPr/>
          <p:nvPr/>
        </p:nvSpPr>
        <p:spPr>
          <a:xfrm>
            <a:off x="548640" y="978408"/>
            <a:ext cx="594300" cy="411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5" name="Google Shape;335;p16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16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16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6"/>
          <p:cNvSpPr/>
          <p:nvPr/>
        </p:nvSpPr>
        <p:spPr>
          <a:xfrm>
            <a:off x="548640" y="6565392"/>
            <a:ext cx="13716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0B0B0"/>
                </a:solidFill>
                <a:latin typeface="Calibri"/>
                <a:ea typeface="Calibri"/>
                <a:cs typeface="Calibri"/>
                <a:sym typeface="Calibri"/>
              </a:rPr>
              <a:t>8 / 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7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14263D"/>
                </a:solidFill>
                <a:latin typeface="Calibri"/>
                <a:ea typeface="Calibri"/>
                <a:cs typeface="Calibri"/>
                <a:sym typeface="Calibri"/>
              </a:rPr>
              <a:t>Part 3-2</a:t>
            </a:r>
            <a:endParaRPr sz="3000" b="1">
              <a:solidFill>
                <a:srgbClr val="1426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7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7"/>
          <p:cNvSpPr/>
          <p:nvPr/>
        </p:nvSpPr>
        <p:spPr>
          <a:xfrm>
            <a:off x="620557" y="1507011"/>
            <a:ext cx="5303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869B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2E869B"/>
                </a:solidFill>
                <a:latin typeface="Calibri"/>
                <a:ea typeface="Calibri"/>
                <a:cs typeface="Calibri"/>
                <a:sym typeface="Calibri"/>
              </a:rPr>
              <a:t>Where the variation sits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7"/>
          <p:cNvSpPr/>
          <p:nvPr/>
        </p:nvSpPr>
        <p:spPr>
          <a:xfrm>
            <a:off x="621793" y="1460369"/>
            <a:ext cx="11064300" cy="9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2400"/>
              <a:buFont typeface="Calibri"/>
              <a:buNone/>
            </a:pPr>
            <a:r>
              <a:rPr lang="en-US" sz="2400" b="1">
                <a:solidFill>
                  <a:srgbClr val="14263D"/>
                </a:solidFill>
                <a:latin typeface="Calibri"/>
                <a:ea typeface="Calibri"/>
                <a:cs typeface="Calibri"/>
                <a:sym typeface="Calibri"/>
              </a:rPr>
              <a:t>Almost all variation in digital use sits between </a:t>
            </a:r>
            <a:r>
              <a:rPr lang="en-US" sz="2400" b="1">
                <a:solidFill>
                  <a:srgbClr val="2E869B"/>
                </a:solidFill>
                <a:latin typeface="Calibri"/>
                <a:ea typeface="Calibri"/>
                <a:cs typeface="Calibri"/>
                <a:sym typeface="Calibri"/>
              </a:rPr>
              <a:t>people</a:t>
            </a:r>
            <a:r>
              <a:rPr lang="en-US" sz="2400" b="1">
                <a:solidFill>
                  <a:srgbClr val="14263D"/>
                </a:solidFill>
                <a:latin typeface="Calibri"/>
                <a:ea typeface="Calibri"/>
                <a:cs typeface="Calibri"/>
                <a:sym typeface="Calibri"/>
              </a:rPr>
              <a:t>, not between </a:t>
            </a:r>
            <a:r>
              <a:rPr lang="en-US" sz="2400" b="1">
                <a:solidFill>
                  <a:srgbClr val="2E869B"/>
                </a:solidFill>
                <a:latin typeface="Calibri"/>
                <a:ea typeface="Calibri"/>
                <a:cs typeface="Calibri"/>
                <a:sym typeface="Calibri"/>
              </a:rPr>
              <a:t>districts</a:t>
            </a:r>
            <a:r>
              <a:rPr lang="en-US" sz="2400" b="1">
                <a:solidFill>
                  <a:srgbClr val="14263D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7"/>
          <p:cNvSpPr/>
          <p:nvPr/>
        </p:nvSpPr>
        <p:spPr>
          <a:xfrm>
            <a:off x="548640" y="2375630"/>
            <a:ext cx="5303400" cy="72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7"/>
          <p:cNvSpPr/>
          <p:nvPr/>
        </p:nvSpPr>
        <p:spPr>
          <a:xfrm>
            <a:off x="548640" y="2438918"/>
            <a:ext cx="5303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Strongest individual-level associations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7"/>
          <p:cNvSpPr/>
          <p:nvPr/>
        </p:nvSpPr>
        <p:spPr>
          <a:xfrm>
            <a:off x="548640" y="2758958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Edu ≤ middle school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7"/>
          <p:cNvSpPr/>
          <p:nvPr/>
        </p:nvSpPr>
        <p:spPr>
          <a:xfrm>
            <a:off x="3291840" y="2758958"/>
            <a:ext cx="1371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14263D"/>
                </a:solidFill>
                <a:latin typeface="Calibri"/>
                <a:ea typeface="Calibri"/>
                <a:cs typeface="Calibri"/>
                <a:sym typeface="Calibri"/>
              </a:rPr>
              <a:t>−18.4 pts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7"/>
          <p:cNvSpPr/>
          <p:nvPr/>
        </p:nvSpPr>
        <p:spPr>
          <a:xfrm>
            <a:off x="4845084" y="2758958"/>
            <a:ext cx="1188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p&lt;0.001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7"/>
          <p:cNvSpPr/>
          <p:nvPr/>
        </p:nvSpPr>
        <p:spPr>
          <a:xfrm>
            <a:off x="548640" y="3088142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Age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7"/>
          <p:cNvSpPr/>
          <p:nvPr/>
        </p:nvSpPr>
        <p:spPr>
          <a:xfrm>
            <a:off x="3291840" y="3088142"/>
            <a:ext cx="1371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14263D"/>
                </a:solidFill>
                <a:latin typeface="Calibri"/>
                <a:ea typeface="Calibri"/>
                <a:cs typeface="Calibri"/>
                <a:sym typeface="Calibri"/>
              </a:rPr>
              <a:t>−0.34 / yr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7"/>
          <p:cNvSpPr/>
          <p:nvPr/>
        </p:nvSpPr>
        <p:spPr>
          <a:xfrm>
            <a:off x="4845084" y="3088142"/>
            <a:ext cx="1188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p&lt;0.001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7"/>
          <p:cNvSpPr/>
          <p:nvPr/>
        </p:nvSpPr>
        <p:spPr>
          <a:xfrm>
            <a:off x="548640" y="3417325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Single-person household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7"/>
          <p:cNvSpPr/>
          <p:nvPr/>
        </p:nvSpPr>
        <p:spPr>
          <a:xfrm>
            <a:off x="3291840" y="3417325"/>
            <a:ext cx="1371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14263D"/>
                </a:solidFill>
                <a:latin typeface="Calibri"/>
                <a:ea typeface="Calibri"/>
                <a:cs typeface="Calibri"/>
                <a:sym typeface="Calibri"/>
              </a:rPr>
              <a:t>−1.7 pts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7"/>
          <p:cNvSpPr/>
          <p:nvPr/>
        </p:nvSpPr>
        <p:spPr>
          <a:xfrm>
            <a:off x="4845084" y="3417325"/>
            <a:ext cx="1188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p&lt;0.001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7"/>
          <p:cNvSpPr/>
          <p:nvPr/>
        </p:nvSpPr>
        <p:spPr>
          <a:xfrm>
            <a:off x="548640" y="3746510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Disabled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7"/>
          <p:cNvSpPr/>
          <p:nvPr/>
        </p:nvSpPr>
        <p:spPr>
          <a:xfrm>
            <a:off x="3291840" y="3746510"/>
            <a:ext cx="1371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14263D"/>
                </a:solidFill>
                <a:latin typeface="Calibri"/>
                <a:ea typeface="Calibri"/>
                <a:cs typeface="Calibri"/>
                <a:sym typeface="Calibri"/>
              </a:rPr>
              <a:t>+3.1 pts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7"/>
          <p:cNvSpPr/>
          <p:nvPr/>
        </p:nvSpPr>
        <p:spPr>
          <a:xfrm>
            <a:off x="4845084" y="3746510"/>
            <a:ext cx="1188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p&lt;0.001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7"/>
          <p:cNvSpPr/>
          <p:nvPr/>
        </p:nvSpPr>
        <p:spPr>
          <a:xfrm>
            <a:off x="548640" y="4075694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Detached housing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7"/>
          <p:cNvSpPr/>
          <p:nvPr/>
        </p:nvSpPr>
        <p:spPr>
          <a:xfrm>
            <a:off x="3291840" y="4075694"/>
            <a:ext cx="1371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14263D"/>
                </a:solidFill>
                <a:latin typeface="Calibri"/>
                <a:ea typeface="Calibri"/>
                <a:cs typeface="Calibri"/>
                <a:sym typeface="Calibri"/>
              </a:rPr>
              <a:t>−2.4 pts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7"/>
          <p:cNvSpPr/>
          <p:nvPr/>
        </p:nvSpPr>
        <p:spPr>
          <a:xfrm>
            <a:off x="4845084" y="4075694"/>
            <a:ext cx="1188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p&lt;0.001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7"/>
          <p:cNvSpPr/>
          <p:nvPr/>
        </p:nvSpPr>
        <p:spPr>
          <a:xfrm>
            <a:off x="548640" y="4404878"/>
            <a:ext cx="2743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Infrastructure main effect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7"/>
          <p:cNvSpPr/>
          <p:nvPr/>
        </p:nvSpPr>
        <p:spPr>
          <a:xfrm>
            <a:off x="3291840" y="4404878"/>
            <a:ext cx="1371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14263D"/>
                </a:solidFill>
                <a:latin typeface="Calibri"/>
                <a:ea typeface="Calibri"/>
                <a:cs typeface="Calibri"/>
                <a:sym typeface="Calibri"/>
              </a:rPr>
              <a:t>≈ 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7"/>
          <p:cNvSpPr/>
          <p:nvPr/>
        </p:nvSpPr>
        <p:spPr>
          <a:xfrm>
            <a:off x="4845084" y="4404878"/>
            <a:ext cx="11886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000"/>
              <a:buFont typeface="Calibri"/>
              <a:buNone/>
            </a:pPr>
            <a:r>
              <a:rPr lang="en-US" sz="1000" i="1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n.s.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7"/>
          <p:cNvSpPr/>
          <p:nvPr/>
        </p:nvSpPr>
        <p:spPr>
          <a:xfrm>
            <a:off x="548640" y="5142578"/>
            <a:ext cx="11064300" cy="72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0" name="Google Shape;370;p17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17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17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7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0B0B0"/>
                </a:solidFill>
                <a:latin typeface="Calibri"/>
                <a:ea typeface="Calibri"/>
                <a:cs typeface="Calibri"/>
                <a:sym typeface="Calibri"/>
              </a:rPr>
              <a:t>8 / 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7"/>
          <p:cNvSpPr/>
          <p:nvPr/>
        </p:nvSpPr>
        <p:spPr>
          <a:xfrm>
            <a:off x="6126480" y="4613708"/>
            <a:ext cx="56694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B6B6B"/>
              </a:buClr>
              <a:buSzPts val="1200"/>
              <a:buFont typeface="Calibri"/>
              <a:buNone/>
            </a:pPr>
            <a:r>
              <a:rPr lang="en-US" sz="1200" i="1">
                <a:solidFill>
                  <a:srgbClr val="6B6B6B"/>
                </a:solidFill>
                <a:latin typeface="Calibri"/>
                <a:ea typeface="Calibri"/>
                <a:cs typeface="Calibri"/>
                <a:sym typeface="Calibri"/>
              </a:rPr>
              <a:t>Model 3 vs Model 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5" name="Google Shape;375;p17" descr="07_coefficient_comparison_ci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52160" y="2549971"/>
            <a:ext cx="5868225" cy="1909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8"/>
          <p:cNvSpPr/>
          <p:nvPr/>
        </p:nvSpPr>
        <p:spPr>
          <a:xfrm>
            <a:off x="548640" y="365760"/>
            <a:ext cx="100584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4263D"/>
              </a:buClr>
              <a:buSzPts val="3000"/>
              <a:buFont typeface="Calibri"/>
              <a:buNone/>
            </a:pPr>
            <a:r>
              <a:rPr lang="en-US" sz="3000" b="1">
                <a:solidFill>
                  <a:srgbClr val="14263D"/>
                </a:solidFill>
                <a:latin typeface="Calibri"/>
                <a:ea typeface="Calibri"/>
                <a:cs typeface="Calibri"/>
                <a:sym typeface="Calibri"/>
              </a:rPr>
              <a:t>Part 3-2</a:t>
            </a:r>
            <a:endParaRPr sz="3000" b="1">
              <a:solidFill>
                <a:srgbClr val="1426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8"/>
          <p:cNvSpPr/>
          <p:nvPr/>
        </p:nvSpPr>
        <p:spPr>
          <a:xfrm>
            <a:off x="548640" y="978408"/>
            <a:ext cx="594300" cy="411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8"/>
          <p:cNvSpPr/>
          <p:nvPr/>
        </p:nvSpPr>
        <p:spPr>
          <a:xfrm>
            <a:off x="548640" y="6263640"/>
            <a:ext cx="11064300" cy="72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4" name="Google Shape;384;p18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18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18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18"/>
          <p:cNvSpPr/>
          <p:nvPr/>
        </p:nvSpPr>
        <p:spPr>
          <a:xfrm>
            <a:off x="548640" y="6565392"/>
            <a:ext cx="13716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0B0B0"/>
                </a:solidFill>
                <a:latin typeface="Calibri"/>
                <a:ea typeface="Calibri"/>
                <a:cs typeface="Calibri"/>
                <a:sym typeface="Calibri"/>
              </a:rPr>
              <a:t>8 / 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9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14263D"/>
                </a:solidFill>
                <a:latin typeface="Calibri"/>
                <a:ea typeface="Calibri"/>
                <a:cs typeface="Calibri"/>
                <a:sym typeface="Calibri"/>
              </a:rPr>
              <a:t>Part 3-3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9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9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6" name="Google Shape;396;p19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19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19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19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0B0B0"/>
                </a:solidFill>
                <a:latin typeface="Calibri"/>
                <a:ea typeface="Calibri"/>
                <a:cs typeface="Calibri"/>
                <a:sym typeface="Calibri"/>
              </a:rPr>
              <a:t>11 / 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0" name="Google Shape;400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4800" y="1210981"/>
            <a:ext cx="11887201" cy="45605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0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000" b="1">
                <a:solidFill>
                  <a:srgbClr val="14263D"/>
                </a:solidFill>
                <a:latin typeface="Calibri"/>
                <a:ea typeface="Calibri"/>
                <a:cs typeface="Calibri"/>
                <a:sym typeface="Calibri"/>
              </a:rPr>
              <a:t>Part 3-3</a:t>
            </a:r>
            <a:endParaRPr sz="3000" b="1">
              <a:solidFill>
                <a:srgbClr val="1426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0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8" name="Google Shape;408;p20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20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20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20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0B0B0"/>
                </a:solidFill>
                <a:latin typeface="Calibri"/>
                <a:ea typeface="Calibri"/>
                <a:cs typeface="Calibri"/>
                <a:sym typeface="Calibri"/>
              </a:rPr>
              <a:t>12 / 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0"/>
          <p:cNvSpPr/>
          <p:nvPr/>
        </p:nvSpPr>
        <p:spPr>
          <a:xfrm>
            <a:off x="548640" y="978408"/>
            <a:ext cx="594300" cy="411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3" name="Google Shape;413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5763" y="1108136"/>
            <a:ext cx="11460475" cy="50075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1"/>
          <p:cNvSpPr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000" b="1">
                <a:solidFill>
                  <a:srgbClr val="14263D"/>
                </a:solidFill>
                <a:latin typeface="Calibri"/>
                <a:ea typeface="Calibri"/>
                <a:cs typeface="Calibri"/>
                <a:sym typeface="Calibri"/>
              </a:rPr>
              <a:t>Part 3-3</a:t>
            </a:r>
            <a:endParaRPr sz="3000" b="1">
              <a:solidFill>
                <a:srgbClr val="1426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1"/>
          <p:cNvSpPr/>
          <p:nvPr/>
        </p:nvSpPr>
        <p:spPr>
          <a:xfrm>
            <a:off x="548640" y="978408"/>
            <a:ext cx="594360" cy="41148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1"/>
          <p:cNvSpPr/>
          <p:nvPr/>
        </p:nvSpPr>
        <p:spPr>
          <a:xfrm>
            <a:off x="548640" y="6263640"/>
            <a:ext cx="11064240" cy="7315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2" name="Google Shape;422;p21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21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21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21"/>
          <p:cNvSpPr/>
          <p:nvPr/>
        </p:nvSpPr>
        <p:spPr>
          <a:xfrm>
            <a:off x="548640" y="656539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0B0B0"/>
                </a:solidFill>
                <a:latin typeface="Calibri"/>
                <a:ea typeface="Calibri"/>
                <a:cs typeface="Calibri"/>
                <a:sym typeface="Calibri"/>
              </a:rPr>
              <a:t>13 / 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6" name="Google Shape;42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850" y="1191456"/>
            <a:ext cx="11887198" cy="464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2"/>
          <p:cNvSpPr/>
          <p:nvPr/>
        </p:nvSpPr>
        <p:spPr>
          <a:xfrm>
            <a:off x="548640" y="6263640"/>
            <a:ext cx="11064300" cy="72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3" name="Google Shape;433;p22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22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22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22"/>
          <p:cNvSpPr/>
          <p:nvPr/>
        </p:nvSpPr>
        <p:spPr>
          <a:xfrm>
            <a:off x="548640" y="6565392"/>
            <a:ext cx="13716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0B0B0"/>
                </a:solidFill>
                <a:latin typeface="Calibri"/>
                <a:ea typeface="Calibri"/>
                <a:cs typeface="Calibri"/>
                <a:sym typeface="Calibri"/>
              </a:rPr>
              <a:t>13 / 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2"/>
          <p:cNvSpPr/>
          <p:nvPr/>
        </p:nvSpPr>
        <p:spPr>
          <a:xfrm>
            <a:off x="548640" y="365760"/>
            <a:ext cx="100584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000" b="1">
                <a:solidFill>
                  <a:srgbClr val="14263D"/>
                </a:solidFill>
                <a:latin typeface="Calibri"/>
                <a:ea typeface="Calibri"/>
                <a:cs typeface="Calibri"/>
                <a:sym typeface="Calibri"/>
              </a:rPr>
              <a:t>Part 3-3</a:t>
            </a:r>
            <a:endParaRPr sz="3000" b="1">
              <a:solidFill>
                <a:srgbClr val="1426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2"/>
          <p:cNvSpPr/>
          <p:nvPr/>
        </p:nvSpPr>
        <p:spPr>
          <a:xfrm>
            <a:off x="548640" y="978408"/>
            <a:ext cx="594300" cy="411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3"/>
          <p:cNvSpPr/>
          <p:nvPr/>
        </p:nvSpPr>
        <p:spPr>
          <a:xfrm>
            <a:off x="548640" y="6263640"/>
            <a:ext cx="11064300" cy="72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5" name="Google Shape;445;p23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23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23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23"/>
          <p:cNvSpPr/>
          <p:nvPr/>
        </p:nvSpPr>
        <p:spPr>
          <a:xfrm>
            <a:off x="548640" y="6565392"/>
            <a:ext cx="13716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0B0B0"/>
                </a:solidFill>
                <a:latin typeface="Calibri"/>
                <a:ea typeface="Calibri"/>
                <a:cs typeface="Calibri"/>
                <a:sym typeface="Calibri"/>
              </a:rPr>
              <a:t>13 / 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3"/>
          <p:cNvSpPr/>
          <p:nvPr/>
        </p:nvSpPr>
        <p:spPr>
          <a:xfrm>
            <a:off x="548640" y="365760"/>
            <a:ext cx="100584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000" b="1">
                <a:solidFill>
                  <a:srgbClr val="14263D"/>
                </a:solidFill>
                <a:latin typeface="Calibri"/>
                <a:ea typeface="Calibri"/>
                <a:cs typeface="Calibri"/>
                <a:sym typeface="Calibri"/>
              </a:rPr>
              <a:t>Part 3-3</a:t>
            </a:r>
            <a:endParaRPr sz="3000" b="1">
              <a:solidFill>
                <a:srgbClr val="1426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3"/>
          <p:cNvSpPr/>
          <p:nvPr/>
        </p:nvSpPr>
        <p:spPr>
          <a:xfrm>
            <a:off x="548640" y="978408"/>
            <a:ext cx="594300" cy="411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4"/>
          <p:cNvSpPr/>
          <p:nvPr/>
        </p:nvSpPr>
        <p:spPr>
          <a:xfrm>
            <a:off x="548640" y="6263640"/>
            <a:ext cx="11064300" cy="72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7" name="Google Shape;457;p24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24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24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24"/>
          <p:cNvSpPr/>
          <p:nvPr/>
        </p:nvSpPr>
        <p:spPr>
          <a:xfrm>
            <a:off x="548640" y="6565392"/>
            <a:ext cx="13716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0B0B0"/>
                </a:solidFill>
                <a:latin typeface="Calibri"/>
                <a:ea typeface="Calibri"/>
                <a:cs typeface="Calibri"/>
                <a:sym typeface="Calibri"/>
              </a:rPr>
              <a:t>13 / 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4"/>
          <p:cNvSpPr/>
          <p:nvPr/>
        </p:nvSpPr>
        <p:spPr>
          <a:xfrm>
            <a:off x="548640" y="365760"/>
            <a:ext cx="100584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000" b="1">
                <a:solidFill>
                  <a:srgbClr val="14263D"/>
                </a:solidFill>
                <a:latin typeface="Calibri"/>
                <a:ea typeface="Calibri"/>
                <a:cs typeface="Calibri"/>
                <a:sym typeface="Calibri"/>
              </a:rPr>
              <a:t>Part 3-3</a:t>
            </a:r>
            <a:endParaRPr sz="3000" b="1">
              <a:solidFill>
                <a:srgbClr val="1426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4"/>
          <p:cNvSpPr/>
          <p:nvPr/>
        </p:nvSpPr>
        <p:spPr>
          <a:xfrm>
            <a:off x="548640" y="978408"/>
            <a:ext cx="594300" cy="411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5"/>
          <p:cNvSpPr/>
          <p:nvPr/>
        </p:nvSpPr>
        <p:spPr>
          <a:xfrm>
            <a:off x="548640" y="6263640"/>
            <a:ext cx="11064300" cy="72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9" name="Google Shape;469;p25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25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25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25"/>
          <p:cNvSpPr/>
          <p:nvPr/>
        </p:nvSpPr>
        <p:spPr>
          <a:xfrm>
            <a:off x="548640" y="6565392"/>
            <a:ext cx="13716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0B0B0"/>
                </a:solidFill>
                <a:latin typeface="Calibri"/>
                <a:ea typeface="Calibri"/>
                <a:cs typeface="Calibri"/>
                <a:sym typeface="Calibri"/>
              </a:rPr>
              <a:t>13 / 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5"/>
          <p:cNvSpPr/>
          <p:nvPr/>
        </p:nvSpPr>
        <p:spPr>
          <a:xfrm>
            <a:off x="548640" y="365760"/>
            <a:ext cx="100584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000" b="1">
                <a:solidFill>
                  <a:srgbClr val="14263D"/>
                </a:solidFill>
                <a:latin typeface="Calibri"/>
                <a:ea typeface="Calibri"/>
                <a:cs typeface="Calibri"/>
                <a:sym typeface="Calibri"/>
              </a:rPr>
              <a:t>Part 3-3</a:t>
            </a:r>
            <a:endParaRPr sz="3000" b="1">
              <a:solidFill>
                <a:srgbClr val="1426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5"/>
          <p:cNvSpPr/>
          <p:nvPr/>
        </p:nvSpPr>
        <p:spPr>
          <a:xfrm>
            <a:off x="548640" y="978408"/>
            <a:ext cx="594300" cy="411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6"/>
          <p:cNvSpPr/>
          <p:nvPr/>
        </p:nvSpPr>
        <p:spPr>
          <a:xfrm>
            <a:off x="548640" y="6263640"/>
            <a:ext cx="11064300" cy="72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1" name="Google Shape;481;p26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26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26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26"/>
          <p:cNvSpPr/>
          <p:nvPr/>
        </p:nvSpPr>
        <p:spPr>
          <a:xfrm>
            <a:off x="548640" y="6565392"/>
            <a:ext cx="13716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0B0B0"/>
                </a:solidFill>
                <a:latin typeface="Calibri"/>
                <a:ea typeface="Calibri"/>
                <a:cs typeface="Calibri"/>
                <a:sym typeface="Calibri"/>
              </a:rPr>
              <a:t>13 / 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6"/>
          <p:cNvSpPr/>
          <p:nvPr/>
        </p:nvSpPr>
        <p:spPr>
          <a:xfrm>
            <a:off x="548640" y="365760"/>
            <a:ext cx="100584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000" b="1">
                <a:solidFill>
                  <a:srgbClr val="14263D"/>
                </a:solidFill>
                <a:latin typeface="Calibri"/>
                <a:ea typeface="Calibri"/>
                <a:cs typeface="Calibri"/>
                <a:sym typeface="Calibri"/>
              </a:rPr>
              <a:t>Part 3-3</a:t>
            </a:r>
            <a:endParaRPr sz="3000" b="1">
              <a:solidFill>
                <a:srgbClr val="1426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6"/>
          <p:cNvSpPr/>
          <p:nvPr/>
        </p:nvSpPr>
        <p:spPr>
          <a:xfrm>
            <a:off x="548640" y="978408"/>
            <a:ext cx="594300" cy="411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7"/>
          <p:cNvSpPr/>
          <p:nvPr/>
        </p:nvSpPr>
        <p:spPr>
          <a:xfrm>
            <a:off x="548640" y="6263640"/>
            <a:ext cx="11064300" cy="72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3" name="Google Shape;493;p27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27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27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27"/>
          <p:cNvSpPr/>
          <p:nvPr/>
        </p:nvSpPr>
        <p:spPr>
          <a:xfrm>
            <a:off x="548640" y="6565392"/>
            <a:ext cx="13716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0B0B0"/>
                </a:solidFill>
                <a:latin typeface="Calibri"/>
                <a:ea typeface="Calibri"/>
                <a:cs typeface="Calibri"/>
                <a:sym typeface="Calibri"/>
              </a:rPr>
              <a:t>13 / 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7"/>
          <p:cNvSpPr/>
          <p:nvPr/>
        </p:nvSpPr>
        <p:spPr>
          <a:xfrm>
            <a:off x="548640" y="365760"/>
            <a:ext cx="100584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000" b="1">
                <a:solidFill>
                  <a:srgbClr val="14263D"/>
                </a:solidFill>
                <a:latin typeface="Calibri"/>
                <a:ea typeface="Calibri"/>
                <a:cs typeface="Calibri"/>
                <a:sym typeface="Calibri"/>
              </a:rPr>
              <a:t>Part 3-3</a:t>
            </a:r>
            <a:endParaRPr sz="3000" b="1">
              <a:solidFill>
                <a:srgbClr val="1426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7"/>
          <p:cNvSpPr/>
          <p:nvPr/>
        </p:nvSpPr>
        <p:spPr>
          <a:xfrm>
            <a:off x="548640" y="978408"/>
            <a:ext cx="594300" cy="411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8"/>
          <p:cNvSpPr/>
          <p:nvPr/>
        </p:nvSpPr>
        <p:spPr>
          <a:xfrm>
            <a:off x="548640" y="6263640"/>
            <a:ext cx="11064300" cy="7200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5" name="Google Shape;505;p28" descr="/home/claude/work/logo_gateway.jpe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55480" y="6355080"/>
            <a:ext cx="640080" cy="41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28" descr="/home/claude/work/logo_eu.jpe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96144" y="6400800"/>
            <a:ext cx="1280160" cy="3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28" descr="/home/claude/work/logo_itu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686032" y="63550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28"/>
          <p:cNvSpPr/>
          <p:nvPr/>
        </p:nvSpPr>
        <p:spPr>
          <a:xfrm>
            <a:off x="548640" y="6565392"/>
            <a:ext cx="13716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0B0B0"/>
                </a:solidFill>
                <a:latin typeface="Calibri"/>
                <a:ea typeface="Calibri"/>
                <a:cs typeface="Calibri"/>
                <a:sym typeface="Calibri"/>
              </a:rPr>
              <a:t>13 / 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8"/>
          <p:cNvSpPr/>
          <p:nvPr/>
        </p:nvSpPr>
        <p:spPr>
          <a:xfrm>
            <a:off x="548640" y="365760"/>
            <a:ext cx="100584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000" b="1">
                <a:solidFill>
                  <a:srgbClr val="14263D"/>
                </a:solidFill>
                <a:latin typeface="Calibri"/>
                <a:ea typeface="Calibri"/>
                <a:cs typeface="Calibri"/>
                <a:sym typeface="Calibri"/>
              </a:rPr>
              <a:t>Part 3-3</a:t>
            </a:r>
            <a:endParaRPr sz="3000" b="1">
              <a:solidFill>
                <a:srgbClr val="1426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8"/>
          <p:cNvSpPr/>
          <p:nvPr/>
        </p:nvSpPr>
        <p:spPr>
          <a:xfrm>
            <a:off x="548640" y="978408"/>
            <a:ext cx="594300" cy="411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9"/>
          <p:cNvSpPr/>
          <p:nvPr/>
        </p:nvSpPr>
        <p:spPr>
          <a:xfrm>
            <a:off x="548640" y="365760"/>
            <a:ext cx="100584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000" b="1">
                <a:solidFill>
                  <a:srgbClr val="14263D"/>
                </a:solidFill>
                <a:latin typeface="Calibri"/>
                <a:ea typeface="Calibri"/>
                <a:cs typeface="Calibri"/>
                <a:sym typeface="Calibri"/>
              </a:rPr>
              <a:t>Appendix</a:t>
            </a:r>
            <a:endParaRPr sz="3000" b="1">
              <a:solidFill>
                <a:srgbClr val="1426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9"/>
          <p:cNvSpPr/>
          <p:nvPr/>
        </p:nvSpPr>
        <p:spPr>
          <a:xfrm>
            <a:off x="548640" y="978408"/>
            <a:ext cx="594300" cy="41100"/>
          </a:xfrm>
          <a:prstGeom prst="rect">
            <a:avLst/>
          </a:prstGeom>
          <a:solidFill>
            <a:srgbClr val="2E869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7DF96DB4-E915-6141-929A-DC74B842B30B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002cb731-3b5a-4498-99c6-384d56a1f7a3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01E7B991-C5F3-F542-A0AA-1AEF51B463BF}">
  <we:reference id="wa200010215" version="2.0.0.0" store="ko-KR" storeType="OMEX"/>
  <we:alternateReferences>
    <we:reference id="WA200010215" version="2.0.0.0" store="WA20001021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1063</Words>
  <Application>Microsoft Macintosh PowerPoint</Application>
  <PresentationFormat>와이드스크린</PresentationFormat>
  <Paragraphs>273</Paragraphs>
  <Slides>29</Slides>
  <Notes>29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8" baseType="lpstr">
      <vt:lpstr>Malgun Gothic</vt:lpstr>
      <vt:lpstr>KoPubWorldDotum Bold</vt:lpstr>
      <vt:lpstr>KoPubWorldDotum Medium</vt:lpstr>
      <vt:lpstr>KoPubWorldDotum Medium</vt:lpstr>
      <vt:lpstr>Aptos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우준빈</cp:lastModifiedBy>
  <cp:revision>115</cp:revision>
  <dcterms:modified xsi:type="dcterms:W3CDTF">2026-06-15T16:45:24Z</dcterms:modified>
</cp:coreProperties>
</file>