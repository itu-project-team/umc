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4" r:id="rId6"/>
    <p:sldId id="265" r:id="rId7"/>
    <p:sldId id="257" r:id="rId8"/>
    <p:sldId id="258" r:id="rId9"/>
    <p:sldId id="259" r:id="rId10"/>
    <p:sldId id="263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30405B-A056-4432-9657-27EA2D7ACC24}" v="3" dt="2026-05-01T09:19:06.1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8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3B772-B384-7F03-1F50-BD4E7BA94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95B92-6DC6-5A37-CF39-521C94ABE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B19B3-E883-BB25-D1CE-3943BB071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8297" y="6356350"/>
            <a:ext cx="5844669" cy="365125"/>
          </a:xfrm>
        </p:spPr>
        <p:txBody>
          <a:bodyPr/>
          <a:lstStyle/>
          <a:p>
            <a:r>
              <a:rPr lang="en-US" dirty="0"/>
              <a:t>Data Hackathon “</a:t>
            </a:r>
            <a:r>
              <a:rPr lang="en-GB" b="1" dirty="0"/>
              <a:t>Bridging the Digital Divide by Uncovering Digital Deserts</a:t>
            </a:r>
            <a:r>
              <a:rPr lang="en-US" dirty="0"/>
              <a:t>”</a:t>
            </a:r>
            <a:endParaRPr lang="en-GB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D4D830-07E8-9F3B-9F11-63739513E673}"/>
              </a:ext>
            </a:extLst>
          </p:cNvPr>
          <p:cNvGrpSpPr/>
          <p:nvPr userDrawn="1"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12" name="Picture 2" descr="Funded by the EU">
              <a:extLst>
                <a:ext uri="{FF2B5EF4-FFF2-40B4-BE49-F238E27FC236}">
                  <a16:creationId xmlns:a16="http://schemas.microsoft.com/office/drawing/2014/main" id="{CB76D1D7-7C2C-742E-BC4C-DCADAC7060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1260" y="6239757"/>
              <a:ext cx="1875561" cy="393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Global Gateway">
              <a:extLst>
                <a:ext uri="{FF2B5EF4-FFF2-40B4-BE49-F238E27FC236}">
                  <a16:creationId xmlns:a16="http://schemas.microsoft.com/office/drawing/2014/main" id="{C665079F-BC71-F97D-9E43-833FAB1BAE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81600" y="5978025"/>
              <a:ext cx="1249660" cy="7464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" name="Picture 9">
            <a:extLst>
              <a:ext uri="{FF2B5EF4-FFF2-40B4-BE49-F238E27FC236}">
                <a16:creationId xmlns:a16="http://schemas.microsoft.com/office/drawing/2014/main" id="{82B9E0D3-B461-7957-F790-D0938F78BE6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446984" y="6046838"/>
            <a:ext cx="745015" cy="81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76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8C642-4DC0-7697-223E-19FA246EE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96060-7C48-46DA-F772-E2221F775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21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E20B1-0236-CDA3-0601-EBBE80B7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84837-1120-481A-BE85-0DEA5E24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FF87DE9-D716-5CEA-47FB-F340FA9F007E}"/>
              </a:ext>
            </a:extLst>
          </p:cNvPr>
          <p:cNvGrpSpPr/>
          <p:nvPr userDrawn="1"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8" name="Picture 2" descr="Funded by the EU">
              <a:extLst>
                <a:ext uri="{FF2B5EF4-FFF2-40B4-BE49-F238E27FC236}">
                  <a16:creationId xmlns:a16="http://schemas.microsoft.com/office/drawing/2014/main" id="{ED182CF1-B931-B766-2CD5-5973B2D729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1260" y="6239757"/>
              <a:ext cx="1875561" cy="393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Global Gateway">
              <a:extLst>
                <a:ext uri="{FF2B5EF4-FFF2-40B4-BE49-F238E27FC236}">
                  <a16:creationId xmlns:a16="http://schemas.microsoft.com/office/drawing/2014/main" id="{0A225D0D-2DBE-EABB-C568-6DD6021A9B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81600" y="5978025"/>
              <a:ext cx="1249660" cy="7464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25495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88AE-B222-5D55-B590-3B4B7EB2F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5DFAF-5A55-4F3D-02F2-E56B6BD23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29EDC-D4E5-6DF4-837C-1E49C1320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9B765-4D9D-2452-6CF0-0064EF16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22E5E-122A-6BAA-C15C-3C86CC8F2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123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93D80-5C1F-C4F7-EBBC-BDA2B55FE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A0BC7-2370-0172-77DD-EC375E1F8B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C5A9A-7F46-A682-D874-F29D1F261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55972-7AD5-6D65-B71E-09B322DF8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A668D-918B-5DEC-CB9E-72A748017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AC4E1-5E44-2E18-053B-699A3564A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615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FDCA-7F1F-9EDE-17BE-BC09C8B16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61E95-F1B8-9641-343F-EDED145F6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7A20B-A4B8-B287-5C2D-A54E8E0A5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E23F4A-D12E-49D3-C06B-5C3A54E56C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D358DA-F199-BE2C-F82E-7978F1C3A1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0CF4C8-0180-4232-40DB-30F15C20C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8D5962-8992-38F2-79E2-B802A9E1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F3AC08-B555-45B4-1782-FB7C126DD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601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5E8E-7E96-FFA8-7E4D-F23618D63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66F7BC-1C21-2782-F51A-4DA71EE9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06C813-9483-C133-0134-77D7E3A6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1E58B-9FF4-BFBB-E702-8A9462826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067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DDA843-A04A-74D0-547F-47B71719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F22EC0-78D8-C34F-3457-0D0F0EF4B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C12FA-71B4-B4C3-88B9-38459BDF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369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29999-B993-E7A6-DE8F-F887C140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19582-A62E-CC1F-19E6-032307AEC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6150E-4F8F-B3AF-3B67-BDD38CD7B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F7213-D011-2240-1731-6AC84512C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4C590-2F3B-3877-D6D4-A89A3C6D4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00F80-550B-5755-AEDA-1D9A9A16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0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1C77-C7CD-AA6C-DF74-1F1C2B912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12AAE4-9FF2-3C7E-B13A-FD35541D5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C68EE-423B-8063-BB07-3537CDD03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EE9BC-B492-E8DD-641C-1FF83B8A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9A540-4AFA-1172-3855-4FF2901E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EF0265-964F-709D-829C-8CFDFB154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886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9FE1D-0358-3C61-E3FE-48A6D6A0E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EBB85-E97E-B4A7-CA1E-9691B7C83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543EF-1664-14DF-10A3-FF37262A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1C0D9-F259-16F2-0AAF-4796304A5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274DD-4000-921C-81BC-F4B71BF1D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305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30D7BE-CDA1-0BEB-EDD3-22F35792C5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7324C-5339-C045-0BA3-33C982871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A19BB-8A3D-C132-A354-D0ED50E3B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87A37-FA56-E297-CF87-BDC430084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C7AEE-6E24-0B86-6E31-0DEA270FB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838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8B9878-3DFC-E2E8-EA85-3145A8B76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4AA65-0ED7-40A4-7683-3936FA025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D8D03-71AA-C293-C4EB-0AD4B404A4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27F95-3AA8-498B-B7DD-C48DEC870858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D23D7-BA41-F242-F349-F17E275F0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093F2-CE67-DF8C-47D9-656CB1AA1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92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D5227-3987-EB78-A791-4F05A0CE4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746460"/>
          </a:xfrm>
        </p:spPr>
        <p:txBody>
          <a:bodyPr>
            <a:normAutofit/>
          </a:bodyPr>
          <a:lstStyle/>
          <a:p>
            <a:r>
              <a:rPr lang="en-US" sz="4400" dirty="0"/>
              <a:t>Intermediate deliverable: </a:t>
            </a:r>
            <a:br>
              <a:rPr lang="en-US" sz="5400" dirty="0"/>
            </a:br>
            <a:r>
              <a:rPr lang="en-US" sz="4400" b="1" dirty="0"/>
              <a:t>Problem description</a:t>
            </a:r>
            <a:br>
              <a:rPr lang="en-US" sz="4400" b="1" dirty="0"/>
            </a:br>
            <a:r>
              <a:rPr lang="en-US" sz="4400" b="1" dirty="0"/>
              <a:t>Data sources and processing</a:t>
            </a:r>
            <a:br>
              <a:rPr lang="en-US" sz="4400" b="1" dirty="0"/>
            </a:br>
            <a:r>
              <a:rPr lang="en-US" sz="4400" b="1" dirty="0"/>
              <a:t>Preliminary results</a:t>
            </a:r>
            <a:endParaRPr lang="en-GB" sz="5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3F0FC9-62DD-5CA3-7560-DB49E34B5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1086"/>
            <a:ext cx="9144000" cy="1226713"/>
          </a:xfrm>
        </p:spPr>
        <p:txBody>
          <a:bodyPr/>
          <a:lstStyle/>
          <a:p>
            <a:r>
              <a:rPr lang="en-US" dirty="0"/>
              <a:t>Team name: 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730F18-55C2-FCBD-C445-B38ED682FF21}"/>
              </a:ext>
            </a:extLst>
          </p:cNvPr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5" name="Picture 2" descr="Funded by the EU">
              <a:extLst>
                <a:ext uri="{FF2B5EF4-FFF2-40B4-BE49-F238E27FC236}">
                  <a16:creationId xmlns:a16="http://schemas.microsoft.com/office/drawing/2014/main" id="{58E87509-4334-91EB-7F58-528C571A6A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1260" y="6239757"/>
              <a:ext cx="1875561" cy="393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Global Gateway">
              <a:extLst>
                <a:ext uri="{FF2B5EF4-FFF2-40B4-BE49-F238E27FC236}">
                  <a16:creationId xmlns:a16="http://schemas.microsoft.com/office/drawing/2014/main" id="{F4A3832E-E4D3-1551-094D-C9ED822A51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81600" y="5978025"/>
              <a:ext cx="1249660" cy="7464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9">
            <a:extLst>
              <a:ext uri="{FF2B5EF4-FFF2-40B4-BE49-F238E27FC236}">
                <a16:creationId xmlns:a16="http://schemas.microsoft.com/office/drawing/2014/main" id="{1143BCFC-C258-7797-73FB-CF94F5987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984" y="6046838"/>
            <a:ext cx="745015" cy="81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335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30649-566E-D4AB-A89A-D537528C7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264B1-586B-035C-006B-CCD0122A7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(1):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64FB4-3CDE-E489-AC4A-8244BF5C9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Describe the problem you are </a:t>
            </a:r>
            <a:r>
              <a:rPr lang="en-US" i="1" dirty="0" err="1"/>
              <a:t>analysing</a:t>
            </a:r>
            <a:r>
              <a:rPr lang="en-US" i="1" dirty="0"/>
              <a:t>:</a:t>
            </a:r>
          </a:p>
          <a:p>
            <a:pPr lvl="1"/>
            <a:r>
              <a:rPr lang="en-US" i="1" dirty="0"/>
              <a:t>Provide geographical, economical and social context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740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02187-6EEC-2CC8-58C5-2396DD331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EE299-4772-B821-126C-182792C38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(2):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05E26-ED16-D42F-9770-BAA6B20EF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Describe the problem you are </a:t>
            </a:r>
            <a:r>
              <a:rPr lang="en-US" i="1" dirty="0" err="1"/>
              <a:t>analysing</a:t>
            </a:r>
            <a:r>
              <a:rPr lang="en-US" i="1" dirty="0"/>
              <a:t>:</a:t>
            </a:r>
          </a:p>
          <a:p>
            <a:pPr lvl="1"/>
            <a:r>
              <a:rPr lang="en-US" i="1" dirty="0"/>
              <a:t> Describe the dimensions of meaningful connectivity that you are </a:t>
            </a:r>
            <a:r>
              <a:rPr lang="en-US" i="1" dirty="0" err="1"/>
              <a:t>analysing</a:t>
            </a:r>
            <a:r>
              <a:rPr lang="en-US" i="1" dirty="0"/>
              <a:t> (infrastructure, quality of the connectivity, affordability of services and devices, digital skills, safety issues, etc.)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4711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3CC4-1244-8BA5-C5A8-E1092663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Data sources used</a:t>
            </a:r>
            <a:endParaRPr lang="en-GB" sz="4000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8076A54-B62F-DA14-412A-3705B1FB86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2780857"/>
              </p:ext>
            </p:extLst>
          </p:nvPr>
        </p:nvGraphicFramePr>
        <p:xfrm>
          <a:off x="838200" y="1435783"/>
          <a:ext cx="10515603" cy="411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299">
                  <a:extLst>
                    <a:ext uri="{9D8B030D-6E8A-4147-A177-3AD203B41FA5}">
                      <a16:colId xmlns:a16="http://schemas.microsoft.com/office/drawing/2014/main" val="2228135903"/>
                    </a:ext>
                  </a:extLst>
                </a:gridCol>
                <a:gridCol w="1661374">
                  <a:extLst>
                    <a:ext uri="{9D8B030D-6E8A-4147-A177-3AD203B41FA5}">
                      <a16:colId xmlns:a16="http://schemas.microsoft.com/office/drawing/2014/main" val="547783810"/>
                    </a:ext>
                  </a:extLst>
                </a:gridCol>
                <a:gridCol w="1610014">
                  <a:extLst>
                    <a:ext uri="{9D8B030D-6E8A-4147-A177-3AD203B41FA5}">
                      <a16:colId xmlns:a16="http://schemas.microsoft.com/office/drawing/2014/main" val="39116811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28189044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4968115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05495405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82144471"/>
                    </a:ext>
                  </a:extLst>
                </a:gridCol>
              </a:tblGrid>
              <a:tr h="1526358">
                <a:tc>
                  <a:txBody>
                    <a:bodyPr/>
                    <a:lstStyle/>
                    <a:p>
                      <a:r>
                        <a:rPr lang="en-US" sz="1600" dirty="0"/>
                        <a:t>Dataset name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Source (organization  /provider)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Link (URL)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Coverage (geographic detail and time)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Key variables (max. 5)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Format (CSV, JSON, XLS, SQL, etc.)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Access method (download, API call, scraping, etc.)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778451"/>
                  </a:ext>
                </a:extLst>
              </a:tr>
              <a:tr h="645973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413656"/>
                  </a:ext>
                </a:extLst>
              </a:tr>
              <a:tr h="645973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603445"/>
                  </a:ext>
                </a:extLst>
              </a:tr>
              <a:tr h="645973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78592"/>
                  </a:ext>
                </a:extLst>
              </a:tr>
              <a:tr h="645973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905291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CC39EAB1-0715-3C48-4C4B-73182FBEF3D4}"/>
              </a:ext>
            </a:extLst>
          </p:cNvPr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5" name="Picture 2" descr="Funded by the EU">
              <a:extLst>
                <a:ext uri="{FF2B5EF4-FFF2-40B4-BE49-F238E27FC236}">
                  <a16:creationId xmlns:a16="http://schemas.microsoft.com/office/drawing/2014/main" id="{62058C11-6263-A573-E78B-A3138EC4AA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1260" y="6239757"/>
              <a:ext cx="1875561" cy="393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Global Gateway">
              <a:extLst>
                <a:ext uri="{FF2B5EF4-FFF2-40B4-BE49-F238E27FC236}">
                  <a16:creationId xmlns:a16="http://schemas.microsoft.com/office/drawing/2014/main" id="{CD948AEB-B9ED-B697-816F-1D1922161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81600" y="5978025"/>
              <a:ext cx="1249660" cy="7464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9">
            <a:extLst>
              <a:ext uri="{FF2B5EF4-FFF2-40B4-BE49-F238E27FC236}">
                <a16:creationId xmlns:a16="http://schemas.microsoft.com/office/drawing/2014/main" id="{60419E1A-9929-18F7-64B4-F0E3BC192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984" y="6046838"/>
            <a:ext cx="745015" cy="81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66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5FFF-03A7-F6DE-722C-AF78FB07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the next slides, please describe your data processing (ETL) system: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264B8-A7DA-B4FF-1B75-6D6211666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Describe the data cleaning methods</a:t>
            </a:r>
          </a:p>
          <a:p>
            <a:r>
              <a:rPr lang="en-US" i="1" dirty="0"/>
              <a:t>How are you handling missing (non-existent) data?</a:t>
            </a:r>
          </a:p>
          <a:p>
            <a:r>
              <a:rPr lang="en-US" i="1" dirty="0"/>
              <a:t>Where are you storing the data?</a:t>
            </a:r>
          </a:p>
          <a:p>
            <a:r>
              <a:rPr lang="en-US" i="1" dirty="0"/>
              <a:t>Provide a diagram describing the ETL process</a:t>
            </a:r>
          </a:p>
          <a:p>
            <a:endParaRPr lang="en-US" dirty="0"/>
          </a:p>
          <a:p>
            <a:r>
              <a:rPr lang="en-US" b="1" dirty="0"/>
              <a:t>NOTE: </a:t>
            </a:r>
            <a:r>
              <a:rPr lang="en-US" dirty="0"/>
              <a:t>You will be asked for the final deliverable to submit the code to access, process and store the data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4014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B4E0A-AB37-A7B9-D97F-D0FFE9430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processing </a:t>
            </a:r>
            <a:r>
              <a:rPr lang="en-US" dirty="0">
                <a:solidFill>
                  <a:srgbClr val="FF0000"/>
                </a:solidFill>
              </a:rPr>
              <a:t>(maximum 3 slides)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42363-9CE2-766F-5986-92D0B6DFA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Describe the processes to access and store the data, clean and process the data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20954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0EC8-1702-1B6D-641D-2CC816630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6037"/>
          </a:xfrm>
        </p:spPr>
        <p:txBody>
          <a:bodyPr>
            <a:normAutofit fontScale="90000"/>
          </a:bodyPr>
          <a:lstStyle/>
          <a:p>
            <a:r>
              <a:rPr lang="en-US" dirty="0"/>
              <a:t>ETL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3748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DB88-5AD3-013C-1397-EA4927507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D6002-52CB-46F8-2E0C-EE35BA877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599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B89F-63F7-D90F-3EAB-EA87CA7D1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DD9A6-2EC0-5798-4A77-D79EB07B4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Add maps, charts and other results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544753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8CC8D-F8B6-2E38-C404-D9A20A635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B13D5-F1AD-46F7-F762-96778B990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recommendations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D003-1CB7-05D5-AF39-C1512F64A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Elaborate 3-4 policy recommendations based on the results of your data analysis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500172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f208774-d51b-4573-a67b-89dea6922a77" xsi:nil="true"/>
    <lcf76f155ced4ddcb4097134ff3c332f xmlns="c90385a7-5e94-4852-9398-ec888c07ca9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338E4BF82AF64C8975C65DD52FAE3E" ma:contentTypeVersion="18" ma:contentTypeDescription="Create a new document." ma:contentTypeScope="" ma:versionID="fc73ce6dcade57ad1bbde466c49d4f43">
  <xsd:schema xmlns:xsd="http://www.w3.org/2001/XMLSchema" xmlns:xs="http://www.w3.org/2001/XMLSchema" xmlns:p="http://schemas.microsoft.com/office/2006/metadata/properties" xmlns:ns2="c90385a7-5e94-4852-9398-ec888c07ca90" xmlns:ns3="0f208774-d51b-4573-a67b-89dea6922a77" targetNamespace="http://schemas.microsoft.com/office/2006/metadata/properties" ma:root="true" ma:fieldsID="94321633c06b2be51f3ab838a5ed88d2" ns2:_="" ns3:_="">
    <xsd:import namespace="c90385a7-5e94-4852-9398-ec888c07ca90"/>
    <xsd:import namespace="0f208774-d51b-4573-a67b-89dea6922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385a7-5e94-4852-9398-ec888c07ca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208774-d51b-4573-a67b-89dea6922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6549f36-43cc-4bf4-80e3-1ee687645b69}" ma:internalName="TaxCatchAll" ma:showField="CatchAllData" ma:web="0f208774-d51b-4573-a67b-89dea6922a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3DA2C6-47C9-4E6B-A245-C75197ED84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7E2566-CD9F-4A7F-89DD-D58BCBEA3616}">
  <ds:schemaRefs>
    <ds:schemaRef ds:uri="http://schemas.microsoft.com/office/2006/metadata/properties"/>
    <ds:schemaRef ds:uri="http://schemas.microsoft.com/office/infopath/2007/PartnerControls"/>
    <ds:schemaRef ds:uri="0f208774-d51b-4573-a67b-89dea6922a77"/>
    <ds:schemaRef ds:uri="c90385a7-5e94-4852-9398-ec888c07ca90"/>
  </ds:schemaRefs>
</ds:datastoreItem>
</file>

<file path=customXml/itemProps3.xml><?xml version="1.0" encoding="utf-8"?>
<ds:datastoreItem xmlns:ds="http://schemas.openxmlformats.org/officeDocument/2006/customXml" ds:itemID="{F403F9AF-D786-4FC8-BD61-7E032DFBA0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385a7-5e94-4852-9398-ec888c07ca90"/>
    <ds:schemaRef ds:uri="0f208774-d51b-4573-a67b-89dea6922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247</Words>
  <Application>Microsoft Office PowerPoint</Application>
  <PresentationFormat>Widescreen</PresentationFormat>
  <Paragraphs>30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Intermediate deliverable:  Problem description Data sources and processing Preliminary results</vt:lpstr>
      <vt:lpstr>Problem statement (1):</vt:lpstr>
      <vt:lpstr>Problem statement (2):</vt:lpstr>
      <vt:lpstr>Data sources used</vt:lpstr>
      <vt:lpstr>In the next slides, please describe your data processing (ETL) system:</vt:lpstr>
      <vt:lpstr>Data processing (maximum 3 slides)</vt:lpstr>
      <vt:lpstr>ETL diagram</vt:lpstr>
      <vt:lpstr>PowerPoint Presentation</vt:lpstr>
      <vt:lpstr>Preliminary results</vt:lpstr>
      <vt:lpstr>Policy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Cervera-Ferri, José Luis</dc:creator>
  <cp:lastModifiedBy>Cervera-Ferri, José Luis</cp:lastModifiedBy>
  <cp:revision>2</cp:revision>
  <dcterms:created xsi:type="dcterms:W3CDTF">2026-03-30T15:28:03Z</dcterms:created>
  <dcterms:modified xsi:type="dcterms:W3CDTF">2026-05-01T09:36:29Z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0x010100B2338E4BF82AF64C8975C65DD52FAE3E</vt:lpwstr>
  </property>
  <property fmtid="{D5CDD505-2E9C-101B-9397-08002B2CF9AE}" pid="3" name="MediaServiceImageTags">
    <vt:lpwstr/>
  </property>
</Properties>
</file>